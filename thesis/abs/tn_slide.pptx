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72" r:id="rId4"/>
    <p:sldId id="273" r:id="rId5"/>
    <p:sldId id="274" r:id="rId6"/>
    <p:sldId id="297" r:id="rId7"/>
    <p:sldId id="259" r:id="rId8"/>
    <p:sldId id="264" r:id="rId9"/>
    <p:sldId id="298" r:id="rId10"/>
    <p:sldId id="284" r:id="rId11"/>
    <p:sldId id="299" r:id="rId12"/>
    <p:sldId id="300" r:id="rId13"/>
    <p:sldId id="301" r:id="rId14"/>
    <p:sldId id="289" r:id="rId15"/>
    <p:sldId id="302" r:id="rId16"/>
    <p:sldId id="268" r:id="rId17"/>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SimSun" panose="02010600030101010101" pitchFamily="2" charset="-122"/>
      <p:regular r:id="rId23"/>
    </p:embeddedFont>
    <p:embeddedFont>
      <p:font typeface="Cabin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545" autoAdjust="0"/>
  </p:normalViewPr>
  <p:slideViewPr>
    <p:cSldViewPr>
      <p:cViewPr>
        <p:scale>
          <a:sx n="50" d="100"/>
          <a:sy n="50" d="100"/>
        </p:scale>
        <p:origin x="-1830" y="-384"/>
      </p:cViewPr>
      <p:guideLst>
        <p:guide orient="horz" pos="3240"/>
        <p:guide pos="5760"/>
        <p:guide pos="192"/>
        <p:guide pos="1132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2912E-00AE-4786-AC6F-4A1B66F33840}" type="datetimeFigureOut">
              <a:rPr lang="vi-VN" smtClean="0"/>
              <a:t>04/07/2026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5001A3-7A71-4A49-9F67-C8CCD4B362B2}" type="slidenum">
              <a:rPr lang="vi-VN" smtClean="0"/>
              <a:t>‹#›</a:t>
            </a:fld>
            <a:endParaRPr lang="vi-VN"/>
          </a:p>
        </p:txBody>
      </p:sp>
    </p:spTree>
    <p:extLst>
      <p:ext uri="{BB962C8B-B14F-4D97-AF65-F5344CB8AC3E}">
        <p14:creationId xmlns:p14="http://schemas.microsoft.com/office/powerpoint/2010/main" val="3177665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Kính thưa quý thầy cô trong hội đồng,</a:t>
            </a:r>
            <a:endParaRPr lang="en-US" smtClean="0"/>
          </a:p>
          <a:p>
            <a:endParaRPr lang="vi-VN" smtClean="0"/>
          </a:p>
          <a:p>
            <a:r>
              <a:rPr lang="vi-VN" smtClean="0"/>
              <a:t>Em tên là Hà Gia Lộc, sinh viên lớp DA22TTD, Trường Kỹ thuật và Công nghệ, Đại học Trà Vinh.</a:t>
            </a:r>
          </a:p>
          <a:p>
            <a:r>
              <a:rPr lang="vi-VN" smtClean="0"/>
              <a:t>Hôm nay, em xin trình bày đồ án tốt nghiệp với đề tài: "Xây dựng trò chơi sinh tồn 2D với cơ chế thu thập tài nguyên và chiến đấu góc nhìn từ trên xuống".</a:t>
            </a:r>
          </a:p>
          <a:p>
            <a:r>
              <a:rPr lang="vi-VN" smtClean="0"/>
              <a:t>Đề tài được thực hiện dưới sự hướng dẫn của </a:t>
            </a:r>
            <a:r>
              <a:rPr lang="en-US" smtClean="0"/>
              <a:t>thầy</a:t>
            </a:r>
            <a:r>
              <a:rPr lang="vi-VN" smtClean="0"/>
              <a:t> Khấu Văn Nhựt.</a:t>
            </a:r>
          </a:p>
          <a:p>
            <a:r>
              <a:rPr lang="vi-VN" smtClean="0"/>
              <a:t>Trong phần trình bày hôm nay, em sẽ giới thiệu lý do chọn đề tài, mục đích nghiên cứu, cơ sở lý thuyết, quá trình phân tích thiết kế hệ thống, kết quả đạt được cũng như kết luận và hướng phát triển của đề tài.</a:t>
            </a:r>
          </a:p>
          <a:p>
            <a:r>
              <a:rPr lang="vi-VN" smtClean="0"/>
              <a:t>Sau đây, em xin phép bắt đầu phần trình bày của mình.</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a:t>
            </a:fld>
            <a:endParaRPr lang="vi-VN"/>
          </a:p>
        </p:txBody>
      </p:sp>
    </p:spTree>
    <p:extLst>
      <p:ext uri="{BB962C8B-B14F-4D97-AF65-F5344CB8AC3E}">
        <p14:creationId xmlns:p14="http://schemas.microsoft.com/office/powerpoint/2010/main" val="127956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smtClean="0"/>
              <a:t>Nội dung trình bày của em gồm 8 phần chính.</a:t>
            </a:r>
          </a:p>
          <a:p>
            <a:r>
              <a:rPr lang="vi-VN" sz="1400" smtClean="0"/>
              <a:t>Đầu tiên là lý do chọn đề tài và mục tiêu nghiên cứu để làm rõ động lực cũng như kết quả mong muốn đạt được.</a:t>
            </a:r>
          </a:p>
          <a:p>
            <a:r>
              <a:rPr lang="vi-VN" sz="1400" smtClean="0"/>
              <a:t>Tiếp theo, em sẽ trình bày cơ sở lý thuyết và mô tả bài toán làm nền tảng cho việc xây dựng trò chơi.</a:t>
            </a:r>
          </a:p>
          <a:p>
            <a:r>
              <a:rPr lang="vi-VN" sz="1400" smtClean="0"/>
              <a:t>Sau đó là các yêu cầu hệ thống và phần thiết kế, bao gồm các chức năng chính, kiến trúc và quy trình triển khai.</a:t>
            </a:r>
          </a:p>
          <a:p>
            <a:r>
              <a:rPr lang="vi-VN" sz="1400" smtClean="0"/>
              <a:t>Cuối cùng, em sẽ giới thiệu các kết quả đã đạt được, đồng thời đưa ra kết luận và định hướng phát triển của đề tài trong tương lai.</a:t>
            </a:r>
          </a:p>
          <a:p>
            <a:r>
              <a:rPr lang="vi-VN" sz="1400" smtClean="0"/>
              <a:t>Sau đây, em xin trình bày phần đầu tiên là lý do chọn đề tài.</a:t>
            </a:r>
          </a:p>
        </p:txBody>
      </p:sp>
      <p:sp>
        <p:nvSpPr>
          <p:cNvPr id="4" name="Slide Number Placeholder 3"/>
          <p:cNvSpPr>
            <a:spLocks noGrp="1"/>
          </p:cNvSpPr>
          <p:nvPr>
            <p:ph type="sldNum" sz="quarter" idx="10"/>
          </p:nvPr>
        </p:nvSpPr>
        <p:spPr/>
        <p:txBody>
          <a:bodyPr/>
          <a:lstStyle/>
          <a:p>
            <a:fld id="{645001A3-7A71-4A49-9F67-C8CCD4B362B2}" type="slidenum">
              <a:rPr lang="vi-VN" smtClean="0"/>
              <a:t>2</a:t>
            </a:fld>
            <a:endParaRPr lang="vi-VN"/>
          </a:p>
        </p:txBody>
      </p:sp>
    </p:spTree>
    <p:extLst>
      <p:ext uri="{BB962C8B-B14F-4D97-AF65-F5344CB8AC3E}">
        <p14:creationId xmlns:p14="http://schemas.microsoft.com/office/powerpoint/2010/main" val="1570313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Lý do em lựa chọn đề tài này xuất phát từ ba nguyên nhân chính.</a:t>
            </a:r>
            <a:endParaRPr lang="en-US" smtClean="0"/>
          </a:p>
          <a:p>
            <a:endParaRPr lang="vi-VN" smtClean="0"/>
          </a:p>
          <a:p>
            <a:r>
              <a:rPr lang="vi-VN" smtClean="0"/>
              <a:t>Thứ nhất, game 2D vẫn là một thể loại được nhiều người yêu thích nhờ lối chơi đơn giản, dễ tiếp cận nhưng vẫn có khả năng mở rộng gameplay rất tốt. Đặc biệt, thể loại sinh tồn mang đến tính khám phá và chiến lược, tạo sự hấp dẫn đối với người chơi.</a:t>
            </a:r>
            <a:endParaRPr lang="en-US" smtClean="0"/>
          </a:p>
          <a:p>
            <a:endParaRPr lang="vi-VN" smtClean="0"/>
          </a:p>
          <a:p>
            <a:r>
              <a:rPr lang="vi-VN" smtClean="0"/>
              <a:t>Thứ hai, về mặt học tập và nghiên cứu, đề tài giúp em vận dụng các kiến thức đã học về lập trình, phân tích thiết kế hệ thống và phát triển phần mềm. Đồng thời, đây cũng là cơ hội để em tiếp cận và sử dụng Godot Engine cùng ngôn ngữ GDScript trong quá trình xây dựng một sản phẩm hoàn chỉnh.</a:t>
            </a:r>
            <a:endParaRPr lang="en-US" smtClean="0"/>
          </a:p>
          <a:p>
            <a:endParaRPr lang="vi-VN" smtClean="0"/>
          </a:p>
          <a:p>
            <a:r>
              <a:rPr lang="vi-VN" smtClean="0"/>
              <a:t>Thứ ba, đề tài có ý nghĩa thực tiễn khi xây dựng được một trò chơi sinh tồn 2D hoàn chỉnh và có thể tiếp tục mở rộng thêm nhiều tính năng trong tương lai như chế tạo nâng cao, xây dựng công trình hoặc chế độ chơi trực tuyến.</a:t>
            </a:r>
            <a:endParaRPr lang="en-US" smtClean="0"/>
          </a:p>
          <a:p>
            <a:endParaRPr lang="vi-VN" smtClean="0"/>
          </a:p>
          <a:p>
            <a:r>
              <a:rPr lang="vi-VN" smtClean="0"/>
              <a:t>Tiếp theo, em xin trình bày mục tiêu nghiên cứu của đề tài.</a:t>
            </a:r>
          </a:p>
          <a:p>
            <a:endParaRPr lang="vi-VN" b="0"/>
          </a:p>
        </p:txBody>
      </p:sp>
      <p:sp>
        <p:nvSpPr>
          <p:cNvPr id="4" name="Slide Number Placeholder 3"/>
          <p:cNvSpPr>
            <a:spLocks noGrp="1"/>
          </p:cNvSpPr>
          <p:nvPr>
            <p:ph type="sldNum" sz="quarter" idx="10"/>
          </p:nvPr>
        </p:nvSpPr>
        <p:spPr/>
        <p:txBody>
          <a:bodyPr/>
          <a:lstStyle/>
          <a:p>
            <a:fld id="{645001A3-7A71-4A49-9F67-C8CCD4B362B2}" type="slidenum">
              <a:rPr lang="vi-VN" smtClean="0"/>
              <a:t>3</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Mục đích nghiên cứu của đề tài gồm ba nội dung chính.</a:t>
            </a:r>
            <a:endParaRPr lang="en-US" smtClean="0"/>
          </a:p>
          <a:p>
            <a:endParaRPr lang="vi-VN" smtClean="0"/>
          </a:p>
          <a:p>
            <a:r>
              <a:rPr lang="vi-VN" smtClean="0"/>
              <a:t>Thứ nhất, xây dựng một trò chơi sinh tồn 2D góc nhìn từ trên xuống với các cơ chế cốt lõi như di chuyển, thu thập tài nguyên và chiến đấu thời gian thực. Qua đó, tạo ra một sản phẩm game hoàn chỉnh có thể vận hành và trải nghiệm được.</a:t>
            </a:r>
            <a:endParaRPr lang="en-US" smtClean="0"/>
          </a:p>
          <a:p>
            <a:endParaRPr lang="vi-VN" smtClean="0"/>
          </a:p>
          <a:p>
            <a:r>
              <a:rPr lang="vi-VN" smtClean="0"/>
              <a:t>Thứ hai, đề tài nhằm ứng dụng các công nghệ phát triển game hiện đại, cụ thể là Godot Engine và ngôn ngữ GDScript. Bên cạnh đó, em cũng sử dụng phần mềm Krita để thiết kế đồ họa và Audacity để xử lý âm thanh cho trò chơi.</a:t>
            </a:r>
            <a:endParaRPr lang="en-US" smtClean="0"/>
          </a:p>
          <a:p>
            <a:endParaRPr lang="vi-VN" smtClean="0"/>
          </a:p>
          <a:p>
            <a:r>
              <a:rPr lang="vi-VN" smtClean="0"/>
              <a:t>Thứ ba, quá trình thực hiện đề tài giúp em rèn luyện các kỹ năng chuyên môn như phân tích yêu cầu, thiết kế hệ thống, lập trình, kiểm thử và hoàn thiện một sản phẩm phần mềm theo quy trình phát triển thực tế.</a:t>
            </a:r>
            <a:endParaRPr lang="en-US" smtClean="0"/>
          </a:p>
          <a:p>
            <a:endParaRPr lang="vi-VN" smtClean="0"/>
          </a:p>
          <a:p>
            <a:r>
              <a:rPr lang="vi-VN" smtClean="0"/>
              <a:t>Tiếp theo, em xin trình bày phần cơ sở lý thuyết được sử dụng trong đề tài.</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4</a:t>
            </a:fld>
            <a:endParaRPr lang="vi-VN"/>
          </a:p>
        </p:txBody>
      </p:sp>
    </p:spTree>
    <p:extLst>
      <p:ext uri="{BB962C8B-B14F-4D97-AF65-F5344CB8AC3E}">
        <p14:creationId xmlns:p14="http://schemas.microsoft.com/office/powerpoint/2010/main" val="3225375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Trong quá trình thực hiện đề tài, em đã sử dụng một số cơ sở lý thuyết và công nghệ chính.</a:t>
            </a:r>
            <a:endParaRPr lang="en-US" smtClean="0"/>
          </a:p>
          <a:p>
            <a:endParaRPr lang="vi-VN" smtClean="0"/>
          </a:p>
          <a:p>
            <a:r>
              <a:rPr lang="vi-VN" smtClean="0"/>
              <a:t>Đầu tiên là Godot Engine, đây là công cụ phát triển game được lựa chọn để xây dựng toàn bộ trò chơi. Godot hỗ trợ tốt cho phát triển game 2D, quản lý scene, hệ thống vật lý và giao diện người dùng.</a:t>
            </a:r>
            <a:endParaRPr lang="en-US" smtClean="0"/>
          </a:p>
          <a:p>
            <a:endParaRPr lang="vi-VN" smtClean="0"/>
          </a:p>
          <a:p>
            <a:r>
              <a:rPr lang="vi-VN" smtClean="0"/>
              <a:t>Tiếp theo là GDScript, ngôn ngữ lập trình chính của Godot, được sử dụng để xây dựng các cơ chế như di chuyển, thu thập tài nguyên, chiến đấu và quản lý dữ liệu trong trò chơi.</a:t>
            </a:r>
            <a:endParaRPr lang="en-US" smtClean="0"/>
          </a:p>
          <a:p>
            <a:endParaRPr lang="vi-VN" smtClean="0"/>
          </a:p>
          <a:p>
            <a:r>
              <a:rPr lang="vi-VN" smtClean="0"/>
              <a:t>Đối với phần đồ họa, em sử dụng Krita để thiết kế các tài nguyên 2D như nhân vật, vật phẩm và môi trường trong game.</a:t>
            </a:r>
            <a:endParaRPr lang="en-US" smtClean="0"/>
          </a:p>
          <a:p>
            <a:endParaRPr lang="vi-VN" smtClean="0"/>
          </a:p>
          <a:p>
            <a:r>
              <a:rPr lang="vi-VN" smtClean="0"/>
              <a:t>Ngoài ra, Audacity được sử dụng để chỉnh sửa và xử lý các hiệu ứng âm thanh nhằm nâng cao trải nghiệm của người chơi.</a:t>
            </a:r>
            <a:endParaRPr lang="en-US" smtClean="0"/>
          </a:p>
          <a:p>
            <a:endParaRPr lang="vi-VN" smtClean="0"/>
          </a:p>
          <a:p>
            <a:r>
              <a:rPr lang="vi-VN" smtClean="0"/>
              <a:t>Tiếp theo, em xin trình bày mô tả bài toán của đề tài.</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5</a:t>
            </a:fld>
            <a:endParaRPr lang="vi-VN"/>
          </a:p>
        </p:txBody>
      </p:sp>
    </p:spTree>
    <p:extLst>
      <p:ext uri="{BB962C8B-B14F-4D97-AF65-F5344CB8AC3E}">
        <p14:creationId xmlns:p14="http://schemas.microsoft.com/office/powerpoint/2010/main" val="915311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Đối với đề tài này, bài toán đặt ra là xây dựng một trò chơi sinh tồn 2D với góc nhìn từ trên xuống.</a:t>
            </a:r>
          </a:p>
          <a:p>
            <a:endParaRPr lang="en-US" smtClean="0"/>
          </a:p>
          <a:p>
            <a:r>
              <a:rPr lang="vi-VN" smtClean="0"/>
              <a:t>Trong trò chơi, người chơi cần thu thập các loại tài nguyên, chế tạo vật phẩm và chiến đấu với kẻ địch để duy trì sự sống và phát triển trong môi trường game.</a:t>
            </a:r>
          </a:p>
          <a:p>
            <a:endParaRPr lang="en-US" smtClean="0"/>
          </a:p>
          <a:p>
            <a:r>
              <a:rPr lang="vi-VN" smtClean="0"/>
              <a:t>Bên cạnh đó, hệ thống cần đảm bảo các cơ chế gameplay hoạt động ổn định, trực quan và có khả năng mở rộng thêm các tính năng mới trong tương lai.</a:t>
            </a:r>
          </a:p>
          <a:p>
            <a:endParaRPr lang="en-US" smtClean="0"/>
          </a:p>
          <a:p>
            <a:r>
              <a:rPr lang="vi-VN" smtClean="0"/>
              <a:t>Để giải quyết bài toán trên, đề tài tập trung xây dựng các chức năng cốt lõi như hệ thống di chuyển, thu thập tài nguyên, túi đồ, chế tạo, xây dựng và chiến đấu với AI của quái vật.</a:t>
            </a:r>
          </a:p>
          <a:p>
            <a:endParaRPr lang="en-US" smtClean="0"/>
          </a:p>
          <a:p>
            <a:r>
              <a:rPr lang="vi-VN" smtClean="0"/>
              <a:t>Tiếp theo, em xin trình bày các yêu cầu của hệ thống.</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6</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Đối với đề tài này, hệ thống được xây dựng dựa trên sáu chức năng chính.</a:t>
            </a:r>
          </a:p>
          <a:p>
            <a:endParaRPr lang="en-US" smtClean="0"/>
          </a:p>
          <a:p>
            <a:r>
              <a:rPr lang="vi-VN" smtClean="0"/>
              <a:t>Đầu tiên là chức năng di chuyển và tương tác, cho phép người chơi điều khiển nhân vật theo bốn hướng và tương tác với các đối tượng trong môi trường như tài nguyên và công trình.</a:t>
            </a:r>
          </a:p>
          <a:p>
            <a:endParaRPr lang="en-US" smtClean="0"/>
          </a:p>
          <a:p>
            <a:r>
              <a:rPr lang="vi-VN" smtClean="0"/>
              <a:t>Thứ hai là hệ thống thu thập tài nguyên, nơi người chơi có thể khai thác cây, đá và các loại quặng để phục vụ cho quá trình sinh tồn và chế tạo vật phẩm.</a:t>
            </a:r>
          </a:p>
          <a:p>
            <a:endParaRPr lang="en-US" smtClean="0"/>
          </a:p>
          <a:p>
            <a:r>
              <a:rPr lang="vi-VN" smtClean="0"/>
              <a:t>Thứ ba là hệ thống túi đồ, giúp quản lý các vật phẩm thu thập được, đồng thời hỗ trợ việc sử dụng và sắp xếp vật phẩm một cách thuận tiện.</a:t>
            </a:r>
          </a:p>
          <a:p>
            <a:endParaRPr lang="en-US" smtClean="0"/>
          </a:p>
          <a:p>
            <a:r>
              <a:rPr lang="vi-VN" smtClean="0"/>
              <a:t>Chức năng tiếp theo là chế tạo và xây dựng, cho phép người chơi tạo ra công cụ, vật phẩm cũng như xây dựng các công trình cần thiết trong trò chơi.</a:t>
            </a:r>
          </a:p>
          <a:p>
            <a:endParaRPr lang="en-US" smtClean="0"/>
          </a:p>
          <a:p>
            <a:r>
              <a:rPr lang="vi-VN" smtClean="0"/>
              <a:t>Ngoài ra, hệ thống chiến đấu và AI kẻ địch được phát triển nhằm tạo ra các thử thách, giúp tăng tính hấp dẫn và trải nghiệm của người chơi.</a:t>
            </a:r>
          </a:p>
          <a:p>
            <a:endParaRPr lang="en-US" smtClean="0"/>
          </a:p>
          <a:p>
            <a:r>
              <a:rPr lang="vi-VN" smtClean="0"/>
              <a:t>Cuối cùng, trò chơi hỗ trợ chức năng lưu và tải dữ liệu, cho phép người chơi tiếp tục quá trình trải nghiệm ở những lần chơi tiếp theo.</a:t>
            </a:r>
          </a:p>
          <a:p>
            <a:endParaRPr lang="en-US" smtClean="0"/>
          </a:p>
          <a:p>
            <a:r>
              <a:rPr lang="vi-VN" smtClean="0"/>
              <a:t>Sau khi xác định các yêu cầu chức năng, em xin trình bày phần thiết kế hệ thống của đề tài.</a:t>
            </a:r>
          </a:p>
        </p:txBody>
      </p:sp>
      <p:sp>
        <p:nvSpPr>
          <p:cNvPr id="4" name="Slide Number Placeholder 3"/>
          <p:cNvSpPr>
            <a:spLocks noGrp="1"/>
          </p:cNvSpPr>
          <p:nvPr>
            <p:ph type="sldNum" sz="quarter" idx="10"/>
          </p:nvPr>
        </p:nvSpPr>
        <p:spPr/>
        <p:txBody>
          <a:bodyPr/>
          <a:lstStyle/>
          <a:p>
            <a:fld id="{645001A3-7A71-4A49-9F67-C8CCD4B362B2}" type="slidenum">
              <a:rPr lang="vi-VN" smtClean="0"/>
              <a:t>7</a:t>
            </a:fld>
            <a:endParaRPr lang="vi-VN"/>
          </a:p>
        </p:txBody>
      </p:sp>
    </p:spTree>
    <p:extLst>
      <p:ext uri="{BB962C8B-B14F-4D97-AF65-F5344CB8AC3E}">
        <p14:creationId xmlns:p14="http://schemas.microsoft.com/office/powerpoint/2010/main" val="221949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sơ đồ Use Case mô tả các tác nhân và chức năng chính của hệ thống trò chơi.</a:t>
            </a:r>
          </a:p>
          <a:p>
            <a:endParaRPr lang="vi-VN" smtClean="0"/>
          </a:p>
          <a:p>
            <a:r>
              <a:rPr lang="vi-VN" smtClean="0"/>
              <a:t>Đối với người chơi, hệ thống hỗ trợ các chức năng như di chuyển tự do, tấn công thời gian thực, quản lý túi đồ và sử dụng vật phẩm trong quá trình sinh tồn.</a:t>
            </a:r>
          </a:p>
          <a:p>
            <a:endParaRPr lang="vi-VN" smtClean="0"/>
          </a:p>
          <a:p>
            <a:r>
              <a:rPr lang="vi-VN" smtClean="0"/>
              <a:t>Đối với kẻ địch, các hành vi chính bao gồm tuần tra, phát hiện và truy đuổi mục tiêu, sau đó thực hiện tấn công khi người chơi tiến vào phạm vi hoạt động.</a:t>
            </a:r>
          </a:p>
          <a:p>
            <a:endParaRPr lang="vi-VN" smtClean="0"/>
          </a:p>
          <a:p>
            <a:r>
              <a:rPr lang="vi-VN" smtClean="0"/>
              <a:t>Ngoài ra, một số động vật trong trò chơi có khả năng phản ứng khi bị tấn công bằng cách chạy khỏi khu vực nguy hiểm, giúp môi trường game trở nên tự nhiên hơn.</a:t>
            </a:r>
          </a:p>
          <a:p>
            <a:endParaRPr lang="vi-VN" smtClean="0"/>
          </a:p>
          <a:p>
            <a:r>
              <a:rPr lang="vi-VN" smtClean="0"/>
              <a:t>Bên cạnh đó, cả người chơi và kẻ địch đều sử dụng chung cơ chế gây sát thương, được thể hiện thông qua quan hệ include trong sơ đồ Use Case.</a:t>
            </a:r>
          </a:p>
          <a:p>
            <a:endParaRPr lang="vi-VN" smtClean="0"/>
          </a:p>
          <a:p>
            <a:r>
              <a:rPr lang="vi-VN" smtClean="0"/>
              <a:t>Tiếp theo, em xin trình bày sơ đồ luồng hoạt động tổng quát của trò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8</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sơ đồ luồng hoạt động tổng quát của trò chơi.</a:t>
            </a:r>
          </a:p>
          <a:p>
            <a:endParaRPr lang="vi-VN" smtClean="0"/>
          </a:p>
          <a:p>
            <a:r>
              <a:rPr lang="vi-VN" smtClean="0"/>
              <a:t>Khi khởi động, hệ thống sẽ hiển thị menu chính, cho phép người chơi bắt đầu trò chơi mới, </a:t>
            </a:r>
            <a:r>
              <a:rPr lang="en-US" smtClean="0"/>
              <a:t>tiếp</a:t>
            </a:r>
            <a:r>
              <a:rPr lang="en-US" baseline="0" smtClean="0"/>
              <a:t> tục chơi bản</a:t>
            </a:r>
            <a:r>
              <a:rPr lang="vi-VN" smtClean="0"/>
              <a:t> lưu</a:t>
            </a:r>
            <a:r>
              <a:rPr lang="en-US" smtClean="0"/>
              <a:t> trước</a:t>
            </a:r>
            <a:r>
              <a:rPr lang="en-US" baseline="0" smtClean="0"/>
              <a:t> đó, mở cài đặt</a:t>
            </a:r>
            <a:r>
              <a:rPr lang="vi-VN" smtClean="0"/>
              <a:t> hoặc thoát khỏi chương trình.</a:t>
            </a:r>
          </a:p>
          <a:p>
            <a:endParaRPr lang="vi-VN" smtClean="0"/>
          </a:p>
          <a:p>
            <a:r>
              <a:rPr lang="vi-VN" smtClean="0"/>
              <a:t>Sau khi vào game, người chơi có thể tự do di chuyển, thu thập tài nguyên, chế tạo vật phẩm, xây dựng công trình và chiến đấu với kẻ địch để sinh tồn.</a:t>
            </a:r>
          </a:p>
          <a:p>
            <a:endParaRPr lang="vi-VN" smtClean="0"/>
          </a:p>
          <a:p>
            <a:r>
              <a:rPr lang="vi-VN" smtClean="0"/>
              <a:t>Trong quá trình chơi, người dùng có thể tạm dừng trò chơi, lưu tiến trình hoặc tải lại dữ liệu khi cần thiết.</a:t>
            </a:r>
            <a:endParaRPr lang="en-US" smtClean="0"/>
          </a:p>
          <a:p>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t>Trò chơi kết thúc khi người chơi </a:t>
            </a:r>
            <a:r>
              <a:rPr lang="en-US" sz="1200" smtClean="0"/>
              <a:t>kích hoạt cổng dịch chuyển </a:t>
            </a:r>
            <a:r>
              <a:rPr lang="vi-VN" sz="1200" smtClean="0"/>
              <a:t>hoặc nhân vật bị tiêu diệt.</a:t>
            </a:r>
            <a:endParaRPr lang="vi-VN" smtClean="0"/>
          </a:p>
          <a:p>
            <a:endParaRPr lang="vi-VN" smtClean="0"/>
          </a:p>
          <a:p>
            <a:r>
              <a:rPr lang="vi-VN" smtClean="0"/>
              <a:t>Luồng hoạt động này giúp đảm bảo các chức năng chính được liên kết chặt chẽ và mang lại trải nghiệm liền mạch cho người chơi.</a:t>
            </a:r>
          </a:p>
          <a:p>
            <a:endParaRPr lang="vi-VN" smtClean="0"/>
          </a:p>
          <a:p>
            <a:r>
              <a:rPr lang="vi-VN" smtClean="0"/>
              <a:t>Tiếp theo, em xin trình bày các kết quả nghiên cứu và những chức năng đã được hiện thực trong trò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9</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giao diện chính của trò chơi, bao gồm menu khởi động, màn hình tạm dừng và hệ thống lưu tải dữ liệu. Người chơi có thể tạo trò chơi mới hoặc tiếp tục tiến trình trước đó, giúp nâng cao trải nghiệm sử dụng.</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10</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sinh tồn là cơ chế cốt lõi của trò chơi. Người chơi cần quản lý máu và độ đói, đồng thời thu thập tài nguyên để duy trì sự sống và chế tạo vật phẩm phục vụ quá trình sinh tồn.</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11</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Người chơi có thể quản lý tài nguyên thông qua túi đồ và thanh Hotbar. Các vật phẩm thu thập được được sử dụng để chế tạo công cụ, giúp tăng khả năng sinh tồn và mở rộng gameplay.</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12</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chiến đấu hoạt động theo thời gian thực. Kẻ địch có thể tuần tra, phát hiện và truy đuổi người chơi, trong khi động vật sẽ bỏ chạy khi bị tấn công, tạo nên môi trường sinh tồn tự nhiên hơn.</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13</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Sau quá trình thực hiện, đề tài đã hoàn thành các mục tiêu đặt ra ban đầu.</a:t>
            </a:r>
            <a:endParaRPr lang="en-US" smtClean="0"/>
          </a:p>
          <a:p>
            <a:endParaRPr lang="vi-VN" smtClean="0"/>
          </a:p>
          <a:p>
            <a:r>
              <a:rPr lang="vi-VN" smtClean="0"/>
              <a:t>Sản phẩm là một trò chơi sinh tồn 2D góc nhìn từ trên xuống với các cơ chế chính như quản lý máu và độ đói, thu thập tài nguyên, quản lý túi đồ, chiến đấu thời gian thực và hệ thống AI cho kẻ địch và động vật.</a:t>
            </a:r>
          </a:p>
          <a:p>
            <a:endParaRPr lang="en-US" smtClean="0"/>
          </a:p>
          <a:p>
            <a:r>
              <a:rPr lang="vi-VN" smtClean="0"/>
              <a:t>Ngoài ra, trò chơi còn hỗ trợ lưu và tải dữ liệu, giúp người chơi tiếp tục tiến trình trong những lần chơi sau.</a:t>
            </a:r>
          </a:p>
          <a:p>
            <a:endParaRPr lang="en-US" smtClean="0"/>
          </a:p>
          <a:p>
            <a:r>
              <a:rPr lang="vi-VN" smtClean="0"/>
              <a:t>Qua đề tài, em đã vận dụng được kiến thức về lập trình game, thiết kế hệ thống và sử dụng Godot Engine để xây dựng một sản phẩm hoàn chỉnh.</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14</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Trong tương lai, trò chơi có thể tiếp tục được mở rộng theo nhiều hướng khác nhau.</a:t>
            </a:r>
            <a:endParaRPr lang="en-US" smtClean="0"/>
          </a:p>
          <a:p>
            <a:endParaRPr lang="vi-VN" smtClean="0"/>
          </a:p>
          <a:p>
            <a:r>
              <a:rPr lang="vi-VN" smtClean="0"/>
              <a:t>Đầu tiên là mở rộng bản đồ và bổ sung thêm nhiều tài nguyên, công cụ cũng như công thức chế tạo mới để tăng tính đa dạng trong gameplay.</a:t>
            </a:r>
          </a:p>
          <a:p>
            <a:endParaRPr lang="en-US" smtClean="0"/>
          </a:p>
          <a:p>
            <a:r>
              <a:rPr lang="vi-VN" smtClean="0"/>
              <a:t>Bên cạnh đó,</a:t>
            </a:r>
            <a:r>
              <a:rPr lang="en-US" smtClean="0"/>
              <a:t> phát</a:t>
            </a:r>
            <a:r>
              <a:rPr lang="en-US" baseline="0" smtClean="0"/>
              <a:t> triển</a:t>
            </a:r>
            <a:r>
              <a:rPr lang="vi-VN" smtClean="0"/>
              <a:t> hệ thống nhiệm vụ và thành tựu sẽ giúp người chơi có thêm mục tiêu trong quá trình trải nghiệm.</a:t>
            </a:r>
          </a:p>
          <a:p>
            <a:endParaRPr lang="en-US" smtClean="0"/>
          </a:p>
          <a:p>
            <a:r>
              <a:rPr lang="vi-VN" smtClean="0"/>
              <a:t>Về mặt kỹ thuật, AI của kẻ địch có thể được phát triển với nhiều trạng thái hành vi phức tạp hơn.</a:t>
            </a:r>
          </a:p>
          <a:p>
            <a:endParaRPr lang="en-US" smtClean="0"/>
          </a:p>
          <a:p>
            <a:r>
              <a:rPr lang="vi-VN" smtClean="0"/>
              <a:t>Ngoài ra, một hướng phát triển tiềm năng khác là hỗ trợ chế độ chơi nhiều người để tăng tính tương tác và trải nghiệm của người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15</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Phần</a:t>
            </a:r>
            <a:r>
              <a:rPr lang="en-US" baseline="0" smtClean="0"/>
              <a:t> </a:t>
            </a:r>
            <a:r>
              <a:rPr lang="vi-VN" smtClean="0"/>
              <a:t>bảo vệ đồ án của </a:t>
            </a:r>
            <a:r>
              <a:rPr lang="en-US" smtClean="0"/>
              <a:t>em</a:t>
            </a:r>
            <a:r>
              <a:rPr lang="vi-VN" smtClean="0"/>
              <a:t> đến đây là hết.</a:t>
            </a:r>
            <a:endParaRPr lang="en-US" smtClean="0"/>
          </a:p>
          <a:p>
            <a:endParaRPr lang="vi-VN" smtClean="0"/>
          </a:p>
          <a:p>
            <a:r>
              <a:rPr lang="vi-VN" smtClean="0"/>
              <a:t>Em xin chân thành cảm ơn quý thầy cô đã lắng nghe và rất mong nhận được những ý kiến đóng góp để em có thể hoàn thiện đề tài tốt hơn.</a:t>
            </a:r>
            <a:endParaRPr lang="en-US" smtClean="0"/>
          </a:p>
          <a:p>
            <a:endParaRPr lang="vi-VN" smtClean="0"/>
          </a:p>
          <a:p>
            <a:r>
              <a:rPr lang="vi-VN" smtClean="0"/>
              <a:t>Em xin cảm ơn!</a:t>
            </a:r>
          </a:p>
        </p:txBody>
      </p:sp>
      <p:sp>
        <p:nvSpPr>
          <p:cNvPr id="4" name="Slide Number Placeholder 3"/>
          <p:cNvSpPr>
            <a:spLocks noGrp="1"/>
          </p:cNvSpPr>
          <p:nvPr>
            <p:ph type="sldNum" sz="quarter" idx="10"/>
          </p:nvPr>
        </p:nvSpPr>
        <p:spPr/>
        <p:txBody>
          <a:bodyPr/>
          <a:lstStyle/>
          <a:p>
            <a:fld id="{645001A3-7A71-4A49-9F67-C8CCD4B362B2}" type="slidenum">
              <a:rPr lang="vi-VN" smtClean="0"/>
              <a:t>16</a:t>
            </a:fld>
            <a:endParaRPr lang="vi-VN"/>
          </a:p>
        </p:txBody>
      </p:sp>
    </p:spTree>
    <p:extLst>
      <p:ext uri="{BB962C8B-B14F-4D97-AF65-F5344CB8AC3E}">
        <p14:creationId xmlns:p14="http://schemas.microsoft.com/office/powerpoint/2010/main" val="3746083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3.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2362200" y="-3140040"/>
            <a:ext cx="12496800" cy="6226137"/>
            <a:chOff x="0" y="0"/>
            <a:chExt cx="8809804" cy="5372100"/>
          </a:xfrm>
        </p:grpSpPr>
        <p:sp>
          <p:nvSpPr>
            <p:cNvPr id="6" name="Freeform 6"/>
            <p:cNvSpPr/>
            <p:nvPr/>
          </p:nvSpPr>
          <p:spPr>
            <a:xfrm>
              <a:off x="0" y="0"/>
              <a:ext cx="8809803" cy="5372100"/>
            </a:xfrm>
            <a:custGeom>
              <a:avLst/>
              <a:gdLst/>
              <a:ahLst/>
              <a:cxnLst/>
              <a:rect l="l" t="t" r="r" b="b"/>
              <a:pathLst>
                <a:path w="8809803" h="537210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p:spPr>
          <p:txBody>
            <a:bodyPr/>
            <a:lstStyle/>
            <a:p>
              <a:endParaRPr lang="vi-VN"/>
            </a:p>
          </p:txBody>
        </p:sp>
      </p:grpSp>
      <p:grpSp>
        <p:nvGrpSpPr>
          <p:cNvPr id="2" name="Group 2"/>
          <p:cNvGrpSpPr/>
          <p:nvPr/>
        </p:nvGrpSpPr>
        <p:grpSpPr>
          <a:xfrm>
            <a:off x="14887819" y="8090781"/>
            <a:ext cx="4742962" cy="4392438"/>
            <a:chOff x="0" y="0"/>
            <a:chExt cx="5800804" cy="5372100"/>
          </a:xfrm>
        </p:grpSpPr>
        <p:sp>
          <p:nvSpPr>
            <p:cNvPr id="3" name="Freeform 3"/>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4" name="TextBox 4"/>
          <p:cNvSpPr txBox="1"/>
          <p:nvPr/>
        </p:nvSpPr>
        <p:spPr>
          <a:xfrm>
            <a:off x="8527828" y="709236"/>
            <a:ext cx="9299652" cy="1436291"/>
          </a:xfrm>
          <a:prstGeom prst="rect">
            <a:avLst/>
          </a:prstGeom>
        </p:spPr>
        <p:txBody>
          <a:bodyPr lIns="0" tIns="0" rIns="0" bIns="0" rtlCol="0" anchor="t">
            <a:spAutoFit/>
          </a:bodyPr>
          <a:lstStyle/>
          <a:p>
            <a:pPr algn="ctr">
              <a:lnSpc>
                <a:spcPts val="5599"/>
              </a:lnSpc>
            </a:pPr>
            <a:r>
              <a:rPr lang="en-US" sz="3999" b="1">
                <a:latin typeface="+mj-lt"/>
                <a:ea typeface="Faustina Bold"/>
                <a:cs typeface="Times New Roman" panose="02020603050405020304" pitchFamily="18" charset="0"/>
                <a:sym typeface="Faustina Bold"/>
              </a:rPr>
              <a:t>Đ</a:t>
            </a:r>
            <a:r>
              <a:rPr lang="en-US" sz="3999" b="1" smtClean="0">
                <a:latin typeface="+mj-lt"/>
                <a:ea typeface="Faustina Bold"/>
                <a:cs typeface="Times New Roman" panose="02020603050405020304" pitchFamily="18" charset="0"/>
                <a:sym typeface="Faustina Bold"/>
              </a:rPr>
              <a:t>ồ </a:t>
            </a:r>
            <a:r>
              <a:rPr lang="en-US" sz="3999" b="1" err="1">
                <a:latin typeface="+mj-lt"/>
                <a:ea typeface="Faustina Bold"/>
                <a:cs typeface="Times New Roman" panose="02020603050405020304" pitchFamily="18" charset="0"/>
                <a:sym typeface="Faustina Bold"/>
              </a:rPr>
              <a:t>án</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tốt nghiệp</a:t>
            </a:r>
            <a:endParaRPr lang="en-US" sz="3999" b="1">
              <a:latin typeface="+mj-lt"/>
              <a:ea typeface="Faustina Bold"/>
              <a:cs typeface="Times New Roman" panose="02020603050405020304" pitchFamily="18" charset="0"/>
              <a:sym typeface="Faustina Bold"/>
            </a:endParaRPr>
          </a:p>
          <a:p>
            <a:pPr algn="ctr">
              <a:lnSpc>
                <a:spcPts val="5599"/>
              </a:lnSpc>
              <a:spcBef>
                <a:spcPct val="0"/>
              </a:spcBef>
            </a:pPr>
            <a:r>
              <a:rPr lang="en-US" sz="3999" b="1" err="1">
                <a:latin typeface="+mj-lt"/>
                <a:ea typeface="Faustina Bold"/>
                <a:cs typeface="Times New Roman" panose="02020603050405020304" pitchFamily="18" charset="0"/>
                <a:sym typeface="Faustina Bold"/>
              </a:rPr>
              <a:t>Học</a:t>
            </a:r>
            <a:r>
              <a:rPr lang="en-US" sz="3999" b="1">
                <a:latin typeface="+mj-lt"/>
                <a:ea typeface="Faustina Bold"/>
                <a:cs typeface="Times New Roman" panose="02020603050405020304" pitchFamily="18" charset="0"/>
                <a:sym typeface="Faustina Bold"/>
              </a:rPr>
              <a:t> </a:t>
            </a:r>
            <a:r>
              <a:rPr lang="en-US" sz="3999" b="1" err="1">
                <a:latin typeface="+mj-lt"/>
                <a:ea typeface="Faustina Bold"/>
                <a:cs typeface="Times New Roman" panose="02020603050405020304" pitchFamily="18" charset="0"/>
                <a:sym typeface="Faustina Bold"/>
              </a:rPr>
              <a:t>kì</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II, </a:t>
            </a:r>
            <a:r>
              <a:rPr lang="en-US" sz="3999" b="1" err="1">
                <a:latin typeface="+mj-lt"/>
                <a:ea typeface="Faustina Bold"/>
                <a:cs typeface="Times New Roman" panose="02020603050405020304" pitchFamily="18" charset="0"/>
                <a:sym typeface="Faustina Bold"/>
              </a:rPr>
              <a:t>năm</a:t>
            </a:r>
            <a:r>
              <a:rPr lang="en-US" sz="3999" b="1">
                <a:latin typeface="+mj-lt"/>
                <a:ea typeface="Faustina Bold"/>
                <a:cs typeface="Times New Roman" panose="02020603050405020304" pitchFamily="18" charset="0"/>
                <a:sym typeface="Faustina Bold"/>
              </a:rPr>
              <a:t> </a:t>
            </a:r>
            <a:r>
              <a:rPr lang="en-US" sz="3999" b="1" err="1">
                <a:latin typeface="+mj-lt"/>
                <a:ea typeface="Faustina Bold"/>
                <a:cs typeface="Times New Roman" panose="02020603050405020304" pitchFamily="18" charset="0"/>
                <a:sym typeface="Faustina Bold"/>
              </a:rPr>
              <a:t>học</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2025-2026</a:t>
            </a:r>
            <a:endParaRPr lang="en-US" sz="3999" b="1">
              <a:latin typeface="+mj-lt"/>
              <a:ea typeface="Faustina Bold"/>
              <a:cs typeface="Times New Roman" panose="02020603050405020304" pitchFamily="18" charset="0"/>
              <a:sym typeface="Faustina Bold"/>
            </a:endParaRPr>
          </a:p>
        </p:txBody>
      </p:sp>
      <p:sp>
        <p:nvSpPr>
          <p:cNvPr id="8" name="TextBox 8"/>
          <p:cNvSpPr txBox="1"/>
          <p:nvPr/>
        </p:nvSpPr>
        <p:spPr>
          <a:xfrm>
            <a:off x="1871793" y="5953416"/>
            <a:ext cx="6090978" cy="1227195"/>
          </a:xfrm>
          <a:prstGeom prst="rect">
            <a:avLst/>
          </a:prstGeom>
        </p:spPr>
        <p:txBody>
          <a:bodyPr lIns="0" tIns="0" rIns="0" bIns="0" rtlCol="0" anchor="t">
            <a:spAutoFit/>
          </a:bodyPr>
          <a:lstStyle/>
          <a:p>
            <a:pPr algn="just">
              <a:lnSpc>
                <a:spcPts val="5040"/>
              </a:lnSpc>
            </a:pPr>
            <a:r>
              <a:rPr lang="en-US" sz="3600" i="1" err="1">
                <a:solidFill>
                  <a:srgbClr val="000000"/>
                </a:solidFill>
                <a:latin typeface="+mj-lt"/>
                <a:ea typeface="Cabin Italics"/>
                <a:cs typeface="Times New Roman" panose="02020603050405020304" pitchFamily="18" charset="0"/>
                <a:sym typeface="Cabin Italics"/>
              </a:rPr>
              <a:t>Giáo</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Viên</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Hướng</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Dẫn</a:t>
            </a:r>
            <a:r>
              <a:rPr lang="en-US" sz="3600" i="1">
                <a:solidFill>
                  <a:srgbClr val="000000"/>
                </a:solidFill>
                <a:latin typeface="+mj-lt"/>
                <a:ea typeface="Cabin Italics"/>
                <a:cs typeface="Times New Roman" panose="02020603050405020304" pitchFamily="18" charset="0"/>
                <a:sym typeface="Cabin Italics"/>
              </a:rPr>
              <a:t>:</a:t>
            </a:r>
          </a:p>
          <a:p>
            <a:pPr marL="0" lvl="0" indent="0" algn="just">
              <a:lnSpc>
                <a:spcPts val="5040"/>
              </a:lnSpc>
              <a:spcBef>
                <a:spcPct val="0"/>
              </a:spcBef>
            </a:pPr>
            <a:r>
              <a:rPr lang="en-US" sz="3600" i="1" smtClean="0">
                <a:solidFill>
                  <a:srgbClr val="000000"/>
                </a:solidFill>
                <a:latin typeface="+mj-lt"/>
                <a:ea typeface="Cabin Italics"/>
                <a:cs typeface="Times New Roman" panose="02020603050405020304" pitchFamily="18" charset="0"/>
                <a:sym typeface="Cabin Italics"/>
              </a:rPr>
              <a:t>Khấu Văn Nhựt</a:t>
            </a:r>
            <a:endParaRPr lang="en-US" sz="3600" i="1">
              <a:solidFill>
                <a:srgbClr val="000000"/>
              </a:solidFill>
              <a:latin typeface="+mj-lt"/>
              <a:ea typeface="Cabin Italics"/>
              <a:cs typeface="Times New Roman" panose="02020603050405020304" pitchFamily="18" charset="0"/>
              <a:sym typeface="Cabin Italics"/>
            </a:endParaRPr>
          </a:p>
        </p:txBody>
      </p:sp>
      <p:sp>
        <p:nvSpPr>
          <p:cNvPr id="9" name="TextBox 9"/>
          <p:cNvSpPr txBox="1"/>
          <p:nvPr/>
        </p:nvSpPr>
        <p:spPr>
          <a:xfrm>
            <a:off x="1297446" y="3238500"/>
            <a:ext cx="16530033" cy="2346796"/>
          </a:xfrm>
          <a:prstGeom prst="rect">
            <a:avLst/>
          </a:prstGeom>
        </p:spPr>
        <p:txBody>
          <a:bodyPr wrap="square" lIns="0" tIns="0" rIns="0" bIns="0" rtlCol="0" anchor="t">
            <a:spAutoFit/>
          </a:bodyPr>
          <a:lstStyle/>
          <a:p>
            <a:pPr algn="ctr">
              <a:lnSpc>
                <a:spcPts val="6050"/>
              </a:lnSpc>
            </a:pPr>
            <a:r>
              <a:rPr lang="vi-VN" sz="5000" b="1" spc="150" smtClean="0">
                <a:solidFill>
                  <a:srgbClr val="1836B2"/>
                </a:solidFill>
                <a:latin typeface="+mj-lt"/>
                <a:ea typeface="Faustina Bold"/>
                <a:cs typeface="Times New Roman" panose="02020603050405020304" pitchFamily="18" charset="0"/>
                <a:sym typeface="Faustina Bold"/>
              </a:rPr>
              <a:t>XÂY DỰNG TRÒ CHƠI SINH TỒN 2D VỚI CƠ CHẾ </a:t>
            </a:r>
            <a:r>
              <a:rPr lang="en-US" sz="5000" b="1" spc="150" smtClean="0">
                <a:solidFill>
                  <a:srgbClr val="1836B2"/>
                </a:solidFill>
                <a:latin typeface="+mj-lt"/>
                <a:ea typeface="Faustina Bold"/>
                <a:cs typeface="Times New Roman" panose="02020603050405020304" pitchFamily="18" charset="0"/>
                <a:sym typeface="Faustina Bold"/>
              </a:rPr>
              <a:t>T</a:t>
            </a:r>
            <a:r>
              <a:rPr lang="vi-VN" sz="5000" b="1" spc="150" smtClean="0">
                <a:solidFill>
                  <a:srgbClr val="1836B2"/>
                </a:solidFill>
                <a:latin typeface="+mj-lt"/>
                <a:ea typeface="Faustina Bold"/>
                <a:cs typeface="Times New Roman" panose="02020603050405020304" pitchFamily="18" charset="0"/>
                <a:sym typeface="Faustina Bold"/>
              </a:rPr>
              <a:t>HU THẬP TÀI NGUYÊN VÀ</a:t>
            </a:r>
            <a:r>
              <a:rPr lang="en-US" sz="5000" b="1" spc="150" smtClean="0">
                <a:solidFill>
                  <a:srgbClr val="1836B2"/>
                </a:solidFill>
                <a:latin typeface="+mj-lt"/>
                <a:ea typeface="Faustina Bold"/>
                <a:cs typeface="Times New Roman" panose="02020603050405020304" pitchFamily="18" charset="0"/>
                <a:sym typeface="Faustina Bold"/>
              </a:rPr>
              <a:t> </a:t>
            </a:r>
            <a:r>
              <a:rPr lang="vi-VN" sz="5000" b="1" spc="150" smtClean="0">
                <a:solidFill>
                  <a:srgbClr val="1836B2"/>
                </a:solidFill>
                <a:latin typeface="+mj-lt"/>
                <a:ea typeface="Faustina Bold"/>
                <a:cs typeface="Times New Roman" panose="02020603050405020304" pitchFamily="18" charset="0"/>
                <a:sym typeface="Faustina Bold"/>
              </a:rPr>
              <a:t>CHIẾN ĐẤU GÓC NHÌN TỪ TRÊN XUỐNG</a:t>
            </a:r>
            <a:endParaRPr lang="en-US" sz="5000" b="1" spc="150">
              <a:solidFill>
                <a:srgbClr val="1836B2"/>
              </a:solidFill>
              <a:latin typeface="+mj-lt"/>
              <a:ea typeface="Faustina Bold"/>
              <a:cs typeface="Times New Roman" panose="02020603050405020304" pitchFamily="18" charset="0"/>
              <a:sym typeface="Faustina Bold"/>
            </a:endParaRPr>
          </a:p>
        </p:txBody>
      </p:sp>
      <p:sp>
        <p:nvSpPr>
          <p:cNvPr id="10" name="TextBox 10"/>
          <p:cNvSpPr txBox="1"/>
          <p:nvPr/>
        </p:nvSpPr>
        <p:spPr>
          <a:xfrm>
            <a:off x="3131820" y="1119358"/>
            <a:ext cx="5715000" cy="509883"/>
          </a:xfrm>
          <a:prstGeom prst="rect">
            <a:avLst/>
          </a:prstGeom>
        </p:spPr>
        <p:txBody>
          <a:bodyPr wrap="square" lIns="0" tIns="0" rIns="0" bIns="0" rtlCol="0" anchor="t">
            <a:spAutoFit/>
          </a:bodyPr>
          <a:lstStyle/>
          <a:p>
            <a:pPr algn="ctr">
              <a:lnSpc>
                <a:spcPts val="4289"/>
              </a:lnSpc>
              <a:spcBef>
                <a:spcPct val="0"/>
              </a:spcBef>
            </a:pPr>
            <a:r>
              <a:rPr lang="en-US" sz="3299" spc="-65" err="1" smtClean="0">
                <a:solidFill>
                  <a:schemeClr val="bg1"/>
                </a:solidFill>
                <a:latin typeface="+mj-lt"/>
                <a:ea typeface="Cabin"/>
                <a:cs typeface="Times New Roman" panose="02020603050405020304" pitchFamily="18" charset="0"/>
                <a:sym typeface="Cabin"/>
              </a:rPr>
              <a:t>Trường</a:t>
            </a:r>
            <a:r>
              <a:rPr lang="en-US" sz="3299" spc="-65" smtClean="0">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Kỹ</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Thuật</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Công</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Nghệ</a:t>
            </a:r>
            <a:endParaRPr lang="en-US" sz="3299" spc="-65">
              <a:solidFill>
                <a:schemeClr val="bg1"/>
              </a:solidFill>
              <a:latin typeface="+mj-lt"/>
              <a:ea typeface="Cabin"/>
              <a:cs typeface="Times New Roman" panose="02020603050405020304" pitchFamily="18" charset="0"/>
              <a:sym typeface="Cabin"/>
            </a:endParaRPr>
          </a:p>
        </p:txBody>
      </p:sp>
      <p:sp>
        <p:nvSpPr>
          <p:cNvPr id="11" name="TextBox 11"/>
          <p:cNvSpPr txBox="1"/>
          <p:nvPr/>
        </p:nvSpPr>
        <p:spPr>
          <a:xfrm>
            <a:off x="9144000" y="5898171"/>
            <a:ext cx="6090978" cy="2537460"/>
          </a:xfrm>
          <a:prstGeom prst="rect">
            <a:avLst/>
          </a:prstGeom>
        </p:spPr>
        <p:txBody>
          <a:bodyPr lIns="0" tIns="0" rIns="0" bIns="0" rtlCol="0" anchor="t">
            <a:spAutoFit/>
          </a:bodyPr>
          <a:lstStyle/>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Sinh</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viên</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thực</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hiện</a:t>
            </a:r>
            <a:r>
              <a:rPr lang="en-US" sz="3599" i="1">
                <a:solidFill>
                  <a:srgbClr val="000000"/>
                </a:solidFill>
                <a:latin typeface="+mj-lt"/>
                <a:ea typeface="Cabin Italics"/>
                <a:cs typeface="Times New Roman" panose="02020603050405020304" pitchFamily="18" charset="0"/>
                <a:sym typeface="Cabin Italics"/>
              </a:rPr>
              <a:t>:</a:t>
            </a:r>
          </a:p>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Họ</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và</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Tên</a:t>
            </a:r>
            <a:r>
              <a:rPr lang="en-US" sz="3599" i="1">
                <a:solidFill>
                  <a:srgbClr val="000000"/>
                </a:solidFill>
                <a:latin typeface="+mj-lt"/>
                <a:ea typeface="Cabin Italics"/>
                <a:cs typeface="Times New Roman" panose="02020603050405020304" pitchFamily="18" charset="0"/>
                <a:sym typeface="Cabin Italics"/>
              </a:rPr>
              <a:t>: </a:t>
            </a:r>
            <a:r>
              <a:rPr lang="en-US" sz="3599" i="1" err="1" smtClean="0">
                <a:solidFill>
                  <a:srgbClr val="000000"/>
                </a:solidFill>
                <a:latin typeface="+mj-lt"/>
                <a:ea typeface="Cabin Italics"/>
                <a:cs typeface="Times New Roman" panose="02020603050405020304" pitchFamily="18" charset="0"/>
                <a:sym typeface="Cabin Italics"/>
              </a:rPr>
              <a:t>Hà</a:t>
            </a:r>
            <a:r>
              <a:rPr lang="en-US" sz="3599" i="1" smtClean="0">
                <a:solidFill>
                  <a:srgbClr val="000000"/>
                </a:solidFill>
                <a:latin typeface="+mj-lt"/>
                <a:ea typeface="Cabin Italics"/>
                <a:cs typeface="Times New Roman" panose="02020603050405020304" pitchFamily="18" charset="0"/>
                <a:sym typeface="Cabin Italics"/>
              </a:rPr>
              <a:t> Gia </a:t>
            </a:r>
            <a:r>
              <a:rPr lang="en-US" sz="3599" i="1" err="1" smtClean="0">
                <a:solidFill>
                  <a:srgbClr val="000000"/>
                </a:solidFill>
                <a:latin typeface="+mj-lt"/>
                <a:ea typeface="Cabin Italics"/>
                <a:cs typeface="Times New Roman" panose="02020603050405020304" pitchFamily="18" charset="0"/>
                <a:sym typeface="Cabin Italics"/>
              </a:rPr>
              <a:t>Lộc</a:t>
            </a:r>
            <a:endParaRPr lang="en-US" sz="3599" i="1">
              <a:solidFill>
                <a:srgbClr val="000000"/>
              </a:solidFill>
              <a:latin typeface="+mj-lt"/>
              <a:ea typeface="Cabin Italics"/>
              <a:cs typeface="Times New Roman" panose="02020603050405020304" pitchFamily="18" charset="0"/>
              <a:sym typeface="Cabin Italics"/>
            </a:endParaRPr>
          </a:p>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Mã</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lớp</a:t>
            </a:r>
            <a:r>
              <a:rPr lang="en-US" sz="3599" i="1">
                <a:solidFill>
                  <a:srgbClr val="000000"/>
                </a:solidFill>
                <a:latin typeface="+mj-lt"/>
                <a:ea typeface="Cabin Italics"/>
                <a:cs typeface="Times New Roman" panose="02020603050405020304" pitchFamily="18" charset="0"/>
                <a:sym typeface="Cabin Italics"/>
              </a:rPr>
              <a:t>: DA22TTD</a:t>
            </a:r>
          </a:p>
          <a:p>
            <a:pPr marL="0" lvl="0" indent="0" algn="just">
              <a:lnSpc>
                <a:spcPts val="5039"/>
              </a:lnSpc>
              <a:spcBef>
                <a:spcPct val="0"/>
              </a:spcBef>
            </a:pPr>
            <a:r>
              <a:rPr lang="en-US" sz="3599" i="1">
                <a:solidFill>
                  <a:srgbClr val="000000"/>
                </a:solidFill>
                <a:latin typeface="+mj-lt"/>
                <a:ea typeface="Cabin Italics"/>
                <a:cs typeface="Times New Roman" panose="02020603050405020304" pitchFamily="18" charset="0"/>
                <a:sym typeface="Cabin Italics"/>
              </a:rPr>
              <a:t>MSSV: </a:t>
            </a:r>
            <a:r>
              <a:rPr lang="en-US" sz="3599" i="1" smtClean="0">
                <a:solidFill>
                  <a:srgbClr val="000000"/>
                </a:solidFill>
                <a:latin typeface="+mj-lt"/>
                <a:ea typeface="Cabin Italics"/>
                <a:cs typeface="Times New Roman" panose="02020603050405020304" pitchFamily="18" charset="0"/>
                <a:sym typeface="Cabin Italics"/>
              </a:rPr>
              <a:t>110122103</a:t>
            </a:r>
            <a:endParaRPr lang="en-US" sz="3599" i="1">
              <a:solidFill>
                <a:srgbClr val="000000"/>
              </a:solidFill>
              <a:latin typeface="+mj-lt"/>
              <a:ea typeface="Cabin Italics"/>
              <a:cs typeface="Times New Roman" panose="02020603050405020304" pitchFamily="18" charset="0"/>
              <a:sym typeface="Cabin Italics"/>
            </a:endParaRP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000" y="114300"/>
            <a:ext cx="2520000" cy="2520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2562"/>
            <a:ext cx="9964391" cy="963469"/>
          </a:xfrm>
          <a:prstGeom prst="rect">
            <a:avLst/>
          </a:prstGeom>
        </p:spPr>
        <p:txBody>
          <a:bodyPr lIns="0" tIns="0" rIns="0" bIns="0" rtlCol="0" anchor="t">
            <a:spAutoFit/>
          </a:bodyPr>
          <a:lstStyle/>
          <a:p>
            <a:pPr marL="0" lvl="0" indent="0" algn="l">
              <a:lnSpc>
                <a:spcPts val="8470"/>
              </a:lnSpc>
              <a:spcBef>
                <a:spcPct val="0"/>
              </a:spcBef>
            </a:pPr>
            <a:r>
              <a:rPr lang="en-US" sz="5000" b="1">
                <a:solidFill>
                  <a:srgbClr val="1836B2"/>
                </a:solidFill>
                <a:latin typeface="+mj-lt"/>
                <a:ea typeface="Cabin Semi-Bold"/>
                <a:cs typeface="Times New Roman" panose="02020603050405020304" pitchFamily="18" charset="0"/>
                <a:sym typeface="Cabin Semi-Bold"/>
              </a:rPr>
              <a:t>Nội dung thuyết trình</a:t>
            </a:r>
          </a:p>
        </p:txBody>
      </p:sp>
      <p:grpSp>
        <p:nvGrpSpPr>
          <p:cNvPr id="3" name="Group 3"/>
          <p:cNvGrpSpPr/>
          <p:nvPr/>
        </p:nvGrpSpPr>
        <p:grpSpPr>
          <a:xfrm>
            <a:off x="13741037" y="-1217562"/>
            <a:ext cx="9852713" cy="11676274"/>
            <a:chOff x="0" y="0"/>
            <a:chExt cx="13136951" cy="15568366"/>
          </a:xfrm>
        </p:grpSpPr>
        <p:sp>
          <p:nvSpPr>
            <p:cNvPr id="4"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grpSp>
          <p:nvGrpSpPr>
            <p:cNvPr id="5" name="Group 5"/>
            <p:cNvGrpSpPr/>
            <p:nvPr/>
          </p:nvGrpSpPr>
          <p:grpSpPr>
            <a:xfrm rot="-10800000">
              <a:off x="2115666" y="3513875"/>
              <a:ext cx="11021285" cy="12054491"/>
              <a:chOff x="0" y="0"/>
              <a:chExt cx="4911651" cy="5372100"/>
            </a:xfrm>
          </p:grpSpPr>
          <p:sp>
            <p:nvSpPr>
              <p:cNvPr id="6"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graphicFrame>
        <p:nvGraphicFramePr>
          <p:cNvPr id="7" name="Table 7"/>
          <p:cNvGraphicFramePr>
            <a:graphicFrameLocks noGrp="1"/>
          </p:cNvGraphicFramePr>
          <p:nvPr>
            <p:extLst>
              <p:ext uri="{D42A27DB-BD31-4B8C-83A1-F6EECF244321}">
                <p14:modId xmlns:p14="http://schemas.microsoft.com/office/powerpoint/2010/main" val="3898597892"/>
              </p:ext>
            </p:extLst>
          </p:nvPr>
        </p:nvGraphicFramePr>
        <p:xfrm>
          <a:off x="1028699" y="2247900"/>
          <a:ext cx="13982701" cy="6370478"/>
        </p:xfrm>
        <a:graphic>
          <a:graphicData uri="http://schemas.openxmlformats.org/drawingml/2006/table">
            <a:tbl>
              <a:tblPr/>
              <a:tblGrid>
                <a:gridCol w="6286501">
                  <a:extLst>
                    <a:ext uri="{9D8B030D-6E8A-4147-A177-3AD203B41FA5}">
                      <a16:colId xmlns="" xmlns:a16="http://schemas.microsoft.com/office/drawing/2014/main" val="20000"/>
                    </a:ext>
                  </a:extLst>
                </a:gridCol>
                <a:gridCol w="7696200">
                  <a:extLst>
                    <a:ext uri="{9D8B030D-6E8A-4147-A177-3AD203B41FA5}">
                      <a16:colId xmlns="" xmlns:a16="http://schemas.microsoft.com/office/drawing/2014/main" val="20001"/>
                    </a:ext>
                  </a:extLst>
                </a:gridCol>
              </a:tblGrid>
              <a:tr h="1827467">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1. L</a:t>
                      </a:r>
                      <a:r>
                        <a:rPr lang="vi-VN" sz="3999" smtClean="0">
                          <a:solidFill>
                            <a:srgbClr val="000000"/>
                          </a:solidFill>
                          <a:latin typeface="Arial" panose="020B0604020202020204" pitchFamily="34" charset="0"/>
                          <a:ea typeface="Cabin"/>
                          <a:cs typeface="Arial" panose="020B0604020202020204" pitchFamily="34" charset="0"/>
                          <a:sym typeface="Cabin"/>
                        </a:rPr>
                        <a:t>ý </a:t>
                      </a:r>
                      <a:r>
                        <a:rPr lang="vi-VN" sz="3999">
                          <a:solidFill>
                            <a:srgbClr val="000000"/>
                          </a:solidFill>
                          <a:latin typeface="Arial" panose="020B0604020202020204" pitchFamily="34" charset="0"/>
                          <a:ea typeface="Cabin"/>
                          <a:cs typeface="Arial" panose="020B0604020202020204" pitchFamily="34" charset="0"/>
                          <a:sym typeface="Cabin"/>
                        </a:rPr>
                        <a:t>do chọn </a:t>
                      </a:r>
                      <a:r>
                        <a:rPr lang="en-US" sz="3999" err="1">
                          <a:solidFill>
                            <a:srgbClr val="000000"/>
                          </a:solidFill>
                          <a:latin typeface="Arial" panose="020B0604020202020204" pitchFamily="34" charset="0"/>
                          <a:ea typeface="Cabin"/>
                          <a:cs typeface="Arial" panose="020B0604020202020204" pitchFamily="34" charset="0"/>
                          <a:sym typeface="Cabin"/>
                        </a:rPr>
                        <a:t>đề</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tài</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2.</a:t>
                      </a:r>
                      <a:r>
                        <a:rPr lang="en-US" sz="3999" baseline="0" smtClean="0">
                          <a:solidFill>
                            <a:srgbClr val="000000"/>
                          </a:solidFill>
                          <a:latin typeface="Arial" panose="020B0604020202020204" pitchFamily="34" charset="0"/>
                          <a:ea typeface="Cabin"/>
                          <a:cs typeface="Arial" panose="020B0604020202020204" pitchFamily="34" charset="0"/>
                          <a:sym typeface="Cabin"/>
                        </a:rPr>
                        <a:t> </a:t>
                      </a:r>
                      <a:r>
                        <a:rPr lang="en-US" sz="3999" smtClean="0">
                          <a:solidFill>
                            <a:srgbClr val="000000"/>
                          </a:solidFill>
                          <a:latin typeface="Arial" panose="020B0604020202020204" pitchFamily="34" charset="0"/>
                          <a:ea typeface="Cabin"/>
                          <a:cs typeface="Arial" panose="020B0604020202020204" pitchFamily="34" charset="0"/>
                          <a:sym typeface="Cabin"/>
                        </a:rPr>
                        <a:t>Mục tiêu nghiên cứu</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0"/>
                  </a:ext>
                </a:extLst>
              </a:tr>
              <a:tr h="1514337">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3. Cơ sở lý thuyết</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4. Mô </a:t>
                      </a:r>
                      <a:r>
                        <a:rPr lang="en-US" sz="3999" err="1">
                          <a:solidFill>
                            <a:srgbClr val="000000"/>
                          </a:solidFill>
                          <a:latin typeface="Arial" panose="020B0604020202020204" pitchFamily="34" charset="0"/>
                          <a:ea typeface="Cabin"/>
                          <a:cs typeface="Arial" panose="020B0604020202020204" pitchFamily="34" charset="0"/>
                          <a:sym typeface="Cabin"/>
                        </a:rPr>
                        <a:t>tả</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bài</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toán</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1"/>
                  </a:ext>
                </a:extLst>
              </a:tr>
              <a:tr h="1514337">
                <a:tc>
                  <a:txBody>
                    <a:bodyPr/>
                    <a:lstStyle/>
                    <a:p>
                      <a:pPr algn="l">
                        <a:lnSpc>
                          <a:spcPts val="5599"/>
                        </a:lnSpc>
                        <a:defRPr/>
                      </a:pPr>
                      <a:r>
                        <a:rPr lang="en-US" sz="4000" smtClean="0"/>
                        <a:t>5. Yêu</a:t>
                      </a:r>
                      <a:r>
                        <a:rPr lang="en-US" sz="4000" baseline="0" smtClean="0"/>
                        <a:t> cầu </a:t>
                      </a:r>
                      <a:r>
                        <a:rPr lang="vi-VN" sz="4000" smtClean="0"/>
                        <a:t>hệ thống</a:t>
                      </a:r>
                      <a:endParaRPr lang="en-US" sz="1100" b="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smtClean="0"/>
                        <a:t>6. </a:t>
                      </a:r>
                      <a:r>
                        <a:rPr lang="vi-VN" sz="4000" smtClean="0"/>
                        <a:t>Thiết kế hệ thống</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2"/>
                  </a:ext>
                </a:extLst>
              </a:tr>
              <a:tr h="1514337">
                <a:tc>
                  <a:txBody>
                    <a:bodyPr/>
                    <a:lstStyle/>
                    <a:p>
                      <a:pPr algn="l">
                        <a:lnSpc>
                          <a:spcPts val="5599"/>
                        </a:lnSpc>
                        <a:defRPr/>
                      </a:pPr>
                      <a:r>
                        <a:rPr lang="en-US" sz="4000" smtClean="0">
                          <a:latin typeface="Arial" panose="020B0604020202020204" pitchFamily="34" charset="0"/>
                          <a:cs typeface="Arial" panose="020B0604020202020204" pitchFamily="34" charset="0"/>
                        </a:rPr>
                        <a:t>7. </a:t>
                      </a:r>
                      <a:r>
                        <a:rPr lang="vi-VN" sz="4000" smtClean="0">
                          <a:latin typeface="Arial" panose="020B0604020202020204" pitchFamily="34" charset="0"/>
                          <a:cs typeface="Arial" panose="020B0604020202020204" pitchFamily="34" charset="0"/>
                        </a:rPr>
                        <a:t>Kết quả nghiên cứu</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smtClean="0">
                          <a:latin typeface="Arial" panose="020B0604020202020204" pitchFamily="34" charset="0"/>
                          <a:cs typeface="Arial" panose="020B0604020202020204" pitchFamily="34" charset="0"/>
                        </a:rPr>
                        <a:t>8. </a:t>
                      </a:r>
                      <a:r>
                        <a:rPr lang="vi-VN" sz="4000" smtClean="0">
                          <a:latin typeface="Arial" panose="020B0604020202020204" pitchFamily="34" charset="0"/>
                          <a:cs typeface="Arial" panose="020B0604020202020204" pitchFamily="34" charset="0"/>
                        </a:rPr>
                        <a:t>Kết</a:t>
                      </a:r>
                      <a:r>
                        <a:rPr lang="en-US" sz="4000" baseline="0" smtClean="0">
                          <a:latin typeface="Arial" panose="020B0604020202020204" pitchFamily="34" charset="0"/>
                          <a:cs typeface="Arial" panose="020B0604020202020204" pitchFamily="34" charset="0"/>
                        </a:rPr>
                        <a:t> </a:t>
                      </a:r>
                      <a:r>
                        <a:rPr lang="vi-VN" sz="4000" smtClean="0">
                          <a:latin typeface="Arial" panose="020B0604020202020204" pitchFamily="34" charset="0"/>
                          <a:cs typeface="Arial" panose="020B0604020202020204" pitchFamily="34" charset="0"/>
                        </a:rPr>
                        <a:t>luận </a:t>
                      </a:r>
                      <a:r>
                        <a:rPr lang="vi-VN" sz="4000">
                          <a:latin typeface="Arial" panose="020B0604020202020204" pitchFamily="34" charset="0"/>
                          <a:cs typeface="Arial" panose="020B0604020202020204" pitchFamily="34" charset="0"/>
                        </a:rPr>
                        <a:t>và </a:t>
                      </a:r>
                      <a:r>
                        <a:rPr lang="vi-VN" sz="4000" smtClean="0">
                          <a:latin typeface="Arial" panose="020B0604020202020204" pitchFamily="34" charset="0"/>
                          <a:cs typeface="Arial" panose="020B0604020202020204" pitchFamily="34" charset="0"/>
                        </a:rPr>
                        <a:t>hướng </a:t>
                      </a:r>
                      <a:r>
                        <a:rPr lang="vi-VN" sz="4000">
                          <a:latin typeface="Arial" panose="020B0604020202020204" pitchFamily="34" charset="0"/>
                          <a:cs typeface="Arial" panose="020B0604020202020204" pitchFamily="34" charset="0"/>
                        </a:rPr>
                        <a:t>phát triển</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75E803A-EB2D-0CB4-B30F-4307E0952C32}"/>
            </a:ext>
          </a:extLst>
        </p:cNvPr>
        <p:cNvGrpSpPr/>
        <p:nvPr/>
      </p:nvGrpSpPr>
      <p:grpSpPr>
        <a:xfrm>
          <a:off x="0" y="0"/>
          <a:ext cx="0" cy="0"/>
          <a:chOff x="0" y="0"/>
          <a:chExt cx="0" cy="0"/>
        </a:xfrm>
      </p:grpSpPr>
      <p:grpSp>
        <p:nvGrpSpPr>
          <p:cNvPr id="3" name="Group 3">
            <a:extLst>
              <a:ext uri="{FF2B5EF4-FFF2-40B4-BE49-F238E27FC236}">
                <a16:creationId xmlns="" xmlns:a16="http://schemas.microsoft.com/office/drawing/2014/main"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 xmlns:a16="http://schemas.microsoft.com/office/drawing/2014/main"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 xmlns:a16="http://schemas.microsoft.com/office/drawing/2014/main"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smtClean="0">
                <a:solidFill>
                  <a:srgbClr val="1836B2"/>
                </a:solidFill>
                <a:latin typeface="+mj-lt"/>
                <a:ea typeface="Cabin Semi-Bold"/>
                <a:cs typeface="Times New Roman" panose="02020603050405020304" pitchFamily="18" charset="0"/>
                <a:sym typeface="Cabin Semi-Bold"/>
              </a:rPr>
              <a:t>1. L</a:t>
            </a:r>
            <a:r>
              <a:rPr lang="vi-VN" sz="5000" b="1" u="none" smtClean="0">
                <a:solidFill>
                  <a:srgbClr val="1836B2"/>
                </a:solidFill>
                <a:latin typeface="+mj-lt"/>
                <a:ea typeface="Cabin Semi-Bold"/>
                <a:cs typeface="Times New Roman" panose="02020603050405020304" pitchFamily="18" charset="0"/>
                <a:sym typeface="Cabin Semi-Bold"/>
              </a:rPr>
              <a:t>ý </a:t>
            </a:r>
            <a:r>
              <a:rPr lang="vi-VN" sz="5000" b="1" u="none">
                <a:solidFill>
                  <a:srgbClr val="1836B2"/>
                </a:solidFill>
                <a:latin typeface="+mj-lt"/>
                <a:ea typeface="Cabin Semi-Bold"/>
                <a:cs typeface="Times New Roman" panose="02020603050405020304" pitchFamily="18" charset="0"/>
                <a:sym typeface="Cabin Semi-Bold"/>
              </a:rPr>
              <a:t>do chọn đề tài</a:t>
            </a:r>
            <a:endParaRPr lang="en-US" sz="5000" b="1" u="none">
              <a:solidFill>
                <a:srgbClr val="1836B2"/>
              </a:solidFill>
              <a:latin typeface="+mj-lt"/>
              <a:ea typeface="Cabin Semi-Bold"/>
              <a:cs typeface="Times New Roman" panose="02020603050405020304" pitchFamily="18" charset="0"/>
              <a:sym typeface="Cabin Semi-Bold"/>
            </a:endParaRPr>
          </a:p>
        </p:txBody>
      </p:sp>
      <p:graphicFrame>
        <p:nvGraphicFramePr>
          <p:cNvPr id="8" name="Table 8">
            <a:extLst>
              <a:ext uri="{FF2B5EF4-FFF2-40B4-BE49-F238E27FC236}">
                <a16:creationId xmlns=""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792720077"/>
              </p:ext>
            </p:extLst>
          </p:nvPr>
        </p:nvGraphicFramePr>
        <p:xfrm>
          <a:off x="304800" y="3695700"/>
          <a:ext cx="5580000" cy="3569523"/>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14400">
                <a:tc>
                  <a:txBody>
                    <a:bodyPr/>
                    <a:lstStyle/>
                    <a:p>
                      <a:pPr algn="ctr">
                        <a:lnSpc>
                          <a:spcPts val="3640"/>
                        </a:lnSpc>
                        <a:defRPr/>
                      </a:pPr>
                      <a:r>
                        <a:rPr lang="vi-VN" sz="2600" b="1" smtClean="0"/>
                        <a:t>Xu hướng phát triển game 2D</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55123">
                <a:tc>
                  <a:txBody>
                    <a:bodyPr/>
                    <a:lstStyle/>
                    <a:p>
                      <a:pPr marL="388620" lvl="1" indent="-194310" algn="just">
                        <a:lnSpc>
                          <a:spcPct val="100000"/>
                        </a:lnSpc>
                        <a:buFont typeface="Arial"/>
                        <a:buChar char="•"/>
                        <a:defRPr/>
                      </a:pPr>
                      <a:r>
                        <a:rPr lang="vi-VN" sz="2400" smtClean="0"/>
                        <a:t>Game 2D vẫn được yêu thích nhờ tính đơn giản và khả năng mở rộng gameplay.</a:t>
                      </a:r>
                      <a:endParaRPr lang="en-US" sz="2400" smtClean="0"/>
                    </a:p>
                    <a:p>
                      <a:pPr marL="388620" lvl="1" indent="-194310" algn="just">
                        <a:lnSpc>
                          <a:spcPct val="100000"/>
                        </a:lnSpc>
                        <a:buFont typeface="Arial"/>
                        <a:buChar char="•"/>
                        <a:defRPr/>
                      </a:pPr>
                      <a:r>
                        <a:rPr lang="vi-VN" sz="2400" smtClean="0"/>
                        <a:t>Thể loại sinh tồn thu hút người chơi bởi yếu tố khám phá và chiến lược.</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1" name="Table 8">
            <a:extLst>
              <a:ext uri="{FF2B5EF4-FFF2-40B4-BE49-F238E27FC236}">
                <a16:creationId xmlns=""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1731514862"/>
              </p:ext>
            </p:extLst>
          </p:nvPr>
        </p:nvGraphicFramePr>
        <p:xfrm>
          <a:off x="6248400" y="3695700"/>
          <a:ext cx="5761800" cy="3594240"/>
        </p:xfrm>
        <a:graphic>
          <a:graphicData uri="http://schemas.openxmlformats.org/drawingml/2006/table">
            <a:tbl>
              <a:tblPr/>
              <a:tblGrid>
                <a:gridCol w="57618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600" b="1" smtClean="0"/>
                        <a:t>Mục tiêu học tập và nghiên cứu</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34803">
                <a:tc>
                  <a:txBody>
                    <a:bodyPr/>
                    <a:lstStyle/>
                    <a:p>
                      <a:pPr marL="388620" lvl="1" indent="-194310" algn="just">
                        <a:lnSpc>
                          <a:spcPct val="100000"/>
                        </a:lnSpc>
                        <a:buFont typeface="Arial"/>
                        <a:buChar char="•"/>
                        <a:defRPr/>
                      </a:pPr>
                      <a:r>
                        <a:rPr lang="vi-VN" sz="2400" smtClean="0"/>
                        <a:t>Vận dụng kiến thức lập trình và phát triển phần mềm.</a:t>
                      </a:r>
                      <a:endParaRPr lang="en-US" sz="2400" smtClean="0"/>
                    </a:p>
                    <a:p>
                      <a:pPr marL="388620" lvl="1" indent="-194310" algn="just">
                        <a:lnSpc>
                          <a:spcPct val="100000"/>
                        </a:lnSpc>
                        <a:buFont typeface="Arial"/>
                        <a:buChar char="•"/>
                        <a:defRPr/>
                      </a:pPr>
                      <a:r>
                        <a:rPr lang="vi-VN" sz="2400" smtClean="0"/>
                        <a:t>Tiếp cận Godot Engine và ngôn ngữ GDScript.</a:t>
                      </a:r>
                      <a:endParaRPr lang="en-US" sz="2400" smtClean="0"/>
                    </a:p>
                    <a:p>
                      <a:pPr marL="388620" lvl="1" indent="-194310" algn="just">
                        <a:lnSpc>
                          <a:spcPct val="100000"/>
                        </a:lnSpc>
                        <a:buFont typeface="Arial"/>
                        <a:buChar char="•"/>
                        <a:defRPr/>
                      </a:pPr>
                      <a:r>
                        <a:rPr lang="vi-VN" sz="2400" smtClean="0"/>
                        <a:t>Rèn luyện kỹ năng thiết kế hệ thống game.</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2" name="Table 8">
            <a:extLst>
              <a:ext uri="{FF2B5EF4-FFF2-40B4-BE49-F238E27FC236}">
                <a16:creationId xmlns=""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1344558153"/>
              </p:ext>
            </p:extLst>
          </p:nvPr>
        </p:nvGraphicFramePr>
        <p:xfrm>
          <a:off x="12479401" y="3695700"/>
          <a:ext cx="5580000" cy="3506401"/>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600" b="1" smtClean="0"/>
                        <a:t>Ý nghĩa của đề tài</a:t>
                      </a:r>
                      <a:endParaRPr lang="en-US" sz="26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546964">
                <a:tc>
                  <a:txBody>
                    <a:bodyPr/>
                    <a:lstStyle/>
                    <a:p>
                      <a:pPr marL="388620" lvl="1" indent="-194310" algn="just">
                        <a:lnSpc>
                          <a:spcPts val="2520"/>
                        </a:lnSpc>
                        <a:buFont typeface="Arial"/>
                        <a:buChar char="•"/>
                        <a:defRPr/>
                      </a:pPr>
                      <a:r>
                        <a:rPr lang="vi-VN" sz="2400" smtClean="0"/>
                        <a:t>Xây dựng sản phẩm game hoàn chỉnh.</a:t>
                      </a:r>
                      <a:endParaRPr lang="en-US" sz="2400" smtClean="0"/>
                    </a:p>
                    <a:p>
                      <a:pPr marL="388620" lvl="1" indent="-194310" algn="just">
                        <a:lnSpc>
                          <a:spcPts val="2520"/>
                        </a:lnSpc>
                        <a:buFont typeface="Arial"/>
                        <a:buChar char="•"/>
                        <a:defRPr/>
                      </a:pPr>
                      <a:r>
                        <a:rPr lang="vi-VN" sz="2400" smtClean="0"/>
                        <a:t>Có khả năng mở rộng trong tương lai.</a:t>
                      </a:r>
                      <a:endParaRPr lang="en-US" sz="2400" smtClean="0"/>
                    </a:p>
                    <a:p>
                      <a:pPr marL="388620" lvl="1" indent="-194310" algn="just">
                        <a:lnSpc>
                          <a:spcPts val="2520"/>
                        </a:lnSpc>
                        <a:buFont typeface="Arial"/>
                        <a:buChar char="•"/>
                        <a:defRPr/>
                      </a:pPr>
                      <a:r>
                        <a:rPr lang="vi-VN" sz="2400" smtClean="0"/>
                        <a:t>Làm nền tảng cho nghiên cứu và phát triển game sau này.</a:t>
                      </a:r>
                      <a:endParaRPr lang="en-US" sz="24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14" name="Rectangle 1">
            <a:extLst>
              <a:ext uri="{FF2B5EF4-FFF2-40B4-BE49-F238E27FC236}">
                <a16:creationId xmlns=""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4214" y="7875614"/>
            <a:ext cx="230909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4000" y="7785614"/>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425863" y="7785614"/>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2457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30088AC-D961-B3FD-BDB5-AF6216DA83C2}"/>
            </a:ext>
          </a:extLst>
        </p:cNvPr>
        <p:cNvGrpSpPr/>
        <p:nvPr/>
      </p:nvGrpSpPr>
      <p:grpSpPr>
        <a:xfrm>
          <a:off x="0" y="0"/>
          <a:ext cx="0" cy="0"/>
          <a:chOff x="0" y="0"/>
          <a:chExt cx="0" cy="0"/>
        </a:xfrm>
      </p:grpSpPr>
      <p:grpSp>
        <p:nvGrpSpPr>
          <p:cNvPr id="3" name="Group 3">
            <a:extLst>
              <a:ext uri="{FF2B5EF4-FFF2-40B4-BE49-F238E27FC236}">
                <a16:creationId xmlns="" xmlns:a16="http://schemas.microsoft.com/office/drawing/2014/main" id="{9F09FE31-2B22-0D41-FFE7-9EA24BDE408C}"/>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 xmlns:a16="http://schemas.microsoft.com/office/drawing/2014/main" id="{7D46B007-4CA4-B7C3-844B-18CBE20FC8CC}"/>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 xmlns:a16="http://schemas.microsoft.com/office/drawing/2014/main" id="{A0263E83-F0E0-C116-64ED-CA6254091F91}"/>
              </a:ext>
            </a:extLst>
          </p:cNvPr>
          <p:cNvSpPr txBox="1"/>
          <p:nvPr/>
        </p:nvSpPr>
        <p:spPr>
          <a:xfrm>
            <a:off x="5486401" y="938775"/>
            <a:ext cx="12573000" cy="1115690"/>
          </a:xfrm>
          <a:prstGeom prst="rect">
            <a:avLst/>
          </a:prstGeom>
        </p:spPr>
        <p:txBody>
          <a:bodyPr wrap="square" lIns="0" tIns="0" rIns="0" bIns="0" rtlCol="0" anchor="t">
            <a:spAutoFit/>
          </a:bodyPr>
          <a:lstStyle/>
          <a:p>
            <a:pPr marL="0" lvl="0" indent="0" algn="l">
              <a:lnSpc>
                <a:spcPts val="8717"/>
              </a:lnSpc>
              <a:spcBef>
                <a:spcPct val="0"/>
              </a:spcBef>
            </a:pPr>
            <a:r>
              <a:rPr lang="vi-VN" sz="5000" b="1" u="none">
                <a:solidFill>
                  <a:srgbClr val="1836B2"/>
                </a:solidFill>
                <a:latin typeface="+mj-lt"/>
                <a:ea typeface="Cabin Semi-Bold"/>
                <a:cs typeface="Times New Roman" panose="02020603050405020304" pitchFamily="18" charset="0"/>
                <a:sym typeface="Cabin Semi-Bold"/>
              </a:rPr>
              <a:t>2</a:t>
            </a:r>
            <a:r>
              <a:rPr lang="vi-VN" sz="5000" b="1" u="none" smtClean="0">
                <a:solidFill>
                  <a:srgbClr val="1836B2"/>
                </a:solidFill>
                <a:latin typeface="+mj-lt"/>
                <a:ea typeface="Cabin Semi-Bold"/>
                <a:cs typeface="Times New Roman" panose="02020603050405020304" pitchFamily="18" charset="0"/>
                <a:sym typeface="Cabin Semi-Bold"/>
              </a:rPr>
              <a:t>.</a:t>
            </a:r>
            <a:r>
              <a:rPr lang="en-US" sz="5000" b="1" u="none" smtClean="0">
                <a:solidFill>
                  <a:srgbClr val="1836B2"/>
                </a:solidFill>
                <a:latin typeface="+mj-lt"/>
                <a:ea typeface="Cabin Semi-Bold"/>
                <a:cs typeface="Times New Roman" panose="02020603050405020304" pitchFamily="18" charset="0"/>
                <a:sym typeface="Cabin Semi-Bold"/>
              </a:rPr>
              <a:t> </a:t>
            </a:r>
            <a:r>
              <a:rPr lang="vi-VN" sz="5000" b="1" u="none" smtClean="0">
                <a:solidFill>
                  <a:srgbClr val="1836B2"/>
                </a:solidFill>
                <a:latin typeface="+mj-lt"/>
                <a:ea typeface="Cabin Semi-Bold"/>
                <a:cs typeface="Times New Roman" panose="02020603050405020304" pitchFamily="18" charset="0"/>
                <a:sym typeface="Cabin Semi-Bold"/>
              </a:rPr>
              <a:t>Mục </a:t>
            </a:r>
            <a:r>
              <a:rPr lang="vi-VN" sz="5000" b="1" u="none">
                <a:solidFill>
                  <a:srgbClr val="1836B2"/>
                </a:solidFill>
                <a:latin typeface="+mj-lt"/>
                <a:ea typeface="Cabin Semi-Bold"/>
                <a:cs typeface="Times New Roman" panose="02020603050405020304" pitchFamily="18" charset="0"/>
                <a:sym typeface="Cabin Semi-Bold"/>
              </a:rPr>
              <a:t>đích nghiên cứu</a:t>
            </a:r>
            <a:endParaRPr lang="en-US" sz="5000" b="1" u="none">
              <a:solidFill>
                <a:srgbClr val="1836B2"/>
              </a:solidFill>
              <a:latin typeface="+mj-lt"/>
              <a:ea typeface="Cabin Semi-Bold"/>
              <a:cs typeface="Times New Roman" panose="02020603050405020304" pitchFamily="18" charset="0"/>
              <a:sym typeface="Cabin Semi-Bold"/>
            </a:endParaRPr>
          </a:p>
        </p:txBody>
      </p:sp>
      <p:sp>
        <p:nvSpPr>
          <p:cNvPr id="14" name="Rectangle 1">
            <a:extLst>
              <a:ext uri="{FF2B5EF4-FFF2-40B4-BE49-F238E27FC236}">
                <a16:creationId xmlns="" xmlns:a16="http://schemas.microsoft.com/office/drawing/2014/main" id="{3CAB68A5-B173-4804-934E-20EA7C3BCE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15" name="Picture 14" descr="A dart hitting the center of a target&#10;&#10;Description automatically generated">
            <a:extLst>
              <a:ext uri="{FF2B5EF4-FFF2-40B4-BE49-F238E27FC236}">
                <a16:creationId xmlns="" xmlns:a16="http://schemas.microsoft.com/office/drawing/2014/main" id="{AB6F806E-9FBE-19D0-1D26-6CEA36DD2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0260" y="5576888"/>
            <a:ext cx="4762500" cy="4762500"/>
          </a:xfrm>
          <a:prstGeom prst="rect">
            <a:avLst/>
          </a:prstGeom>
        </p:spPr>
      </p:pic>
      <p:sp>
        <p:nvSpPr>
          <p:cNvPr id="18" name="TextBox 17">
            <a:extLst>
              <a:ext uri="{FF2B5EF4-FFF2-40B4-BE49-F238E27FC236}">
                <a16:creationId xmlns="" xmlns:a16="http://schemas.microsoft.com/office/drawing/2014/main" id="{9980BEC8-CAD6-7BB7-33AF-F934FEC16EB8}"/>
              </a:ext>
            </a:extLst>
          </p:cNvPr>
          <p:cNvSpPr txBox="1"/>
          <p:nvPr/>
        </p:nvSpPr>
        <p:spPr>
          <a:xfrm>
            <a:off x="1143000" y="4305299"/>
            <a:ext cx="12268200" cy="3970318"/>
          </a:xfrm>
          <a:prstGeom prst="rect">
            <a:avLst/>
          </a:prstGeom>
          <a:noFill/>
        </p:spPr>
        <p:txBody>
          <a:bodyPr wrap="square" rtlCol="0">
            <a:spAutoFit/>
          </a:bodyPr>
          <a:lstStyle/>
          <a:p>
            <a:r>
              <a:rPr lang="vi-VN" sz="2800" b="1"/>
              <a:t>1. Xây dựng trò chơi sinh tồn 2D</a:t>
            </a:r>
            <a:r>
              <a:rPr lang="vi-VN" sz="2800"/>
              <a:t/>
            </a:r>
            <a:br>
              <a:rPr lang="vi-VN" sz="2800"/>
            </a:br>
            <a:r>
              <a:rPr lang="vi-VN" sz="2800"/>
              <a:t>Phát triển trò chơi góc nhìn từ trên xuống với cơ chế thu thập tài nguyên và chiến đấu.</a:t>
            </a:r>
            <a:br>
              <a:rPr lang="vi-VN" sz="2800"/>
            </a:br>
            <a:r>
              <a:rPr lang="vi-VN" sz="2800"/>
              <a:t/>
            </a:r>
            <a:br>
              <a:rPr lang="vi-VN" sz="2800"/>
            </a:br>
            <a:r>
              <a:rPr lang="vi-VN" sz="2800" b="1"/>
              <a:t>2. Ứng dụng công nghệ phát triển game</a:t>
            </a:r>
            <a:r>
              <a:rPr lang="vi-VN" sz="2800"/>
              <a:t/>
            </a:r>
            <a:br>
              <a:rPr lang="vi-VN" sz="2800"/>
            </a:br>
            <a:r>
              <a:rPr lang="vi-VN" sz="2800"/>
              <a:t>Sử dụng Godot Engine, GDScript, Krita và Audacity để xây dựng sản phẩm.</a:t>
            </a:r>
            <a:br>
              <a:rPr lang="vi-VN" sz="2800"/>
            </a:br>
            <a:r>
              <a:rPr lang="vi-VN" sz="2800"/>
              <a:t/>
            </a:r>
            <a:br>
              <a:rPr lang="vi-VN" sz="2800"/>
            </a:br>
            <a:r>
              <a:rPr lang="vi-VN" sz="2800" b="1"/>
              <a:t>3. Rèn luyện kỹ năng chuyên môn</a:t>
            </a:r>
            <a:r>
              <a:rPr lang="vi-VN" sz="2800"/>
              <a:t/>
            </a:r>
            <a:br>
              <a:rPr lang="vi-VN" sz="2800"/>
            </a:br>
            <a:r>
              <a:rPr lang="vi-VN" sz="2800"/>
              <a:t>Nâng cao kỹ năng phân tích, thiết kế, lập trình và kiểm thử phần mềm.</a:t>
            </a:r>
          </a:p>
        </p:txBody>
      </p:sp>
    </p:spTree>
    <p:extLst>
      <p:ext uri="{BB962C8B-B14F-4D97-AF65-F5344CB8AC3E}">
        <p14:creationId xmlns:p14="http://schemas.microsoft.com/office/powerpoint/2010/main" val="14844626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ACF5569-8787-0062-F375-50063FE23D12}"/>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D262D63C-B488-BE8F-C638-5411651FA7C7}"/>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447F5CB9-EEEE-A003-FD07-4A3605270386}"/>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B11A3129-E3A3-B22B-AE4B-9D0FA520B72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4CD4F022-1E5A-B5DB-4C6B-6714ADAFFCE2}"/>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9B6B59E-ED31-2260-EC82-6518739409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4C17CFB-C9FC-3A0E-9F79-4E4FF14A6573}"/>
              </a:ext>
            </a:extLst>
          </p:cNvPr>
          <p:cNvSpPr txBox="1"/>
          <p:nvPr/>
        </p:nvSpPr>
        <p:spPr>
          <a:xfrm>
            <a:off x="1059218" y="991667"/>
            <a:ext cx="8378511" cy="982705"/>
          </a:xfrm>
          <a:prstGeom prst="rect">
            <a:avLst/>
          </a:prstGeom>
        </p:spPr>
        <p:txBody>
          <a:bodyPr lIns="0" tIns="0" rIns="0" bIns="0" rtlCol="0" anchor="t">
            <a:spAutoFit/>
          </a:bodyPr>
          <a:lstStyle/>
          <a:p>
            <a:pPr marL="0" lvl="0" indent="0" algn="l">
              <a:lnSpc>
                <a:spcPts val="8717"/>
              </a:lnSpc>
              <a:spcBef>
                <a:spcPct val="0"/>
              </a:spcBef>
            </a:pPr>
            <a:r>
              <a:rPr lang="en-US" sz="5000" b="1" u="none">
                <a:solidFill>
                  <a:srgbClr val="1836B2"/>
                </a:solidFill>
                <a:latin typeface="+mj-lt"/>
                <a:ea typeface="Cabin Semi-Bold"/>
                <a:cs typeface="Times New Roman" panose="02020603050405020304" pitchFamily="18" charset="0"/>
                <a:sym typeface="Cabin Semi-Bold"/>
              </a:rPr>
              <a:t>3.</a:t>
            </a:r>
            <a:r>
              <a:rPr lang="vi-VN" sz="5000" b="1" u="none">
                <a:solidFill>
                  <a:srgbClr val="1836B2"/>
                </a:solidFill>
                <a:latin typeface="+mj-lt"/>
                <a:ea typeface="Cabin Semi-Bold"/>
                <a:cs typeface="Times New Roman" panose="02020603050405020304" pitchFamily="18" charset="0"/>
                <a:sym typeface="Cabin Semi-Bold"/>
              </a:rPr>
              <a:t>Cơ sở lý thuyết</a:t>
            </a:r>
            <a:endParaRPr lang="en-US" sz="5000" b="1" u="none">
              <a:solidFill>
                <a:srgbClr val="1836B2"/>
              </a:solidFill>
              <a:latin typeface="+mj-lt"/>
              <a:ea typeface="Cabin Semi-Bold"/>
              <a:cs typeface="Times New Roman" panose="02020603050405020304" pitchFamily="18" charset="0"/>
              <a:sym typeface="Cabin Semi-Bold"/>
            </a:endParaRPr>
          </a:p>
        </p:txBody>
      </p:sp>
      <p:sp>
        <p:nvSpPr>
          <p:cNvPr id="40" name="TextBox 39">
            <a:extLst>
              <a:ext uri="{FF2B5EF4-FFF2-40B4-BE49-F238E27FC236}">
                <a16:creationId xmlns="" xmlns:a16="http://schemas.microsoft.com/office/drawing/2014/main" id="{8AC8433D-F9F0-949A-802A-213B5893CD86}"/>
              </a:ext>
            </a:extLst>
          </p:cNvPr>
          <p:cNvSpPr txBox="1"/>
          <p:nvPr/>
        </p:nvSpPr>
        <p:spPr>
          <a:xfrm>
            <a:off x="667200" y="6591300"/>
            <a:ext cx="3600000" cy="1569660"/>
          </a:xfrm>
          <a:prstGeom prst="rect">
            <a:avLst/>
          </a:prstGeom>
          <a:noFill/>
        </p:spPr>
        <p:txBody>
          <a:bodyPr wrap="square" rtlCol="0">
            <a:spAutoFit/>
          </a:bodyPr>
          <a:lstStyle/>
          <a:p>
            <a:pPr algn="just"/>
            <a:r>
              <a:rPr lang="vi-VN" sz="2400"/>
              <a:t>Công cụ phát triển game 2D, hỗ trợ quản lý scene, vật lý và xây dựng gameplay.</a:t>
            </a:r>
          </a:p>
        </p:txBody>
      </p:sp>
      <p:sp>
        <p:nvSpPr>
          <p:cNvPr id="42" name="TextBox 41">
            <a:extLst>
              <a:ext uri="{FF2B5EF4-FFF2-40B4-BE49-F238E27FC236}">
                <a16:creationId xmlns="" xmlns:a16="http://schemas.microsoft.com/office/drawing/2014/main" id="{BD68D535-6787-D116-201E-E9E1BAD12D5B}"/>
              </a:ext>
            </a:extLst>
          </p:cNvPr>
          <p:cNvSpPr txBox="1"/>
          <p:nvPr/>
        </p:nvSpPr>
        <p:spPr>
          <a:xfrm>
            <a:off x="13938155" y="6591300"/>
            <a:ext cx="3600000" cy="1200329"/>
          </a:xfrm>
          <a:prstGeom prst="rect">
            <a:avLst/>
          </a:prstGeom>
          <a:noFill/>
        </p:spPr>
        <p:txBody>
          <a:bodyPr wrap="square" rtlCol="0">
            <a:spAutoFit/>
          </a:bodyPr>
          <a:lstStyle/>
          <a:p>
            <a:pPr algn="just"/>
            <a:r>
              <a:rPr lang="vi-VN" sz="2400"/>
              <a:t>Công cụ chỉnh sửa và xử lý các hiệu ứng âm thanh trong trò chơi.</a:t>
            </a:r>
          </a:p>
        </p:txBody>
      </p:sp>
      <p:sp>
        <p:nvSpPr>
          <p:cNvPr id="6" name="Rectangle 5"/>
          <p:cNvSpPr/>
          <p:nvPr/>
        </p:nvSpPr>
        <p:spPr>
          <a:xfrm>
            <a:off x="9656400" y="6591298"/>
            <a:ext cx="3600000" cy="1569660"/>
          </a:xfrm>
          <a:prstGeom prst="rect">
            <a:avLst/>
          </a:prstGeom>
        </p:spPr>
        <p:txBody>
          <a:bodyPr wrap="square">
            <a:spAutoFit/>
          </a:bodyPr>
          <a:lstStyle/>
          <a:p>
            <a:pPr algn="just"/>
            <a:r>
              <a:rPr lang="vi-VN" sz="2400"/>
              <a:t>Công cụ thiết kế đồ họa 2D cho nhân vật, vật phẩm và môi trường game.</a:t>
            </a:r>
          </a:p>
        </p:txBody>
      </p:sp>
      <p:sp>
        <p:nvSpPr>
          <p:cNvPr id="16" name="TextBox 15">
            <a:extLst>
              <a:ext uri="{FF2B5EF4-FFF2-40B4-BE49-F238E27FC236}">
                <a16:creationId xmlns="" xmlns:a16="http://schemas.microsoft.com/office/drawing/2014/main" id="{8AC8433D-F9F0-949A-802A-213B5893CD86}"/>
              </a:ext>
            </a:extLst>
          </p:cNvPr>
          <p:cNvSpPr txBox="1">
            <a:spLocks noChangeAspect="1"/>
          </p:cNvSpPr>
          <p:nvPr/>
        </p:nvSpPr>
        <p:spPr>
          <a:xfrm>
            <a:off x="5010600" y="6591299"/>
            <a:ext cx="3600000" cy="1569660"/>
          </a:xfrm>
          <a:prstGeom prst="rect">
            <a:avLst/>
          </a:prstGeom>
          <a:noFill/>
        </p:spPr>
        <p:txBody>
          <a:bodyPr wrap="square" rtlCol="0">
            <a:spAutoFit/>
          </a:bodyPr>
          <a:lstStyle/>
          <a:p>
            <a:pPr algn="just"/>
            <a:r>
              <a:rPr lang="vi-VN" sz="2400"/>
              <a:t>Ngôn ngữ lập trình chính, dùng để xây dựng các cơ chế và logic của trò chơi.</a:t>
            </a:r>
          </a:p>
        </p:txBody>
      </p:sp>
      <p:sp>
        <p:nvSpPr>
          <p:cNvPr id="2" name="AutoShape 4" descr="The Best Programming Languages for Gam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1600" y="3943500"/>
            <a:ext cx="4320000" cy="24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AutoShape 7" descr="Tập tin:Godot logo.svg – Wikipedia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AutoShape 11" descr="File:Audacity Logo 2-2-0.png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AutoShape 14" descr="File:Audacity Logo.svg - Wikimedia Common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63"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155"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4"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6400"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AutoShape 18" descr="File:Godot icon.svg - Wikimedia Commons"/>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67"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4800"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8"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30"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3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849559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75E803A-EB2D-0CB4-B30F-4307E0952C32}"/>
            </a:ext>
          </a:extLst>
        </p:cNvPr>
        <p:cNvGrpSpPr/>
        <p:nvPr/>
      </p:nvGrpSpPr>
      <p:grpSpPr>
        <a:xfrm>
          <a:off x="0" y="0"/>
          <a:ext cx="0" cy="0"/>
          <a:chOff x="0" y="0"/>
          <a:chExt cx="0" cy="0"/>
        </a:xfrm>
      </p:grpSpPr>
      <p:grpSp>
        <p:nvGrpSpPr>
          <p:cNvPr id="3" name="Group 3">
            <a:extLst>
              <a:ext uri="{FF2B5EF4-FFF2-40B4-BE49-F238E27FC236}">
                <a16:creationId xmlns="" xmlns:a16="http://schemas.microsoft.com/office/drawing/2014/main"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 xmlns:a16="http://schemas.microsoft.com/office/drawing/2014/main"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 xmlns:a16="http://schemas.microsoft.com/office/drawing/2014/main"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lvl="0">
              <a:lnSpc>
                <a:spcPts val="8717"/>
              </a:lnSpc>
              <a:spcBef>
                <a:spcPct val="0"/>
              </a:spcBef>
            </a:pPr>
            <a:r>
              <a:rPr lang="vi-VN" sz="5000" b="1">
                <a:solidFill>
                  <a:srgbClr val="1836B2"/>
                </a:solidFill>
                <a:ea typeface="Cabin Semi-Bold"/>
                <a:cs typeface="Cabin Semi-Bold"/>
                <a:sym typeface="Cabin Semi-Bold"/>
              </a:rPr>
              <a:t>4</a:t>
            </a:r>
            <a:r>
              <a:rPr lang="vi-VN" sz="5000" b="1" smtClean="0">
                <a:solidFill>
                  <a:srgbClr val="1836B2"/>
                </a:solidFill>
                <a:ea typeface="Cabin Semi-Bold"/>
                <a:cs typeface="Cabin Semi-Bold"/>
                <a:sym typeface="Cabin Semi-Bold"/>
              </a:rPr>
              <a:t>.</a:t>
            </a:r>
            <a:r>
              <a:rPr lang="en-US" sz="5000" b="1" smtClean="0">
                <a:solidFill>
                  <a:srgbClr val="1836B2"/>
                </a:solidFill>
                <a:ea typeface="Cabin Semi-Bold"/>
                <a:cs typeface="Cabin Semi-Bold"/>
                <a:sym typeface="Cabin Semi-Bold"/>
              </a:rPr>
              <a:t> </a:t>
            </a:r>
            <a:r>
              <a:rPr lang="vi-VN" sz="5000" b="1" smtClean="0">
                <a:solidFill>
                  <a:srgbClr val="1836B2"/>
                </a:solidFill>
                <a:ea typeface="Cabin Semi-Bold"/>
                <a:cs typeface="Cabin Semi-Bold"/>
                <a:sym typeface="Cabin Semi-Bold"/>
              </a:rPr>
              <a:t>Mô </a:t>
            </a:r>
            <a:r>
              <a:rPr lang="vi-VN" sz="5000" b="1">
                <a:solidFill>
                  <a:srgbClr val="1836B2"/>
                </a:solidFill>
                <a:ea typeface="Cabin Semi-Bold"/>
                <a:cs typeface="Cabin Semi-Bold"/>
                <a:sym typeface="Cabin Semi-Bold"/>
              </a:rPr>
              <a:t>tả bài toán</a:t>
            </a:r>
            <a:endParaRPr lang="en-US" sz="5000" b="1">
              <a:solidFill>
                <a:srgbClr val="1836B2"/>
              </a:solidFill>
              <a:ea typeface="Cabin Semi-Bold"/>
              <a:cs typeface="Cabin Semi-Bold"/>
              <a:sym typeface="Cabin Semi-Bold"/>
            </a:endParaRPr>
          </a:p>
        </p:txBody>
      </p:sp>
      <p:graphicFrame>
        <p:nvGraphicFramePr>
          <p:cNvPr id="8" name="Table 8">
            <a:extLst>
              <a:ext uri="{FF2B5EF4-FFF2-40B4-BE49-F238E27FC236}">
                <a16:creationId xmlns="" xmlns:a16="http://schemas.microsoft.com/office/drawing/2014/main" id="{DD08C178-38B6-594D-1656-0A7BA1A63A61}"/>
              </a:ext>
            </a:extLst>
          </p:cNvPr>
          <p:cNvGraphicFramePr>
            <a:graphicFrameLocks noGrp="1"/>
          </p:cNvGraphicFramePr>
          <p:nvPr>
            <p:extLst>
              <p:ext uri="{D42A27DB-BD31-4B8C-83A1-F6EECF244321}">
                <p14:modId xmlns:p14="http://schemas.microsoft.com/office/powerpoint/2010/main" val="2920299674"/>
              </p:ext>
            </p:extLst>
          </p:nvPr>
        </p:nvGraphicFramePr>
        <p:xfrm>
          <a:off x="304800" y="3695700"/>
          <a:ext cx="5580000" cy="3569523"/>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14400">
                <a:tc>
                  <a:txBody>
                    <a:bodyPr/>
                    <a:lstStyle/>
                    <a:p>
                      <a:pPr algn="ctr">
                        <a:lnSpc>
                          <a:spcPts val="3640"/>
                        </a:lnSpc>
                        <a:defRPr/>
                      </a:pPr>
                      <a:r>
                        <a:rPr lang="vi-VN" sz="2800" b="1" smtClean="0"/>
                        <a:t>Bối cảnh</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55123">
                <a:tc>
                  <a:txBody>
                    <a:bodyPr/>
                    <a:lstStyle/>
                    <a:p>
                      <a:pPr marL="388620" lvl="1" indent="-194310" algn="just">
                        <a:lnSpc>
                          <a:spcPct val="100000"/>
                        </a:lnSpc>
                        <a:buFont typeface="Arial"/>
                        <a:buChar char="•"/>
                        <a:defRPr/>
                      </a:pPr>
                      <a:r>
                        <a:rPr lang="vi-VN" sz="2400" smtClean="0"/>
                        <a:t>Thể loại game sinh tồn 2D ngày càng được yêu thích nhờ lối chơi khám phá và quản lý tài nguyên. </a:t>
                      </a:r>
                      <a:endParaRPr lang="en-US" sz="2400" smtClean="0"/>
                    </a:p>
                    <a:p>
                      <a:pPr marL="388620" lvl="1" indent="-194310" algn="just">
                        <a:lnSpc>
                          <a:spcPct val="100000"/>
                        </a:lnSpc>
                        <a:buFont typeface="Arial"/>
                        <a:buChar char="•"/>
                        <a:defRPr/>
                      </a:pPr>
                      <a:r>
                        <a:rPr lang="vi-VN" sz="2400" smtClean="0"/>
                        <a:t>Người chơi cần đưa ra các quyết định chiến thuật để tồn tại trong môi trường khắc nghiệt.</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1" name="Table 8">
            <a:extLst>
              <a:ext uri="{FF2B5EF4-FFF2-40B4-BE49-F238E27FC236}">
                <a16:creationId xmlns="" xmlns:a16="http://schemas.microsoft.com/office/drawing/2014/main" id="{ED345EB2-77E0-CF45-94B9-D87B68E950EC}"/>
              </a:ext>
            </a:extLst>
          </p:cNvPr>
          <p:cNvGraphicFramePr>
            <a:graphicFrameLocks noGrp="1"/>
          </p:cNvGraphicFramePr>
          <p:nvPr>
            <p:extLst>
              <p:ext uri="{D42A27DB-BD31-4B8C-83A1-F6EECF244321}">
                <p14:modId xmlns:p14="http://schemas.microsoft.com/office/powerpoint/2010/main" val="1908321649"/>
              </p:ext>
            </p:extLst>
          </p:nvPr>
        </p:nvGraphicFramePr>
        <p:xfrm>
          <a:off x="6248400" y="3695700"/>
          <a:ext cx="5761800" cy="4266517"/>
        </p:xfrm>
        <a:graphic>
          <a:graphicData uri="http://schemas.openxmlformats.org/drawingml/2006/table">
            <a:tbl>
              <a:tblPr/>
              <a:tblGrid>
                <a:gridCol w="57618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800" b="1" smtClean="0"/>
                        <a:t>Bài toán đặt ra</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634803">
                <a:tc>
                  <a:txBody>
                    <a:bodyPr/>
                    <a:lstStyle/>
                    <a:p>
                      <a:pPr marL="388620" lvl="1" indent="-194310" algn="just">
                        <a:lnSpc>
                          <a:spcPct val="100000"/>
                        </a:lnSpc>
                        <a:buFont typeface="Arial"/>
                        <a:buChar char="•"/>
                        <a:defRPr/>
                      </a:pPr>
                      <a:r>
                        <a:rPr lang="vi-VN" sz="2400" smtClean="0"/>
                        <a:t>Xây dựng một trò chơi sinh tồn 2D góc nhìn từ trên xuống. </a:t>
                      </a:r>
                      <a:endParaRPr lang="en-US" sz="2400" smtClean="0"/>
                    </a:p>
                    <a:p>
                      <a:pPr marL="388620" lvl="1" indent="-194310" algn="just">
                        <a:lnSpc>
                          <a:spcPct val="100000"/>
                        </a:lnSpc>
                        <a:buFont typeface="Arial"/>
                        <a:buChar char="•"/>
                        <a:defRPr/>
                      </a:pPr>
                      <a:r>
                        <a:rPr lang="vi-VN" sz="2400" smtClean="0"/>
                        <a:t>Người chơi phải thu thập tài nguyên, chế tạo vật phẩm và chiến đấu với kẻ địch để sinh tồn. </a:t>
                      </a:r>
                      <a:endParaRPr lang="en-US" sz="2400" smtClean="0"/>
                    </a:p>
                    <a:p>
                      <a:pPr marL="388620" lvl="1" indent="-194310" algn="just">
                        <a:lnSpc>
                          <a:spcPct val="100000"/>
                        </a:lnSpc>
                        <a:buFont typeface="Arial"/>
                        <a:buChar char="•"/>
                        <a:defRPr/>
                      </a:pPr>
                      <a:r>
                        <a:rPr lang="vi-VN" sz="2400" smtClean="0"/>
                        <a:t>Hệ thống cần đảm bảo gameplay mạch lạc, dễ mở rộng và mang lại trải nghiệm trực quan.</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graphicFrame>
        <p:nvGraphicFramePr>
          <p:cNvPr id="12" name="Table 8">
            <a:extLst>
              <a:ext uri="{FF2B5EF4-FFF2-40B4-BE49-F238E27FC236}">
                <a16:creationId xmlns="" xmlns:a16="http://schemas.microsoft.com/office/drawing/2014/main" id="{553FA38D-800A-AC96-B2F1-9521AE92B0AB}"/>
              </a:ext>
            </a:extLst>
          </p:cNvPr>
          <p:cNvGraphicFramePr>
            <a:graphicFrameLocks noGrp="1"/>
          </p:cNvGraphicFramePr>
          <p:nvPr>
            <p:extLst>
              <p:ext uri="{D42A27DB-BD31-4B8C-83A1-F6EECF244321}">
                <p14:modId xmlns:p14="http://schemas.microsoft.com/office/powerpoint/2010/main" val="273466714"/>
              </p:ext>
            </p:extLst>
          </p:nvPr>
        </p:nvGraphicFramePr>
        <p:xfrm>
          <a:off x="12479401" y="3695700"/>
          <a:ext cx="5580000" cy="3506401"/>
        </p:xfrm>
        <a:graphic>
          <a:graphicData uri="http://schemas.openxmlformats.org/drawingml/2006/table">
            <a:tbl>
              <a:tblPr/>
              <a:tblGrid>
                <a:gridCol w="5580000">
                  <a:extLst>
                    <a:ext uri="{9D8B030D-6E8A-4147-A177-3AD203B41FA5}">
                      <a16:colId xmlns="" xmlns:a16="http://schemas.microsoft.com/office/drawing/2014/main" val="20000"/>
                    </a:ext>
                  </a:extLst>
                </a:gridCol>
              </a:tblGrid>
              <a:tr h="959437">
                <a:tc>
                  <a:txBody>
                    <a:bodyPr/>
                    <a:lstStyle/>
                    <a:p>
                      <a:pPr algn="ctr">
                        <a:lnSpc>
                          <a:spcPts val="3640"/>
                        </a:lnSpc>
                        <a:defRPr/>
                      </a:pPr>
                      <a:r>
                        <a:rPr lang="vi-VN" sz="2800" b="1" smtClean="0"/>
                        <a:t>Mục tiêu giải quyết</a:t>
                      </a:r>
                      <a:endParaRPr lang="en-US" sz="26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546964">
                <a:tc>
                  <a:txBody>
                    <a:bodyPr/>
                    <a:lstStyle/>
                    <a:p>
                      <a:pPr marL="388620" lvl="1" indent="-194310" algn="just">
                        <a:lnSpc>
                          <a:spcPts val="2520"/>
                        </a:lnSpc>
                        <a:buFont typeface="Arial"/>
                        <a:buChar char="•"/>
                        <a:defRPr/>
                      </a:pPr>
                      <a:r>
                        <a:rPr lang="vi-VN" sz="2400" smtClean="0"/>
                        <a:t>Xây dựng đầy đủ các cơ chế cốt lõi:</a:t>
                      </a:r>
                      <a:endParaRPr lang="en-US" sz="2400" smtClean="0"/>
                    </a:p>
                    <a:p>
                      <a:pPr marL="706438" lvl="1" indent="-193675" algn="just">
                        <a:lnSpc>
                          <a:spcPts val="2520"/>
                        </a:lnSpc>
                        <a:buFont typeface="Arial"/>
                        <a:buChar char="•"/>
                        <a:defRPr/>
                      </a:pPr>
                      <a:r>
                        <a:rPr lang="vi-VN" sz="2400" smtClean="0"/>
                        <a:t>Di chuyển và tương tác.</a:t>
                      </a:r>
                      <a:endParaRPr lang="en-US" sz="2400" smtClean="0"/>
                    </a:p>
                    <a:p>
                      <a:pPr marL="706438" lvl="1" indent="-193675" algn="just">
                        <a:lnSpc>
                          <a:spcPts val="2520"/>
                        </a:lnSpc>
                        <a:buFont typeface="Arial"/>
                        <a:buChar char="•"/>
                        <a:defRPr/>
                      </a:pPr>
                      <a:r>
                        <a:rPr lang="vi-VN" sz="2400" smtClean="0"/>
                        <a:t>Thu thập tài nguyên.</a:t>
                      </a:r>
                      <a:endParaRPr lang="en-US" sz="2400" smtClean="0"/>
                    </a:p>
                    <a:p>
                      <a:pPr marL="706438" lvl="1" indent="-193675" algn="just">
                        <a:lnSpc>
                          <a:spcPts val="2520"/>
                        </a:lnSpc>
                        <a:buFont typeface="Arial"/>
                        <a:buChar char="•"/>
                        <a:defRPr/>
                      </a:pPr>
                      <a:r>
                        <a:rPr lang="vi-VN" sz="2400" smtClean="0"/>
                        <a:t>Chế tạo và xây dựng.</a:t>
                      </a:r>
                      <a:endParaRPr lang="en-US" sz="2400" smtClean="0"/>
                    </a:p>
                    <a:p>
                      <a:pPr marL="706438" lvl="1" indent="-193675" algn="just">
                        <a:lnSpc>
                          <a:spcPts val="2520"/>
                        </a:lnSpc>
                        <a:buFont typeface="Arial"/>
                        <a:buChar char="•"/>
                        <a:defRPr/>
                      </a:pPr>
                      <a:r>
                        <a:rPr lang="vi-VN" sz="2400" smtClean="0"/>
                        <a:t>Chiến đấu và AI kẻ địch.</a:t>
                      </a:r>
                      <a:endParaRPr lang="en-US" sz="24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14" name="Rectangle 1">
            <a:extLst>
              <a:ext uri="{FF2B5EF4-FFF2-40B4-BE49-F238E27FC236}">
                <a16:creationId xmlns="" xmlns:a16="http://schemas.microsoft.com/office/drawing/2014/main"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61317" y="8116500"/>
            <a:ext cx="230909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29" t="5540" r="20429" b="35316"/>
          <a:stretch/>
        </p:blipFill>
        <p:spPr bwMode="auto">
          <a:xfrm>
            <a:off x="2133600" y="8026500"/>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5547" t="15547" r="15547" b="15547"/>
          <a:stretch/>
        </p:blipFill>
        <p:spPr bwMode="auto">
          <a:xfrm>
            <a:off x="8154000" y="8026500"/>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2373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656002" y="5251113"/>
            <a:ext cx="14756260" cy="0"/>
          </a:xfrm>
          <a:prstGeom prst="line">
            <a:avLst/>
          </a:prstGeom>
          <a:ln w="47625" cap="rnd">
            <a:solidFill>
              <a:srgbClr val="86C7ED"/>
            </a:solidFill>
            <a:prstDash val="sysDot"/>
            <a:headEnd type="none" w="sm" len="sm"/>
            <a:tailEnd type="none" w="sm" len="sm"/>
          </a:ln>
        </p:spPr>
        <p:txBody>
          <a:bodyPr/>
          <a:lstStyle/>
          <a:p>
            <a:endParaRPr lang="vi-VN"/>
          </a:p>
        </p:txBody>
      </p:sp>
      <p:sp>
        <p:nvSpPr>
          <p:cNvPr id="3" name="TextBox 3"/>
          <p:cNvSpPr txBox="1"/>
          <p:nvPr/>
        </p:nvSpPr>
        <p:spPr>
          <a:xfrm>
            <a:off x="983384" y="973382"/>
            <a:ext cx="10370415" cy="973087"/>
          </a:xfrm>
          <a:prstGeom prst="rect">
            <a:avLst/>
          </a:prstGeom>
        </p:spPr>
        <p:txBody>
          <a:bodyPr wrap="square" lIns="0" tIns="0" rIns="0" bIns="0" rtlCol="0" anchor="t">
            <a:spAutoFit/>
          </a:bodyPr>
          <a:lstStyle/>
          <a:p>
            <a:pPr lvl="0">
              <a:lnSpc>
                <a:spcPts val="8635"/>
              </a:lnSpc>
              <a:spcBef>
                <a:spcPct val="0"/>
              </a:spcBef>
            </a:pPr>
            <a:r>
              <a:rPr lang="vi-VN" sz="5000" b="1">
                <a:solidFill>
                  <a:srgbClr val="1836B2"/>
                </a:solidFill>
                <a:latin typeface="+mj-lt"/>
                <a:ea typeface="Cabin Semi-Bold"/>
                <a:cs typeface="Cabin Semi-Bold"/>
                <a:sym typeface="Cabin Semi-Bold"/>
              </a:rPr>
              <a:t>5. Yêu cầu hệ thống</a:t>
            </a:r>
            <a:endParaRPr lang="en-US" sz="5000" b="1" u="none">
              <a:solidFill>
                <a:srgbClr val="1836B2"/>
              </a:solidFill>
              <a:latin typeface="+mj-lt"/>
              <a:ea typeface="Cabin Semi-Bold"/>
              <a:cs typeface="Cabin Semi-Bold"/>
              <a:sym typeface="Cabin Semi-Bold"/>
            </a:endParaRPr>
          </a:p>
        </p:txBody>
      </p:sp>
      <p:sp>
        <p:nvSpPr>
          <p:cNvPr id="6" name="TextBox 6"/>
          <p:cNvSpPr txBox="1"/>
          <p:nvPr/>
        </p:nvSpPr>
        <p:spPr>
          <a:xfrm>
            <a:off x="35404" y="5450533"/>
            <a:ext cx="3241196" cy="445058"/>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Di chuyển và tương tác</a:t>
            </a:r>
            <a:endParaRPr lang="vi-VN" sz="2200" b="1">
              <a:effectLst/>
              <a:ea typeface="SimSun" panose="02010600030101010101" pitchFamily="2" charset="-122"/>
              <a:cs typeface="Times New Roman" panose="02020603050405020304" pitchFamily="18" charset="0"/>
            </a:endParaRPr>
          </a:p>
        </p:txBody>
      </p:sp>
      <p:sp>
        <p:nvSpPr>
          <p:cNvPr id="20" name="AutoShape 20"/>
          <p:cNvSpPr/>
          <p:nvPr/>
        </p:nvSpPr>
        <p:spPr>
          <a:xfrm>
            <a:off x="0" y="-446411"/>
            <a:ext cx="13497585" cy="791631"/>
          </a:xfrm>
          <a:prstGeom prst="rect">
            <a:avLst/>
          </a:prstGeom>
          <a:solidFill>
            <a:srgbClr val="1836B2"/>
          </a:solidFill>
        </p:spPr>
        <p:txBody>
          <a:bodyPr/>
          <a:lstStyle/>
          <a:p>
            <a:endParaRPr lang="vi-VN"/>
          </a:p>
        </p:txBody>
      </p:sp>
      <p:sp>
        <p:nvSpPr>
          <p:cNvPr id="21" name="Freeform 21"/>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grpSp>
        <p:nvGrpSpPr>
          <p:cNvPr id="4" name="Group 3"/>
          <p:cNvGrpSpPr/>
          <p:nvPr/>
        </p:nvGrpSpPr>
        <p:grpSpPr>
          <a:xfrm>
            <a:off x="1259756" y="5083965"/>
            <a:ext cx="431397" cy="385689"/>
            <a:chOff x="864828" y="5051692"/>
            <a:chExt cx="431397" cy="385689"/>
          </a:xfrm>
        </p:grpSpPr>
        <p:sp>
          <p:nvSpPr>
            <p:cNvPr id="16" name="AutoShape 16"/>
            <p:cNvSpPr/>
            <p:nvPr/>
          </p:nvSpPr>
          <p:spPr>
            <a:xfrm>
              <a:off x="864828" y="5064844"/>
              <a:ext cx="419100" cy="372537"/>
            </a:xfrm>
            <a:prstGeom prst="rect">
              <a:avLst/>
            </a:prstGeom>
            <a:solidFill>
              <a:srgbClr val="A066CB"/>
            </a:solidFill>
          </p:spPr>
          <p:txBody>
            <a:bodyPr/>
            <a:lstStyle/>
            <a:p>
              <a:endParaRPr lang="vi-VN"/>
            </a:p>
          </p:txBody>
        </p:sp>
        <p:sp>
          <p:nvSpPr>
            <p:cNvPr id="30" name="TextBox 29">
              <a:extLst>
                <a:ext uri="{FF2B5EF4-FFF2-40B4-BE49-F238E27FC236}">
                  <a16:creationId xmlns="" xmlns:a16="http://schemas.microsoft.com/office/drawing/2014/main" id="{B73E373A-83B6-426D-3A11-7E3143039773}"/>
                </a:ext>
              </a:extLst>
            </p:cNvPr>
            <p:cNvSpPr txBox="1"/>
            <p:nvPr/>
          </p:nvSpPr>
          <p:spPr>
            <a:xfrm>
              <a:off x="915225" y="5051692"/>
              <a:ext cx="381000" cy="369332"/>
            </a:xfrm>
            <a:prstGeom prst="rect">
              <a:avLst/>
            </a:prstGeom>
            <a:noFill/>
          </p:spPr>
          <p:txBody>
            <a:bodyPr wrap="square" rtlCol="0">
              <a:spAutoFit/>
            </a:bodyPr>
            <a:lstStyle/>
            <a:p>
              <a:r>
                <a:rPr lang="en-US">
                  <a:solidFill>
                    <a:schemeClr val="bg1"/>
                  </a:solidFill>
                </a:rPr>
                <a:t>1</a:t>
              </a:r>
              <a:endParaRPr lang="vi-VN">
                <a:solidFill>
                  <a:schemeClr val="bg1"/>
                </a:solidFill>
              </a:endParaRPr>
            </a:p>
          </p:txBody>
        </p:sp>
      </p:grpSp>
      <p:grpSp>
        <p:nvGrpSpPr>
          <p:cNvPr id="10" name="Group 9"/>
          <p:cNvGrpSpPr/>
          <p:nvPr/>
        </p:nvGrpSpPr>
        <p:grpSpPr>
          <a:xfrm>
            <a:off x="4169239" y="5037019"/>
            <a:ext cx="434340" cy="400362"/>
            <a:chOff x="4169239" y="5037019"/>
            <a:chExt cx="434340" cy="400362"/>
          </a:xfrm>
        </p:grpSpPr>
        <p:sp>
          <p:nvSpPr>
            <p:cNvPr id="25" name="AutoShape 16">
              <a:extLst>
                <a:ext uri="{FF2B5EF4-FFF2-40B4-BE49-F238E27FC236}">
                  <a16:creationId xmlns="" xmlns:a16="http://schemas.microsoft.com/office/drawing/2014/main" id="{5F656632-971E-4446-686A-3BDCFFA6AAAA}"/>
                </a:ext>
              </a:extLst>
            </p:cNvPr>
            <p:cNvSpPr/>
            <p:nvPr/>
          </p:nvSpPr>
          <p:spPr>
            <a:xfrm>
              <a:off x="4169239" y="5064844"/>
              <a:ext cx="419100" cy="372537"/>
            </a:xfrm>
            <a:prstGeom prst="rect">
              <a:avLst/>
            </a:prstGeom>
            <a:solidFill>
              <a:srgbClr val="A066CB"/>
            </a:solidFill>
          </p:spPr>
          <p:txBody>
            <a:bodyPr/>
            <a:lstStyle/>
            <a:p>
              <a:endParaRPr lang="vi-VN"/>
            </a:p>
          </p:txBody>
        </p:sp>
        <p:sp>
          <p:nvSpPr>
            <p:cNvPr id="31" name="TextBox 30">
              <a:extLst>
                <a:ext uri="{FF2B5EF4-FFF2-40B4-BE49-F238E27FC236}">
                  <a16:creationId xmlns="" xmlns:a16="http://schemas.microsoft.com/office/drawing/2014/main" id="{154064ED-EAF8-8CCB-8458-9700014A7BA8}"/>
                </a:ext>
              </a:extLst>
            </p:cNvPr>
            <p:cNvSpPr txBox="1"/>
            <p:nvPr/>
          </p:nvSpPr>
          <p:spPr>
            <a:xfrm>
              <a:off x="4222579" y="5037019"/>
              <a:ext cx="381000" cy="369332"/>
            </a:xfrm>
            <a:prstGeom prst="rect">
              <a:avLst/>
            </a:prstGeom>
            <a:noFill/>
          </p:spPr>
          <p:txBody>
            <a:bodyPr wrap="square" rtlCol="0">
              <a:spAutoFit/>
            </a:bodyPr>
            <a:lstStyle/>
            <a:p>
              <a:r>
                <a:rPr lang="en-US">
                  <a:solidFill>
                    <a:schemeClr val="bg1"/>
                  </a:solidFill>
                </a:rPr>
                <a:t>2</a:t>
              </a:r>
              <a:endParaRPr lang="vi-VN">
                <a:solidFill>
                  <a:schemeClr val="bg1"/>
                </a:solidFill>
              </a:endParaRPr>
            </a:p>
          </p:txBody>
        </p:sp>
      </p:grpSp>
      <p:grpSp>
        <p:nvGrpSpPr>
          <p:cNvPr id="9" name="Group 8"/>
          <p:cNvGrpSpPr/>
          <p:nvPr/>
        </p:nvGrpSpPr>
        <p:grpSpPr>
          <a:xfrm>
            <a:off x="7020779" y="5037019"/>
            <a:ext cx="420658" cy="413589"/>
            <a:chOff x="7441437" y="5037019"/>
            <a:chExt cx="420658" cy="413589"/>
          </a:xfrm>
        </p:grpSpPr>
        <p:sp>
          <p:nvSpPr>
            <p:cNvPr id="18" name="AutoShape 18"/>
            <p:cNvSpPr/>
            <p:nvPr/>
          </p:nvSpPr>
          <p:spPr>
            <a:xfrm>
              <a:off x="7488890" y="5145385"/>
              <a:ext cx="239988" cy="262851"/>
            </a:xfrm>
            <a:prstGeom prst="rect">
              <a:avLst/>
            </a:prstGeom>
            <a:solidFill>
              <a:srgbClr val="A066CB"/>
            </a:solidFill>
          </p:spPr>
          <p:txBody>
            <a:bodyPr/>
            <a:lstStyle/>
            <a:p>
              <a:endParaRPr lang="vi-VN"/>
            </a:p>
          </p:txBody>
        </p:sp>
        <p:sp>
          <p:nvSpPr>
            <p:cNvPr id="26" name="AutoShape 16">
              <a:extLst>
                <a:ext uri="{FF2B5EF4-FFF2-40B4-BE49-F238E27FC236}">
                  <a16:creationId xmlns="" xmlns:a16="http://schemas.microsoft.com/office/drawing/2014/main" id="{F8BD53E8-13F5-F565-1DD0-F37458460363}"/>
                </a:ext>
              </a:extLst>
            </p:cNvPr>
            <p:cNvSpPr/>
            <p:nvPr/>
          </p:nvSpPr>
          <p:spPr>
            <a:xfrm>
              <a:off x="7441437" y="5078071"/>
              <a:ext cx="419100" cy="372537"/>
            </a:xfrm>
            <a:prstGeom prst="rect">
              <a:avLst/>
            </a:prstGeom>
            <a:solidFill>
              <a:srgbClr val="A066CB"/>
            </a:solidFill>
          </p:spPr>
          <p:txBody>
            <a:bodyPr/>
            <a:lstStyle/>
            <a:p>
              <a:endParaRPr lang="vi-VN"/>
            </a:p>
          </p:txBody>
        </p:sp>
        <p:sp>
          <p:nvSpPr>
            <p:cNvPr id="32" name="TextBox 31">
              <a:extLst>
                <a:ext uri="{FF2B5EF4-FFF2-40B4-BE49-F238E27FC236}">
                  <a16:creationId xmlns="" xmlns:a16="http://schemas.microsoft.com/office/drawing/2014/main" id="{CC77D843-2B2B-AB99-EBCD-CDC0D9000A43}"/>
                </a:ext>
              </a:extLst>
            </p:cNvPr>
            <p:cNvSpPr txBox="1"/>
            <p:nvPr/>
          </p:nvSpPr>
          <p:spPr>
            <a:xfrm>
              <a:off x="7481095" y="5037019"/>
              <a:ext cx="381000" cy="369332"/>
            </a:xfrm>
            <a:prstGeom prst="rect">
              <a:avLst/>
            </a:prstGeom>
            <a:noFill/>
          </p:spPr>
          <p:txBody>
            <a:bodyPr wrap="square" rtlCol="0">
              <a:spAutoFit/>
            </a:bodyPr>
            <a:lstStyle/>
            <a:p>
              <a:r>
                <a:rPr lang="en-US">
                  <a:solidFill>
                    <a:schemeClr val="bg1"/>
                  </a:solidFill>
                </a:rPr>
                <a:t>3</a:t>
              </a:r>
              <a:endParaRPr lang="vi-VN">
                <a:solidFill>
                  <a:schemeClr val="bg1"/>
                </a:solidFill>
              </a:endParaRPr>
            </a:p>
          </p:txBody>
        </p:sp>
      </p:grpSp>
      <p:grpSp>
        <p:nvGrpSpPr>
          <p:cNvPr id="8" name="Group 7"/>
          <p:cNvGrpSpPr/>
          <p:nvPr/>
        </p:nvGrpSpPr>
        <p:grpSpPr>
          <a:xfrm>
            <a:off x="10180646" y="5020766"/>
            <a:ext cx="447364" cy="385585"/>
            <a:chOff x="10628010" y="5020766"/>
            <a:chExt cx="447364" cy="385585"/>
          </a:xfrm>
        </p:grpSpPr>
        <p:sp>
          <p:nvSpPr>
            <p:cNvPr id="19" name="AutoShape 19"/>
            <p:cNvSpPr/>
            <p:nvPr/>
          </p:nvSpPr>
          <p:spPr>
            <a:xfrm>
              <a:off x="10718985" y="5121572"/>
              <a:ext cx="239988" cy="262851"/>
            </a:xfrm>
            <a:prstGeom prst="rect">
              <a:avLst/>
            </a:prstGeom>
            <a:solidFill>
              <a:srgbClr val="A066CB"/>
            </a:solidFill>
          </p:spPr>
          <p:txBody>
            <a:bodyPr/>
            <a:lstStyle/>
            <a:p>
              <a:endParaRPr lang="vi-VN"/>
            </a:p>
          </p:txBody>
        </p:sp>
        <p:sp>
          <p:nvSpPr>
            <p:cNvPr id="27" name="AutoShape 16">
              <a:extLst>
                <a:ext uri="{FF2B5EF4-FFF2-40B4-BE49-F238E27FC236}">
                  <a16:creationId xmlns="" xmlns:a16="http://schemas.microsoft.com/office/drawing/2014/main" id="{621B0141-F123-02A0-86F4-1A559F9021C7}"/>
                </a:ext>
              </a:extLst>
            </p:cNvPr>
            <p:cNvSpPr/>
            <p:nvPr/>
          </p:nvSpPr>
          <p:spPr>
            <a:xfrm>
              <a:off x="10628010" y="5033814"/>
              <a:ext cx="419100" cy="372537"/>
            </a:xfrm>
            <a:prstGeom prst="rect">
              <a:avLst/>
            </a:prstGeom>
            <a:solidFill>
              <a:srgbClr val="A066CB"/>
            </a:solidFill>
          </p:spPr>
          <p:txBody>
            <a:bodyPr/>
            <a:lstStyle/>
            <a:p>
              <a:endParaRPr lang="vi-VN"/>
            </a:p>
          </p:txBody>
        </p:sp>
        <p:sp>
          <p:nvSpPr>
            <p:cNvPr id="33" name="TextBox 32">
              <a:extLst>
                <a:ext uri="{FF2B5EF4-FFF2-40B4-BE49-F238E27FC236}">
                  <a16:creationId xmlns="" xmlns:a16="http://schemas.microsoft.com/office/drawing/2014/main" id="{DF476A3A-B5EE-C228-0562-7D6F97058D22}"/>
                </a:ext>
              </a:extLst>
            </p:cNvPr>
            <p:cNvSpPr txBox="1"/>
            <p:nvPr/>
          </p:nvSpPr>
          <p:spPr>
            <a:xfrm>
              <a:off x="10694374" y="5020766"/>
              <a:ext cx="381000" cy="369332"/>
            </a:xfrm>
            <a:prstGeom prst="rect">
              <a:avLst/>
            </a:prstGeom>
            <a:noFill/>
          </p:spPr>
          <p:txBody>
            <a:bodyPr wrap="square" rtlCol="0">
              <a:spAutoFit/>
            </a:bodyPr>
            <a:lstStyle/>
            <a:p>
              <a:r>
                <a:rPr lang="en-US">
                  <a:solidFill>
                    <a:schemeClr val="bg1"/>
                  </a:solidFill>
                </a:rPr>
                <a:t>4</a:t>
              </a:r>
              <a:endParaRPr lang="vi-VN">
                <a:solidFill>
                  <a:schemeClr val="bg1"/>
                </a:solidFill>
              </a:endParaRPr>
            </a:p>
          </p:txBody>
        </p:sp>
      </p:grpSp>
      <p:grpSp>
        <p:nvGrpSpPr>
          <p:cNvPr id="7" name="Group 6"/>
          <p:cNvGrpSpPr/>
          <p:nvPr/>
        </p:nvGrpSpPr>
        <p:grpSpPr>
          <a:xfrm>
            <a:off x="13423381" y="5066446"/>
            <a:ext cx="433844" cy="384162"/>
            <a:chOff x="13909211" y="5066446"/>
            <a:chExt cx="433844" cy="384162"/>
          </a:xfrm>
        </p:grpSpPr>
        <p:sp>
          <p:nvSpPr>
            <p:cNvPr id="23" name="AutoShape 19">
              <a:extLst>
                <a:ext uri="{FF2B5EF4-FFF2-40B4-BE49-F238E27FC236}">
                  <a16:creationId xmlns="" xmlns:a16="http://schemas.microsoft.com/office/drawing/2014/main" id="{134B4763-3B66-CA8B-382A-7E3B0068562A}"/>
                </a:ext>
              </a:extLst>
            </p:cNvPr>
            <p:cNvSpPr/>
            <p:nvPr/>
          </p:nvSpPr>
          <p:spPr>
            <a:xfrm>
              <a:off x="13989142" y="5121572"/>
              <a:ext cx="239988" cy="262851"/>
            </a:xfrm>
            <a:prstGeom prst="rect">
              <a:avLst/>
            </a:prstGeom>
            <a:solidFill>
              <a:srgbClr val="A066CB"/>
            </a:solidFill>
          </p:spPr>
          <p:txBody>
            <a:bodyPr/>
            <a:lstStyle/>
            <a:p>
              <a:endParaRPr lang="vi-VN"/>
            </a:p>
          </p:txBody>
        </p:sp>
        <p:sp>
          <p:nvSpPr>
            <p:cNvPr id="28" name="AutoShape 16">
              <a:extLst>
                <a:ext uri="{FF2B5EF4-FFF2-40B4-BE49-F238E27FC236}">
                  <a16:creationId xmlns="" xmlns:a16="http://schemas.microsoft.com/office/drawing/2014/main" id="{FFDB0F60-1F3C-6145-1F0D-7845AEC23C5E}"/>
                </a:ext>
              </a:extLst>
            </p:cNvPr>
            <p:cNvSpPr/>
            <p:nvPr/>
          </p:nvSpPr>
          <p:spPr>
            <a:xfrm>
              <a:off x="13909211" y="5078071"/>
              <a:ext cx="419100" cy="372537"/>
            </a:xfrm>
            <a:prstGeom prst="rect">
              <a:avLst/>
            </a:prstGeom>
            <a:solidFill>
              <a:srgbClr val="A066CB"/>
            </a:solidFill>
          </p:spPr>
          <p:txBody>
            <a:bodyPr/>
            <a:lstStyle/>
            <a:p>
              <a:endParaRPr lang="vi-VN"/>
            </a:p>
          </p:txBody>
        </p:sp>
        <p:sp>
          <p:nvSpPr>
            <p:cNvPr id="34" name="TextBox 33">
              <a:extLst>
                <a:ext uri="{FF2B5EF4-FFF2-40B4-BE49-F238E27FC236}">
                  <a16:creationId xmlns="" xmlns:a16="http://schemas.microsoft.com/office/drawing/2014/main" id="{94B32FD7-737E-174A-2DA3-A1A451EB4A2B}"/>
                </a:ext>
              </a:extLst>
            </p:cNvPr>
            <p:cNvSpPr txBox="1"/>
            <p:nvPr/>
          </p:nvSpPr>
          <p:spPr>
            <a:xfrm>
              <a:off x="13962055" y="5066446"/>
              <a:ext cx="381000" cy="369332"/>
            </a:xfrm>
            <a:prstGeom prst="rect">
              <a:avLst/>
            </a:prstGeom>
            <a:noFill/>
          </p:spPr>
          <p:txBody>
            <a:bodyPr wrap="square" rtlCol="0">
              <a:spAutoFit/>
            </a:bodyPr>
            <a:lstStyle/>
            <a:p>
              <a:r>
                <a:rPr lang="en-US" smtClean="0">
                  <a:solidFill>
                    <a:schemeClr val="bg1"/>
                  </a:solidFill>
                </a:rPr>
                <a:t>5</a:t>
              </a:r>
              <a:endParaRPr lang="vi-VN">
                <a:solidFill>
                  <a:schemeClr val="bg1"/>
                </a:solidFill>
              </a:endParaRPr>
            </a:p>
          </p:txBody>
        </p:sp>
      </p:grpSp>
      <p:grpSp>
        <p:nvGrpSpPr>
          <p:cNvPr id="5" name="Group 4"/>
          <p:cNvGrpSpPr/>
          <p:nvPr/>
        </p:nvGrpSpPr>
        <p:grpSpPr>
          <a:xfrm>
            <a:off x="16366585" y="5078256"/>
            <a:ext cx="434473" cy="384162"/>
            <a:chOff x="17213622" y="5066446"/>
            <a:chExt cx="434473" cy="384162"/>
          </a:xfrm>
        </p:grpSpPr>
        <p:sp>
          <p:nvSpPr>
            <p:cNvPr id="24" name="AutoShape 19">
              <a:extLst>
                <a:ext uri="{FF2B5EF4-FFF2-40B4-BE49-F238E27FC236}">
                  <a16:creationId xmlns="" xmlns:a16="http://schemas.microsoft.com/office/drawing/2014/main" id="{1E78EB48-2102-75E2-6E3B-837CA59D753F}"/>
                </a:ext>
              </a:extLst>
            </p:cNvPr>
            <p:cNvSpPr/>
            <p:nvPr/>
          </p:nvSpPr>
          <p:spPr>
            <a:xfrm>
              <a:off x="17259299" y="5143500"/>
              <a:ext cx="239988" cy="262851"/>
            </a:xfrm>
            <a:prstGeom prst="rect">
              <a:avLst/>
            </a:prstGeom>
            <a:solidFill>
              <a:srgbClr val="A066CB"/>
            </a:solidFill>
          </p:spPr>
          <p:txBody>
            <a:bodyPr/>
            <a:lstStyle/>
            <a:p>
              <a:endParaRPr lang="vi-VN"/>
            </a:p>
          </p:txBody>
        </p:sp>
        <p:sp>
          <p:nvSpPr>
            <p:cNvPr id="29" name="AutoShape 16">
              <a:extLst>
                <a:ext uri="{FF2B5EF4-FFF2-40B4-BE49-F238E27FC236}">
                  <a16:creationId xmlns="" xmlns:a16="http://schemas.microsoft.com/office/drawing/2014/main" id="{80AB478A-ED9B-13B3-8674-167019475EB3}"/>
                </a:ext>
              </a:extLst>
            </p:cNvPr>
            <p:cNvSpPr/>
            <p:nvPr/>
          </p:nvSpPr>
          <p:spPr>
            <a:xfrm>
              <a:off x="17213622" y="5078071"/>
              <a:ext cx="419100" cy="372537"/>
            </a:xfrm>
            <a:prstGeom prst="rect">
              <a:avLst/>
            </a:prstGeom>
            <a:solidFill>
              <a:srgbClr val="A066CB"/>
            </a:solidFill>
          </p:spPr>
          <p:txBody>
            <a:bodyPr/>
            <a:lstStyle/>
            <a:p>
              <a:endParaRPr lang="vi-VN"/>
            </a:p>
          </p:txBody>
        </p:sp>
        <p:sp>
          <p:nvSpPr>
            <p:cNvPr id="38" name="TextBox 37">
              <a:extLst>
                <a:ext uri="{FF2B5EF4-FFF2-40B4-BE49-F238E27FC236}">
                  <a16:creationId xmlns="" xmlns:a16="http://schemas.microsoft.com/office/drawing/2014/main" id="{813792C6-9058-2BDF-557F-DF108DCB25C0}"/>
                </a:ext>
              </a:extLst>
            </p:cNvPr>
            <p:cNvSpPr txBox="1"/>
            <p:nvPr/>
          </p:nvSpPr>
          <p:spPr>
            <a:xfrm>
              <a:off x="17267095" y="5066446"/>
              <a:ext cx="381000" cy="369332"/>
            </a:xfrm>
            <a:prstGeom prst="rect">
              <a:avLst/>
            </a:prstGeom>
            <a:noFill/>
          </p:spPr>
          <p:txBody>
            <a:bodyPr wrap="square" rtlCol="0">
              <a:spAutoFit/>
            </a:bodyPr>
            <a:lstStyle/>
            <a:p>
              <a:r>
                <a:rPr lang="en-US">
                  <a:solidFill>
                    <a:schemeClr val="bg1"/>
                  </a:solidFill>
                </a:rPr>
                <a:t>6</a:t>
              </a:r>
              <a:endParaRPr lang="vi-VN">
                <a:solidFill>
                  <a:schemeClr val="bg1"/>
                </a:solidFill>
              </a:endParaRPr>
            </a:p>
          </p:txBody>
        </p:sp>
      </p:grpSp>
      <p:sp>
        <p:nvSpPr>
          <p:cNvPr id="39" name="TextBox 6">
            <a:extLst>
              <a:ext uri="{FF2B5EF4-FFF2-40B4-BE49-F238E27FC236}">
                <a16:creationId xmlns="" xmlns:a16="http://schemas.microsoft.com/office/drawing/2014/main" id="{7B0E9FD0-2986-8C0D-4C27-8870582FE96E}"/>
              </a:ext>
            </a:extLst>
          </p:cNvPr>
          <p:cNvSpPr txBox="1"/>
          <p:nvPr/>
        </p:nvSpPr>
        <p:spPr>
          <a:xfrm>
            <a:off x="3048000" y="4385972"/>
            <a:ext cx="2730524"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en-US" sz="2200" b="1">
                <a:latin typeface="Arial (Body)"/>
                <a:ea typeface="SimSun" panose="02010600030101010101" pitchFamily="2" charset="-122"/>
                <a:cs typeface="Times New Roman" panose="02020603050405020304" pitchFamily="18" charset="0"/>
              </a:rPr>
              <a:t>Thu thập tài nguyên</a:t>
            </a:r>
            <a:endParaRPr lang="vi-VN" sz="2200">
              <a:effectLst/>
              <a:ea typeface="SimSun" panose="02010600030101010101" pitchFamily="2" charset="-122"/>
              <a:cs typeface="Times New Roman" panose="02020603050405020304" pitchFamily="18" charset="0"/>
            </a:endParaRPr>
          </a:p>
        </p:txBody>
      </p:sp>
      <p:sp>
        <p:nvSpPr>
          <p:cNvPr id="40" name="TextBox 6">
            <a:extLst>
              <a:ext uri="{FF2B5EF4-FFF2-40B4-BE49-F238E27FC236}">
                <a16:creationId xmlns="" xmlns:a16="http://schemas.microsoft.com/office/drawing/2014/main" id="{344C5596-297D-686A-62F5-AFCAA774FBFB}"/>
              </a:ext>
            </a:extLst>
          </p:cNvPr>
          <p:cNvSpPr txBox="1"/>
          <p:nvPr/>
        </p:nvSpPr>
        <p:spPr>
          <a:xfrm>
            <a:off x="5854725" y="5510283"/>
            <a:ext cx="2667001" cy="445058"/>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Hệ thống túi đồ</a:t>
            </a:r>
            <a:endParaRPr lang="vi-VN" sz="2200" b="1">
              <a:effectLst/>
              <a:latin typeface="Arial (Body)"/>
              <a:ea typeface="SimSun" panose="02010600030101010101" pitchFamily="2" charset="-122"/>
              <a:cs typeface="Times New Roman" panose="02020603050405020304" pitchFamily="18" charset="0"/>
            </a:endParaRPr>
          </a:p>
        </p:txBody>
      </p:sp>
      <p:sp>
        <p:nvSpPr>
          <p:cNvPr id="41" name="TextBox 6">
            <a:extLst>
              <a:ext uri="{FF2B5EF4-FFF2-40B4-BE49-F238E27FC236}">
                <a16:creationId xmlns="" xmlns:a16="http://schemas.microsoft.com/office/drawing/2014/main" id="{87E7C51A-9266-48C4-D612-13B833D9D822}"/>
              </a:ext>
            </a:extLst>
          </p:cNvPr>
          <p:cNvSpPr txBox="1"/>
          <p:nvPr/>
        </p:nvSpPr>
        <p:spPr>
          <a:xfrm>
            <a:off x="8915400" y="4385973"/>
            <a:ext cx="3009047" cy="50783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Chế tạo và xây dựng</a:t>
            </a:r>
            <a:endParaRPr lang="vi-VN" sz="2200" b="1">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44" name="Freeform 2">
            <a:extLst>
              <a:ext uri="{FF2B5EF4-FFF2-40B4-BE49-F238E27FC236}">
                <a16:creationId xmlns="" xmlns:a16="http://schemas.microsoft.com/office/drawing/2014/main" id="{7F1F07F3-3940-AD3F-FF01-8C88BDB162FB}"/>
              </a:ext>
            </a:extLst>
          </p:cNvPr>
          <p:cNvSpPr/>
          <p:nvPr/>
        </p:nvSpPr>
        <p:spPr>
          <a:xfrm>
            <a:off x="14935200" y="68961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txBody>
          <a:bodyPr/>
          <a:lstStyle/>
          <a:p>
            <a:endParaRPr lang="vi-VN"/>
          </a:p>
        </p:txBody>
      </p:sp>
      <p:grpSp>
        <p:nvGrpSpPr>
          <p:cNvPr id="45" name="Group 2">
            <a:extLst>
              <a:ext uri="{FF2B5EF4-FFF2-40B4-BE49-F238E27FC236}">
                <a16:creationId xmlns="" xmlns:a16="http://schemas.microsoft.com/office/drawing/2014/main" id="{7E4DE8B1-8D48-63AC-FFE9-CB696AD7D2A2}"/>
              </a:ext>
            </a:extLst>
          </p:cNvPr>
          <p:cNvGrpSpPr/>
          <p:nvPr/>
        </p:nvGrpSpPr>
        <p:grpSpPr>
          <a:xfrm>
            <a:off x="-1992840" y="7429500"/>
            <a:ext cx="4742962" cy="4392438"/>
            <a:chOff x="0" y="0"/>
            <a:chExt cx="5800804" cy="5372100"/>
          </a:xfrm>
        </p:grpSpPr>
        <p:sp>
          <p:nvSpPr>
            <p:cNvPr id="46" name="Freeform 3">
              <a:extLst>
                <a:ext uri="{FF2B5EF4-FFF2-40B4-BE49-F238E27FC236}">
                  <a16:creationId xmlns="" xmlns:a16="http://schemas.microsoft.com/office/drawing/2014/main" id="{AA8ED684-77D3-F7D3-BEAB-C3C88DC1A5A7}"/>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35" name="TextBox 6">
            <a:extLst>
              <a:ext uri="{FF2B5EF4-FFF2-40B4-BE49-F238E27FC236}">
                <a16:creationId xmlns="" xmlns:a16="http://schemas.microsoft.com/office/drawing/2014/main" id="{87E7C51A-9266-48C4-D612-13B833D9D822}"/>
              </a:ext>
            </a:extLst>
          </p:cNvPr>
          <p:cNvSpPr txBox="1"/>
          <p:nvPr/>
        </p:nvSpPr>
        <p:spPr>
          <a:xfrm>
            <a:off x="11848247" y="5510105"/>
            <a:ext cx="3636955" cy="44666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Chiến đấu và AI kẻ địch</a:t>
            </a:r>
            <a:endParaRPr lang="vi-VN" sz="2200" b="1">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36" name="TextBox 6">
            <a:extLst>
              <a:ext uri="{FF2B5EF4-FFF2-40B4-BE49-F238E27FC236}">
                <a16:creationId xmlns="" xmlns:a16="http://schemas.microsoft.com/office/drawing/2014/main" id="{87E7C51A-9266-48C4-D612-13B833D9D822}"/>
              </a:ext>
            </a:extLst>
          </p:cNvPr>
          <p:cNvSpPr txBox="1"/>
          <p:nvPr/>
        </p:nvSpPr>
        <p:spPr>
          <a:xfrm>
            <a:off x="14879645" y="4323198"/>
            <a:ext cx="3408355" cy="446661"/>
          </a:xfrm>
          <a:prstGeom prst="rect">
            <a:avLst/>
          </a:prstGeom>
        </p:spPr>
        <p:txBody>
          <a:bodyPr wrap="square" lIns="0" tIns="0" rIns="0" bIns="0" rtlCol="0" anchor="t">
            <a:spAutoFit/>
          </a:bodyPr>
          <a:lstStyle/>
          <a:p>
            <a:pPr lvl="0" algn="ctr">
              <a:lnSpc>
                <a:spcPct val="150000"/>
              </a:lnSpc>
              <a:spcBef>
                <a:spcPts val="600"/>
              </a:spcBef>
              <a:spcAft>
                <a:spcPts val="600"/>
              </a:spcAft>
            </a:pPr>
            <a:r>
              <a:rPr lang="vi-VN" sz="2200" b="1"/>
              <a:t>Lưu và tải trò chơi</a:t>
            </a:r>
            <a:endParaRPr lang="vi-VN" sz="2200" b="1">
              <a:effectLst/>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7560381" cy="7287206"/>
            <a:chOff x="0" y="66675"/>
            <a:chExt cx="9267709" cy="8434484"/>
          </a:xfrm>
        </p:grpSpPr>
        <p:sp>
          <p:nvSpPr>
            <p:cNvPr id="5" name="TextBox 5"/>
            <p:cNvSpPr txBox="1"/>
            <p:nvPr/>
          </p:nvSpPr>
          <p:spPr>
            <a:xfrm>
              <a:off x="0" y="66675"/>
              <a:ext cx="9267709" cy="1273825"/>
            </a:xfrm>
            <a:prstGeom prst="rect">
              <a:avLst/>
            </a:prstGeom>
          </p:spPr>
          <p:txBody>
            <a:bodyPr lIns="0" tIns="0" rIns="0" bIns="0" rtlCol="0" anchor="t">
              <a:spAutoFit/>
            </a:bodyPr>
            <a:lstStyle/>
            <a:p>
              <a:pPr marL="0" lvl="0" indent="0" algn="l">
                <a:lnSpc>
                  <a:spcPts val="8717"/>
                </a:lnSpc>
                <a:spcBef>
                  <a:spcPct val="0"/>
                </a:spcBef>
              </a:pPr>
              <a:r>
                <a:rPr lang="en-US" sz="6000" b="1" smtClean="0">
                  <a:solidFill>
                    <a:srgbClr val="1836B2"/>
                  </a:solidFill>
                  <a:latin typeface="+mj-lt"/>
                  <a:ea typeface="Cabin Semi-Bold"/>
                  <a:cs typeface="Times New Roman" panose="02020603050405020304" pitchFamily="18" charset="0"/>
                  <a:sym typeface="Cabin Semi-Bold"/>
                </a:rPr>
                <a:t>Sơ đồ Use Case</a:t>
              </a:r>
              <a:endParaRPr lang="en-US" sz="60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2"/>
              <a:ext cx="8986798" cy="6857467"/>
            </a:xfrm>
            <a:prstGeom prst="rect">
              <a:avLst/>
            </a:prstGeom>
          </p:spPr>
          <p:txBody>
            <a:bodyPr lIns="0" tIns="0" rIns="0" bIns="0" rtlCol="0" anchor="t">
              <a:spAutoFit/>
            </a:bodyPr>
            <a:lstStyle/>
            <a:p>
              <a:pPr>
                <a:lnSpc>
                  <a:spcPts val="3255"/>
                </a:lnSpc>
                <a:spcBef>
                  <a:spcPct val="0"/>
                </a:spcBef>
              </a:pPr>
              <a:r>
                <a:rPr lang="vi-VN" sz="2800"/>
                <a:t>Sơ đồ Use Case mô tả các tác nhân và chức năng chính của hệ thống trò chơi, bao gồm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(Player</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Di </a:t>
              </a:r>
              <a:r>
                <a:rPr lang="vi-VN" sz="2800"/>
                <a:t>chuyển tự do</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Tấn </a:t>
              </a:r>
              <a:r>
                <a:rPr lang="vi-VN" sz="2800"/>
                <a:t>công thời gian </a:t>
              </a:r>
              <a:r>
                <a:rPr lang="vi-VN" sz="2800" smtClean="0"/>
                <a:t>thực.</a:t>
              </a:r>
              <a:endParaRPr lang="en-US" sz="2800" smtClean="0"/>
            </a:p>
            <a:p>
              <a:pPr marL="355600" indent="-185738">
                <a:lnSpc>
                  <a:spcPts val="3255"/>
                </a:lnSpc>
                <a:spcBef>
                  <a:spcPct val="0"/>
                </a:spcBef>
                <a:buFont typeface="Arial" panose="020B0604020202020204" pitchFamily="34" charset="0"/>
                <a:buChar char="•"/>
              </a:pPr>
              <a:r>
                <a:rPr lang="vi-VN" sz="2800" smtClean="0"/>
                <a:t>Quản </a:t>
              </a:r>
              <a:r>
                <a:rPr lang="vi-VN" sz="2800"/>
                <a:t>lý túi đồ</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Sử </a:t>
              </a:r>
              <a:r>
                <a:rPr lang="vi-VN" sz="2800"/>
                <a:t>dụng vật phẩm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Kẻ </a:t>
              </a:r>
              <a:r>
                <a:rPr lang="vi-VN" sz="2800"/>
                <a:t>địch (Enemy</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Tuần </a:t>
              </a:r>
              <a:r>
                <a:rPr lang="vi-VN" sz="2800"/>
                <a:t>tra trong khu vực</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Truy </a:t>
              </a:r>
              <a:r>
                <a:rPr lang="vi-VN" sz="2800"/>
                <a:t>đuổi mục tiêu</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Tấn </a:t>
              </a:r>
              <a:r>
                <a:rPr lang="vi-VN" sz="2800"/>
                <a:t>công người chơi</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Động </a:t>
              </a:r>
              <a:r>
                <a:rPr lang="vi-VN" sz="2800"/>
                <a:t>vật (Animal</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Phản </a:t>
              </a:r>
              <a:r>
                <a:rPr lang="vi-VN" sz="2800"/>
                <a:t>ứng khi bị tấn công</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Chạy </a:t>
              </a:r>
              <a:r>
                <a:rPr lang="vi-VN" sz="2800"/>
                <a:t>khỏi khu vực nguy hiểm.</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smtClean="0">
                <a:solidFill>
                  <a:srgbClr val="1836B2"/>
                </a:solidFill>
                <a:latin typeface="+mj-lt"/>
                <a:ea typeface="Cabin Semi-Bold"/>
                <a:cs typeface="Cabin Semi-Bold"/>
                <a:sym typeface="Cabin Semi-Bold"/>
              </a:rPr>
              <a:t>6</a:t>
            </a:r>
            <a:r>
              <a:rPr lang="vi-VN" sz="5000" b="1" smtClean="0">
                <a:solidFill>
                  <a:srgbClr val="1836B2"/>
                </a:solidFill>
                <a:latin typeface="+mj-lt"/>
                <a:ea typeface="Cabin Semi-Bold"/>
                <a:cs typeface="Cabin Semi-Bold"/>
                <a:sym typeface="Cabin Semi-Bold"/>
              </a:rPr>
              <a:t>. </a:t>
            </a:r>
            <a:r>
              <a:rPr lang="en-US" sz="5000" b="1" smtClean="0">
                <a:solidFill>
                  <a:srgbClr val="1836B2"/>
                </a:solidFill>
                <a:latin typeface="+mj-lt"/>
                <a:ea typeface="Cabin Semi-Bold"/>
                <a:cs typeface="Cabin Semi-Bold"/>
                <a:sym typeface="Cabin Semi-Bold"/>
              </a:rPr>
              <a:t>Thiết kế </a:t>
            </a:r>
            <a:r>
              <a:rPr lang="vi-VN" sz="5000" b="1" smtClean="0">
                <a:solidFill>
                  <a:srgbClr val="1836B2"/>
                </a:solidFill>
                <a:latin typeface="+mj-lt"/>
                <a:ea typeface="Cabin Semi-Bold"/>
                <a:cs typeface="Cabin Semi-Bold"/>
                <a:sym typeface="Cabin Semi-Bold"/>
              </a:rPr>
              <a:t>hệ </a:t>
            </a:r>
            <a:r>
              <a:rPr lang="vi-VN" sz="5000" b="1">
                <a:solidFill>
                  <a:srgbClr val="1836B2"/>
                </a:solidFill>
                <a:latin typeface="+mj-lt"/>
                <a:ea typeface="Cabin Semi-Bold"/>
                <a:cs typeface="Cabin Semi-Bold"/>
                <a:sym typeface="Cabin Semi-Bold"/>
              </a:rPr>
              <a:t>thống</a:t>
            </a:r>
            <a:endParaRPr lang="en-US" sz="5000" b="1" u="none">
              <a:solidFill>
                <a:srgbClr val="1836B2"/>
              </a:solidFill>
              <a:latin typeface="+mj-lt"/>
              <a:ea typeface="Cabin Semi-Bold"/>
              <a:cs typeface="Cabin Semi-Bold"/>
              <a:sym typeface="Cabin Semi-Bold"/>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8033" y="1714500"/>
            <a:ext cx="9265167" cy="77724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7560381" cy="6864014"/>
            <a:chOff x="0" y="66675"/>
            <a:chExt cx="9267709" cy="7944665"/>
          </a:xfrm>
        </p:grpSpPr>
        <p:sp>
          <p:nvSpPr>
            <p:cNvPr id="5" name="TextBox 5"/>
            <p:cNvSpPr txBox="1"/>
            <p:nvPr/>
          </p:nvSpPr>
          <p:spPr>
            <a:xfrm>
              <a:off x="0" y="66675"/>
              <a:ext cx="9267709" cy="1090145"/>
            </a:xfrm>
            <a:prstGeom prst="rect">
              <a:avLst/>
            </a:prstGeom>
          </p:spPr>
          <p:txBody>
            <a:bodyPr lIns="0" tIns="0" rIns="0" bIns="0" rtlCol="0" anchor="t">
              <a:spAutoFit/>
            </a:bodyPr>
            <a:lstStyle/>
            <a:p>
              <a:pPr marL="0" lvl="0" indent="0" algn="l">
                <a:lnSpc>
                  <a:spcPts val="8717"/>
                </a:lnSpc>
                <a:spcBef>
                  <a:spcPct val="0"/>
                </a:spcBef>
              </a:pPr>
              <a:r>
                <a:rPr lang="en-US" sz="3600" b="1" smtClean="0">
                  <a:solidFill>
                    <a:srgbClr val="1836B2"/>
                  </a:solidFill>
                  <a:latin typeface="+mj-lt"/>
                  <a:ea typeface="Cabin Semi-Bold"/>
                  <a:cs typeface="Times New Roman" panose="02020603050405020304" pitchFamily="18" charset="0"/>
                  <a:sym typeface="Cabin Semi-Bold"/>
                </a:rPr>
                <a:t>Sơ đồ luồng hoạt động tổng quát</a:t>
              </a:r>
              <a:endParaRPr lang="en-US" sz="36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2"/>
              <a:ext cx="8986798" cy="6367648"/>
            </a:xfrm>
            <a:prstGeom prst="rect">
              <a:avLst/>
            </a:prstGeom>
          </p:spPr>
          <p:txBody>
            <a:bodyPr lIns="0" tIns="0" rIns="0" bIns="0" rtlCol="0" anchor="t">
              <a:spAutoFit/>
            </a:bodyPr>
            <a:lstStyle/>
            <a:p>
              <a:pPr>
                <a:lnSpc>
                  <a:spcPts val="3255"/>
                </a:lnSpc>
                <a:spcBef>
                  <a:spcPct val="0"/>
                </a:spcBef>
              </a:pPr>
              <a:r>
                <a:rPr lang="vi-VN" sz="2800"/>
                <a:t>Sơ đồ mô tả trình tự hoạt động chính của trò chơi, bao gồm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Khởi </a:t>
              </a:r>
              <a:r>
                <a:rPr lang="vi-VN" sz="2800"/>
                <a:t>động trò chơi và hiển thị menu chính</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lựa chọn bắt đầu, </a:t>
              </a:r>
              <a:r>
                <a:rPr lang="vi-VN" sz="2800" smtClean="0"/>
                <a:t>t</a:t>
              </a:r>
              <a:r>
                <a:rPr lang="en-US" sz="2800" smtClean="0"/>
                <a:t>iếp tục, mở cài đặt</a:t>
              </a:r>
              <a:r>
                <a:rPr lang="vi-VN" sz="2800" smtClean="0"/>
                <a:t> </a:t>
              </a:r>
              <a:r>
                <a:rPr lang="vi-VN" sz="2800"/>
                <a:t>hoặc thoát trò chơi</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Trong </a:t>
              </a:r>
              <a:r>
                <a:rPr lang="vi-VN" sz="2800"/>
                <a:t>quá trình chơi, người chơi có thể</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Di </a:t>
              </a:r>
              <a:r>
                <a:rPr lang="vi-VN" sz="2800"/>
                <a:t>chuyển và khám phá thế giới</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Thu </a:t>
              </a:r>
              <a:r>
                <a:rPr lang="vi-VN" sz="2800"/>
                <a:t>thập tài nguyên và vật phẩm</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Chế </a:t>
              </a:r>
              <a:r>
                <a:rPr lang="vi-VN" sz="2800"/>
                <a:t>tạo, xây dựng và chiến đấu</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có thể tạm dừng, lưu hoặc tải lại dữ liệu bất cứ lúc nào</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Trò </a:t>
              </a:r>
              <a:r>
                <a:rPr lang="vi-VN" sz="2800"/>
                <a:t>chơi kết thúc khi người chơi </a:t>
              </a:r>
              <a:r>
                <a:rPr lang="en-US" sz="2800" smtClean="0"/>
                <a:t>kích hoạt cổng dịch chuyển </a:t>
              </a:r>
              <a:r>
                <a:rPr lang="vi-VN" sz="2800" smtClean="0"/>
                <a:t>hoặc </a:t>
              </a:r>
              <a:r>
                <a:rPr lang="vi-VN" sz="2800"/>
                <a:t>nhân vật bị tiêu diệt.</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smtClean="0">
                <a:solidFill>
                  <a:srgbClr val="1836B2"/>
                </a:solidFill>
                <a:latin typeface="+mj-lt"/>
                <a:ea typeface="Cabin Semi-Bold"/>
                <a:cs typeface="Cabin Semi-Bold"/>
                <a:sym typeface="Cabin Semi-Bold"/>
              </a:rPr>
              <a:t>6</a:t>
            </a:r>
            <a:r>
              <a:rPr lang="vi-VN" sz="5000" b="1" smtClean="0">
                <a:solidFill>
                  <a:srgbClr val="1836B2"/>
                </a:solidFill>
                <a:latin typeface="+mj-lt"/>
                <a:ea typeface="Cabin Semi-Bold"/>
                <a:cs typeface="Cabin Semi-Bold"/>
                <a:sym typeface="Cabin Semi-Bold"/>
              </a:rPr>
              <a:t>. </a:t>
            </a:r>
            <a:r>
              <a:rPr lang="en-US" sz="5000" b="1" smtClean="0">
                <a:solidFill>
                  <a:srgbClr val="1836B2"/>
                </a:solidFill>
                <a:latin typeface="+mj-lt"/>
                <a:ea typeface="Cabin Semi-Bold"/>
                <a:cs typeface="Cabin Semi-Bold"/>
                <a:sym typeface="Cabin Semi-Bold"/>
              </a:rPr>
              <a:t>Thiết kế </a:t>
            </a:r>
            <a:r>
              <a:rPr lang="vi-VN" sz="5000" b="1" smtClean="0">
                <a:solidFill>
                  <a:srgbClr val="1836B2"/>
                </a:solidFill>
                <a:latin typeface="+mj-lt"/>
                <a:ea typeface="Cabin Semi-Bold"/>
                <a:cs typeface="Cabin Semi-Bold"/>
                <a:sym typeface="Cabin Semi-Bold"/>
              </a:rPr>
              <a:t>hệ </a:t>
            </a:r>
            <a:r>
              <a:rPr lang="vi-VN" sz="5000" b="1">
                <a:solidFill>
                  <a:srgbClr val="1836B2"/>
                </a:solidFill>
                <a:latin typeface="+mj-lt"/>
                <a:ea typeface="Cabin Semi-Bold"/>
                <a:cs typeface="Cabin Semi-Bold"/>
                <a:sym typeface="Cabin Semi-Bold"/>
              </a:rPr>
              <a:t>thống</a:t>
            </a:r>
            <a:endParaRPr lang="en-US" sz="5000" b="1" u="none">
              <a:solidFill>
                <a:srgbClr val="1836B2"/>
              </a:solidFill>
              <a:latin typeface="+mj-lt"/>
              <a:ea typeface="Cabin Semi-Bold"/>
              <a:cs typeface="Cabin Semi-Bold"/>
              <a:sym typeface="Cabin Semi-Bold"/>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10800" y="1176993"/>
            <a:ext cx="7772400" cy="8995707"/>
          </a:xfrm>
          <a:prstGeom prst="rect">
            <a:avLst/>
          </a:prstGeom>
        </p:spPr>
      </p:pic>
    </p:spTree>
    <p:extLst>
      <p:ext uri="{BB962C8B-B14F-4D97-AF65-F5344CB8AC3E}">
        <p14:creationId xmlns:p14="http://schemas.microsoft.com/office/powerpoint/2010/main" val="14520720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2580010"/>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4235559"/>
            <a:ext cx="8839200" cy="2092881"/>
          </a:xfrm>
          <a:prstGeom prst="rect">
            <a:avLst/>
          </a:prstGeom>
          <a:noFill/>
        </p:spPr>
        <p:txBody>
          <a:bodyPr wrap="square" rtlCol="0">
            <a:spAutoFit/>
          </a:bodyPr>
          <a:lstStyle/>
          <a:p>
            <a:r>
              <a:rPr lang="vi-VN" sz="2600" b="1"/>
              <a:t>Chức năng giao diện và lưu dữ </a:t>
            </a:r>
            <a:r>
              <a:rPr lang="vi-VN" sz="2600" b="1" smtClean="0"/>
              <a:t>liệu</a:t>
            </a:r>
            <a:endParaRPr lang="en-US" sz="2600" b="1" smtClean="0"/>
          </a:p>
          <a:p>
            <a:endParaRPr lang="en-US" sz="2600" b="1" smtClean="0"/>
          </a:p>
          <a:p>
            <a:pPr marL="185738" indent="-185738">
              <a:buFont typeface="Arial" panose="020B0604020202020204" pitchFamily="34" charset="0"/>
              <a:buChar char="•"/>
            </a:pPr>
            <a:r>
              <a:rPr lang="vi-VN" sz="2600" smtClean="0"/>
              <a:t>Xây </a:t>
            </a:r>
            <a:r>
              <a:rPr lang="vi-VN" sz="2600"/>
              <a:t>dựng menu chính và giao diện trong trò </a:t>
            </a:r>
            <a:r>
              <a:rPr lang="vi-VN" sz="2600" smtClean="0"/>
              <a:t>chơi.</a:t>
            </a:r>
            <a:endParaRPr lang="en-US" sz="2600" smtClean="0"/>
          </a:p>
          <a:p>
            <a:pPr marL="185738" indent="-185738">
              <a:buFont typeface="Arial" panose="020B0604020202020204" pitchFamily="34" charset="0"/>
              <a:buChar char="•"/>
            </a:pPr>
            <a:r>
              <a:rPr lang="vi-VN" sz="2600" smtClean="0"/>
              <a:t>Hỗ </a:t>
            </a:r>
            <a:r>
              <a:rPr lang="vi-VN" sz="2600"/>
              <a:t>trợ tạo mới, lưu và tải dữ liệu trò </a:t>
            </a:r>
            <a:r>
              <a:rPr lang="vi-VN" sz="2600" smtClean="0"/>
              <a:t>chơi.</a:t>
            </a:r>
            <a:endParaRPr lang="en-US" sz="2600" smtClean="0"/>
          </a:p>
          <a:p>
            <a:pPr marL="185738" indent="-185738">
              <a:buFont typeface="Arial" panose="020B0604020202020204" pitchFamily="34" charset="0"/>
              <a:buChar char="•"/>
            </a:pPr>
            <a:r>
              <a:rPr lang="vi-VN" sz="2600" smtClean="0"/>
              <a:t>Cho </a:t>
            </a:r>
            <a:r>
              <a:rPr lang="vi-VN" sz="2600"/>
              <a:t>phép người chơi tiếp tục tiến trình đã lưu.</a:t>
            </a:r>
            <a:endParaRPr lang="vi-VN" sz="260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4818" y="802500"/>
            <a:ext cx="7040356" cy="3960000"/>
          </a:xfrm>
          <a:prstGeom prst="rect">
            <a:avLst/>
          </a:prstGeom>
        </p:spPr>
      </p:pic>
      <p:pic>
        <p:nvPicPr>
          <p:cNvPr id="16" name="Picture 15"/>
          <p:cNvPicPr>
            <a:picLocks noChangeAspect="1"/>
          </p:cNvPicPr>
          <p:nvPr/>
        </p:nvPicPr>
        <p:blipFill>
          <a:blip r:embed="rId4"/>
          <a:stretch>
            <a:fillRect/>
          </a:stretch>
        </p:blipFill>
        <p:spPr>
          <a:xfrm>
            <a:off x="9354818" y="5219700"/>
            <a:ext cx="7040356" cy="3960000"/>
          </a:xfrm>
          <a:prstGeom prst="rect">
            <a:avLst/>
          </a:prstGeom>
        </p:spPr>
      </p:pic>
      <p:sp>
        <p:nvSpPr>
          <p:cNvPr id="17" name="AutoShape 30"/>
          <p:cNvSpPr/>
          <p:nvPr/>
        </p:nvSpPr>
        <p:spPr>
          <a:xfrm>
            <a:off x="4790415" y="-446411"/>
            <a:ext cx="13497585" cy="791631"/>
          </a:xfrm>
          <a:prstGeom prst="rect">
            <a:avLst/>
          </a:prstGeom>
          <a:solidFill>
            <a:srgbClr val="1836B2"/>
          </a:solidFill>
        </p:spPr>
        <p:txBody>
          <a:bodyPr/>
          <a:lstStyle/>
          <a:p>
            <a:endParaRPr lang="vi-VN"/>
          </a:p>
        </p:txBody>
      </p:sp>
      <p:sp>
        <p:nvSpPr>
          <p:cNvPr id="18"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5">
              <a:extLst>
                <a:ext uri="{96DAC541-7B7A-43D3-8B79-37D633B846F1}">
                  <asvg:svgBlip xmlns="" xmlns:asvg="http://schemas.microsoft.com/office/drawing/2016/SVG/main" r:embed="rId6"/>
                </a:ext>
              </a:extLst>
            </a:blip>
            <a:stretch>
              <a:fillRect t="-51576"/>
            </a:stretch>
          </a:blipFill>
        </p:spPr>
        <p:txBody>
          <a:bodyPr/>
          <a:lstStyle/>
          <a:p>
            <a:endParaRPr lang="vi-VN"/>
          </a:p>
        </p:txBody>
      </p:sp>
    </p:spTree>
    <p:extLst>
      <p:ext uri="{BB962C8B-B14F-4D97-AF65-F5344CB8AC3E}">
        <p14:creationId xmlns:p14="http://schemas.microsoft.com/office/powerpoint/2010/main" val="12242964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2324100"/>
            <a:ext cx="8839200" cy="2492990"/>
          </a:xfrm>
          <a:prstGeom prst="rect">
            <a:avLst/>
          </a:prstGeom>
          <a:noFill/>
        </p:spPr>
        <p:txBody>
          <a:bodyPr wrap="square" rtlCol="0">
            <a:spAutoFit/>
          </a:bodyPr>
          <a:lstStyle/>
          <a:p>
            <a:r>
              <a:rPr lang="vi-VN" sz="2600" b="1"/>
              <a:t>Hệ thống sinh tồn và thu thập tài </a:t>
            </a:r>
            <a:r>
              <a:rPr lang="vi-VN" sz="2600" b="1" smtClean="0"/>
              <a:t>nguyên</a:t>
            </a:r>
            <a:endParaRPr lang="en-US" sz="2600" b="1" smtClean="0"/>
          </a:p>
          <a:p>
            <a:endParaRPr lang="en-US" sz="2600" b="1" smtClean="0"/>
          </a:p>
          <a:p>
            <a:pPr marL="185738" indent="-185738">
              <a:buFont typeface="Arial" panose="020B0604020202020204" pitchFamily="34" charset="0"/>
              <a:buChar char="•"/>
            </a:pPr>
            <a:r>
              <a:rPr lang="vi-VN" sz="2600" smtClean="0"/>
              <a:t>Xây </a:t>
            </a:r>
            <a:r>
              <a:rPr lang="vi-VN" sz="2600"/>
              <a:t>dựng cơ chế máu và độ </a:t>
            </a:r>
            <a:r>
              <a:rPr lang="vi-VN" sz="2600" smtClean="0"/>
              <a:t>đói.</a:t>
            </a:r>
            <a:endParaRPr lang="en-US" sz="2600" smtClean="0"/>
          </a:p>
          <a:p>
            <a:pPr marL="185738" indent="-185738">
              <a:buFont typeface="Arial" panose="020B0604020202020204" pitchFamily="34" charset="0"/>
              <a:buChar char="•"/>
            </a:pPr>
            <a:r>
              <a:rPr lang="vi-VN" sz="2600" smtClean="0"/>
              <a:t>Thu </a:t>
            </a:r>
            <a:r>
              <a:rPr lang="vi-VN" sz="2600"/>
              <a:t>thập gỗ, đá, quặng và thực </a:t>
            </a:r>
            <a:r>
              <a:rPr lang="vi-VN" sz="2600" smtClean="0"/>
              <a:t>phẩm.</a:t>
            </a:r>
            <a:endParaRPr lang="en-US" sz="2600" smtClean="0"/>
          </a:p>
          <a:p>
            <a:pPr marL="185738" indent="-185738">
              <a:buFont typeface="Arial" panose="020B0604020202020204" pitchFamily="34" charset="0"/>
              <a:buChar char="•"/>
            </a:pPr>
            <a:r>
              <a:rPr lang="vi-VN" sz="2600" smtClean="0"/>
              <a:t>Chạy </a:t>
            </a:r>
            <a:r>
              <a:rPr lang="vi-VN" sz="2600"/>
              <a:t>tiêu hao đói nhanh hơn di chuyển bình </a:t>
            </a:r>
            <a:r>
              <a:rPr lang="vi-VN" sz="2600" smtClean="0"/>
              <a:t>thường.</a:t>
            </a:r>
            <a:endParaRPr lang="en-US" sz="2600" smtClean="0"/>
          </a:p>
          <a:p>
            <a:pPr marL="185738" indent="-185738">
              <a:buFont typeface="Arial" panose="020B0604020202020204" pitchFamily="34" charset="0"/>
              <a:buChar char="•"/>
            </a:pPr>
            <a:r>
              <a:rPr lang="vi-VN" sz="2600" smtClean="0"/>
              <a:t>Độ </a:t>
            </a:r>
            <a:r>
              <a:rPr lang="vi-VN" sz="2600"/>
              <a:t>đói bằng 0 sẽ làm người chơi mất máu theo thời gian.</a:t>
            </a:r>
            <a:endParaRPr lang="vi-VN" sz="260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5444" y="5143500"/>
            <a:ext cx="7040356" cy="3960000"/>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2600" y="5143500"/>
            <a:ext cx="7040355" cy="396000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10886" y="8763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2"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3"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4"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5"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28585309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2019300"/>
            <a:ext cx="8839200" cy="2893100"/>
          </a:xfrm>
          <a:prstGeom prst="rect">
            <a:avLst/>
          </a:prstGeom>
          <a:noFill/>
        </p:spPr>
        <p:txBody>
          <a:bodyPr wrap="square" rtlCol="0">
            <a:spAutoFit/>
          </a:bodyPr>
          <a:lstStyle/>
          <a:p>
            <a:r>
              <a:rPr lang="vi-VN" sz="2600" b="1"/>
              <a:t>Hệ thống quản lý vật </a:t>
            </a:r>
            <a:r>
              <a:rPr lang="vi-VN" sz="2600" b="1" smtClean="0"/>
              <a:t>phẩm</a:t>
            </a:r>
            <a:endParaRPr lang="en-US" sz="2600" b="1" smtClean="0"/>
          </a:p>
          <a:p>
            <a:endParaRPr lang="en-US" sz="2600" b="1" smtClean="0"/>
          </a:p>
          <a:p>
            <a:pPr marL="185738" indent="-185738">
              <a:buFont typeface="Arial" panose="020B0604020202020204" pitchFamily="34" charset="0"/>
              <a:buChar char="•"/>
            </a:pPr>
            <a:r>
              <a:rPr lang="vi-VN" sz="2600" smtClean="0"/>
              <a:t>Hỗ </a:t>
            </a:r>
            <a:r>
              <a:rPr lang="vi-VN" sz="2600"/>
              <a:t>trợ lưu trữ và quản lý tài </a:t>
            </a:r>
            <a:r>
              <a:rPr lang="vi-VN" sz="2600" smtClean="0"/>
              <a:t>nguyên.</a:t>
            </a:r>
            <a:endParaRPr lang="en-US" sz="2600" smtClean="0"/>
          </a:p>
          <a:p>
            <a:pPr marL="185738" indent="-185738">
              <a:buFont typeface="Arial" panose="020B0604020202020204" pitchFamily="34" charset="0"/>
              <a:buChar char="•"/>
            </a:pPr>
            <a:r>
              <a:rPr lang="vi-VN" sz="2600" smtClean="0"/>
              <a:t>Sử </a:t>
            </a:r>
            <a:r>
              <a:rPr lang="vi-VN" sz="2600"/>
              <a:t>dụng Hotbar để thao tác nhanh</a:t>
            </a:r>
            <a:r>
              <a:rPr lang="vi-VN" sz="2600" smtClean="0"/>
              <a:t>.</a:t>
            </a:r>
            <a:endParaRPr lang="en-US" sz="2600" smtClean="0"/>
          </a:p>
          <a:p>
            <a:pPr marL="185738" indent="-185738">
              <a:buFont typeface="Arial" panose="020B0604020202020204" pitchFamily="34" charset="0"/>
              <a:buChar char="•"/>
            </a:pPr>
            <a:r>
              <a:rPr lang="vi-VN" sz="2600" smtClean="0"/>
              <a:t>Chế </a:t>
            </a:r>
            <a:r>
              <a:rPr lang="vi-VN" sz="2600"/>
              <a:t>tạo công cụ và vật phẩm từ nguyên liệu thu thập </a:t>
            </a:r>
            <a:r>
              <a:rPr lang="vi-VN" sz="2600" smtClean="0"/>
              <a:t>được.</a:t>
            </a:r>
            <a:endParaRPr lang="en-US" sz="2600" smtClean="0"/>
          </a:p>
          <a:p>
            <a:pPr marL="185738" indent="-185738">
              <a:buFont typeface="Arial" panose="020B0604020202020204" pitchFamily="34" charset="0"/>
              <a:buChar char="•"/>
            </a:pPr>
            <a:r>
              <a:rPr lang="vi-VN" sz="2600" smtClean="0"/>
              <a:t>Hệ </a:t>
            </a:r>
            <a:r>
              <a:rPr lang="vi-VN" sz="2600"/>
              <a:t>thống có thể mở rộng thêm nhiều công thức chế tạo.</a:t>
            </a:r>
            <a:endParaRPr lang="vi-VN" sz="260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1086" y="2062739"/>
            <a:ext cx="7038000" cy="152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98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38966650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EE012D-4234-68E4-08CB-935E74B37D2A}"/>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12B12E01-67A9-F158-733B-C925DE199E48}"/>
              </a:ext>
            </a:extLst>
          </p:cNvPr>
          <p:cNvSpPr txBox="1"/>
          <p:nvPr/>
        </p:nvSpPr>
        <p:spPr>
          <a:xfrm>
            <a:off x="304800" y="2019300"/>
            <a:ext cx="9296400" cy="2893100"/>
          </a:xfrm>
          <a:prstGeom prst="rect">
            <a:avLst/>
          </a:prstGeom>
          <a:noFill/>
        </p:spPr>
        <p:txBody>
          <a:bodyPr wrap="square" rtlCol="0">
            <a:spAutoFit/>
          </a:bodyPr>
          <a:lstStyle/>
          <a:p>
            <a:r>
              <a:rPr lang="vi-VN" sz="2600" b="1"/>
              <a:t>Hệ thống chiến </a:t>
            </a:r>
            <a:r>
              <a:rPr lang="vi-VN" sz="2600" b="1" smtClean="0"/>
              <a:t>đấu</a:t>
            </a:r>
            <a:r>
              <a:rPr lang="en-US" sz="2600" b="1" smtClean="0"/>
              <a:t> và hành vi AI</a:t>
            </a:r>
          </a:p>
          <a:p>
            <a:endParaRPr lang="en-US" sz="2600" b="1" smtClean="0"/>
          </a:p>
          <a:p>
            <a:pPr marL="185738" indent="-185738">
              <a:buFont typeface="Arial" panose="020B0604020202020204" pitchFamily="34" charset="0"/>
              <a:buChar char="•"/>
            </a:pPr>
            <a:r>
              <a:rPr lang="vi-VN" sz="2600"/>
              <a:t>Chiến đấu thời gian thực.</a:t>
            </a:r>
            <a:endParaRPr lang="en-US" sz="2600" smtClean="0"/>
          </a:p>
          <a:p>
            <a:pPr marL="185738" indent="-185738">
              <a:buFont typeface="Arial" panose="020B0604020202020204" pitchFamily="34" charset="0"/>
              <a:buChar char="•"/>
            </a:pPr>
            <a:r>
              <a:rPr lang="vi-VN" sz="2600" smtClean="0"/>
              <a:t>Áp </a:t>
            </a:r>
            <a:r>
              <a:rPr lang="vi-VN" sz="2600"/>
              <a:t>dụng Hitbox và Hurtbox để xử lý </a:t>
            </a:r>
            <a:r>
              <a:rPr lang="vi-VN" sz="2600" smtClean="0"/>
              <a:t>va chạm và sát </a:t>
            </a:r>
            <a:r>
              <a:rPr lang="vi-VN" sz="2600"/>
              <a:t>thương.</a:t>
            </a:r>
            <a:endParaRPr lang="en-US" sz="2600" smtClean="0"/>
          </a:p>
          <a:p>
            <a:pPr marL="185738" indent="-185738">
              <a:buFont typeface="Arial" panose="020B0604020202020204" pitchFamily="34" charset="0"/>
              <a:buChar char="•"/>
            </a:pPr>
            <a:r>
              <a:rPr lang="vi-VN" sz="2600" smtClean="0"/>
              <a:t>Kẻ </a:t>
            </a:r>
            <a:r>
              <a:rPr lang="vi-VN" sz="2600"/>
              <a:t>địch có khả năng tuần tra và truy đuổi người </a:t>
            </a:r>
            <a:r>
              <a:rPr lang="vi-VN" sz="2600" smtClean="0"/>
              <a:t>chơi.</a:t>
            </a:r>
            <a:endParaRPr lang="en-US" sz="2600" smtClean="0"/>
          </a:p>
          <a:p>
            <a:pPr marL="185738" indent="-185738">
              <a:buFont typeface="Arial" panose="020B0604020202020204" pitchFamily="34" charset="0"/>
              <a:buChar char="•"/>
            </a:pPr>
            <a:r>
              <a:rPr lang="vi-VN" sz="2600" smtClean="0"/>
              <a:t>Động </a:t>
            </a:r>
            <a:r>
              <a:rPr lang="vi-VN" sz="2600"/>
              <a:t>vật phản ứng bằng cách chạy trốn khi bị tấn </a:t>
            </a:r>
            <a:r>
              <a:rPr lang="vi-VN" sz="2600" smtClean="0"/>
              <a:t>công.</a:t>
            </a:r>
            <a:endParaRPr lang="en-US" sz="2600" smtClean="0"/>
          </a:p>
          <a:p>
            <a:pPr marL="185738" indent="-185738">
              <a:buFont typeface="Arial" panose="020B0604020202020204" pitchFamily="34" charset="0"/>
              <a:buChar char="•"/>
            </a:pPr>
            <a:r>
              <a:rPr lang="vi-VN" sz="2600" smtClean="0"/>
              <a:t>Hệ </a:t>
            </a:r>
            <a:r>
              <a:rPr lang="vi-VN" sz="2600"/>
              <a:t>thống AI được xây dựng theo mô hình FSM đơn giản.</a:t>
            </a:r>
            <a:endParaRPr lang="vi-VN" sz="260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3262"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0" y="802500"/>
            <a:ext cx="7040356" cy="3960000"/>
          </a:xfrm>
          <a:prstGeom prst="rect">
            <a:avLst/>
          </a:prstGeom>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1"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22"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3"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4"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32451450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0673353-AE97-3794-4DF8-A2BCE8BB1A75}"/>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2ABDB4CA-555E-B3C7-AC07-9425A8FA7313}"/>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154F636E-5789-ABEE-40A8-4ECB49ABC8B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 xmlns:a16="http://schemas.microsoft.com/office/drawing/2014/main"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401E4E9A-4C50-F0B3-0CFA-CEDE470F3F5C}"/>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 xmlns:a16="http://schemas.microsoft.com/office/drawing/2014/main"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B51128AE-9AFE-D91A-92DC-FFC724CC4B7F}"/>
              </a:ext>
            </a:extLst>
          </p:cNvPr>
          <p:cNvSpPr txBox="1"/>
          <p:nvPr/>
        </p:nvSpPr>
        <p:spPr>
          <a:xfrm>
            <a:off x="457200" y="1132210"/>
            <a:ext cx="124281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8</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luận và Phương hướng phát triển</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A03D4972-5B6A-CFCB-4E59-9C3672A75E7C}"/>
              </a:ext>
            </a:extLst>
          </p:cNvPr>
          <p:cNvSpPr txBox="1"/>
          <p:nvPr/>
        </p:nvSpPr>
        <p:spPr>
          <a:xfrm>
            <a:off x="457201" y="3708618"/>
            <a:ext cx="10134600" cy="3108543"/>
          </a:xfrm>
          <a:prstGeom prst="rect">
            <a:avLst/>
          </a:prstGeom>
          <a:noFill/>
        </p:spPr>
        <p:txBody>
          <a:bodyPr wrap="square" rtlCol="0">
            <a:spAutoFit/>
          </a:bodyPr>
          <a:lstStyle/>
          <a:p>
            <a:r>
              <a:rPr lang="en-US" sz="2800" smtClean="0"/>
              <a:t>Trò chơi sinh tồn 2D</a:t>
            </a:r>
            <a:r>
              <a:rPr lang="vi-VN" sz="2800" smtClean="0"/>
              <a:t> </a:t>
            </a:r>
            <a:r>
              <a:rPr lang="vi-VN" sz="2800"/>
              <a:t>đã được xây dựng với các chức năng cơ bản</a:t>
            </a:r>
            <a:r>
              <a:rPr lang="en-US" sz="2800"/>
              <a:t>:</a:t>
            </a:r>
          </a:p>
          <a:p>
            <a:pPr marL="185738" indent="-185738">
              <a:buFont typeface="Arial" panose="020B0604020202020204" pitchFamily="34" charset="0"/>
              <a:buChar char="•"/>
            </a:pPr>
            <a:r>
              <a:rPr lang="vi-VN" sz="2800" smtClean="0"/>
              <a:t>Hoàn </a:t>
            </a:r>
            <a:r>
              <a:rPr lang="vi-VN" sz="2800"/>
              <a:t>thành hệ thống sinh </a:t>
            </a:r>
            <a:r>
              <a:rPr lang="vi-VN" sz="2800" smtClean="0"/>
              <a:t>tồn</a:t>
            </a:r>
            <a:r>
              <a:rPr lang="en-US" sz="2800" smtClean="0"/>
              <a:t>.</a:t>
            </a:r>
          </a:p>
          <a:p>
            <a:pPr marL="185738" indent="-185738">
              <a:buFont typeface="Arial" panose="020B0604020202020204" pitchFamily="34" charset="0"/>
              <a:buChar char="•"/>
            </a:pPr>
            <a:r>
              <a:rPr lang="vi-VN" sz="2800" smtClean="0"/>
              <a:t>Hoàn </a:t>
            </a:r>
            <a:r>
              <a:rPr lang="vi-VN" sz="2800"/>
              <a:t>thành cơ chế thu thập tài </a:t>
            </a:r>
            <a:r>
              <a:rPr lang="vi-VN" sz="2800" smtClean="0"/>
              <a:t>nguyên</a:t>
            </a:r>
            <a:r>
              <a:rPr lang="en-US" sz="2800" smtClean="0"/>
              <a:t>.</a:t>
            </a:r>
          </a:p>
          <a:p>
            <a:pPr marL="185738" indent="-185738">
              <a:buFont typeface="Arial" panose="020B0604020202020204" pitchFamily="34" charset="0"/>
              <a:buChar char="•"/>
            </a:pPr>
            <a:r>
              <a:rPr lang="vi-VN" sz="2800" smtClean="0"/>
              <a:t>Xây </a:t>
            </a:r>
            <a:r>
              <a:rPr lang="vi-VN" sz="2800"/>
              <a:t>dựng hệ thống chiến đấu thời gian </a:t>
            </a:r>
            <a:r>
              <a:rPr lang="vi-VN" sz="2800" smtClean="0"/>
              <a:t>thực</a:t>
            </a:r>
            <a:r>
              <a:rPr lang="en-US" sz="2800" smtClean="0"/>
              <a:t>.</a:t>
            </a:r>
          </a:p>
          <a:p>
            <a:pPr marL="185738" indent="-185738">
              <a:buFont typeface="Arial" panose="020B0604020202020204" pitchFamily="34" charset="0"/>
              <a:buChar char="•"/>
            </a:pPr>
            <a:r>
              <a:rPr lang="vi-VN" sz="2800" smtClean="0"/>
              <a:t>Xây </a:t>
            </a:r>
            <a:r>
              <a:rPr lang="vi-VN" sz="2800"/>
              <a:t>dựng AI cơ bản cho </a:t>
            </a:r>
            <a:r>
              <a:rPr lang="en-US" sz="2800" smtClean="0"/>
              <a:t>kẻ địch và động vật.</a:t>
            </a:r>
            <a:endParaRPr lang="en-US" sz="2800" smtClean="0"/>
          </a:p>
          <a:p>
            <a:pPr marL="185738" indent="-185738">
              <a:buFont typeface="Arial" panose="020B0604020202020204" pitchFamily="34" charset="0"/>
              <a:buChar char="•"/>
            </a:pPr>
            <a:r>
              <a:rPr lang="vi-VN" sz="2800" smtClean="0"/>
              <a:t>Hoàn </a:t>
            </a:r>
            <a:r>
              <a:rPr lang="vi-VN" sz="2800"/>
              <a:t>thiện chức năng lưu và tải trò </a:t>
            </a:r>
            <a:r>
              <a:rPr lang="vi-VN" sz="2800" smtClean="0"/>
              <a:t>chơi</a:t>
            </a:r>
            <a:r>
              <a:rPr lang="en-US" sz="2800" smtClean="0"/>
              <a:t>.</a:t>
            </a:r>
            <a:endParaRPr lang="vi-VN" sz="2800"/>
          </a:p>
        </p:txBody>
      </p:sp>
      <p:sp>
        <p:nvSpPr>
          <p:cNvPr id="5" name="TextBox 4">
            <a:extLst>
              <a:ext uri="{FF2B5EF4-FFF2-40B4-BE49-F238E27FC236}">
                <a16:creationId xmlns="" xmlns:a16="http://schemas.microsoft.com/office/drawing/2014/main" id="{DF9030C1-49AE-E1EB-90D1-F91E2C3158D5}"/>
              </a:ext>
            </a:extLst>
          </p:cNvPr>
          <p:cNvSpPr txBox="1"/>
          <p:nvPr/>
        </p:nvSpPr>
        <p:spPr>
          <a:xfrm>
            <a:off x="457201" y="3185398"/>
            <a:ext cx="10134600" cy="523220"/>
          </a:xfrm>
          <a:prstGeom prst="rect">
            <a:avLst/>
          </a:prstGeom>
          <a:noFill/>
        </p:spPr>
        <p:txBody>
          <a:bodyPr wrap="square" rtlCol="0">
            <a:spAutoFit/>
          </a:bodyPr>
          <a:lstStyle/>
          <a:p>
            <a:r>
              <a:rPr lang="vi-VN" sz="2800" b="1"/>
              <a:t>Kết Luận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5447" y="31623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AutoShape 7">
            <a:extLst>
              <a:ext uri="{FF2B5EF4-FFF2-40B4-BE49-F238E27FC236}">
                <a16:creationId xmlns="" xmlns:a16="http://schemas.microsoft.com/office/drawing/2014/main"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 xmlns:a16="http://schemas.microsoft.com/office/drawing/2014/main"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 xmlns:a16="http://schemas.microsoft.com/office/drawing/2014/main"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 xmlns:a16="http://schemas.microsoft.com/office/drawing/2014/main"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 xmlns:a16="http://schemas.microsoft.com/office/drawing/2014/main"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482618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0673353-AE97-3794-4DF8-A2BCE8BB1A75}"/>
            </a:ext>
          </a:extLst>
        </p:cNvPr>
        <p:cNvGrpSpPr/>
        <p:nvPr/>
      </p:nvGrpSpPr>
      <p:grpSpPr>
        <a:xfrm>
          <a:off x="0" y="0"/>
          <a:ext cx="0" cy="0"/>
          <a:chOff x="0" y="0"/>
          <a:chExt cx="0" cy="0"/>
        </a:xfrm>
      </p:grpSpPr>
      <p:sp>
        <p:nvSpPr>
          <p:cNvPr id="7" name="AutoShape 7">
            <a:extLst>
              <a:ext uri="{FF2B5EF4-FFF2-40B4-BE49-F238E27FC236}">
                <a16:creationId xmlns="" xmlns:a16="http://schemas.microsoft.com/office/drawing/2014/main" id="{2ABDB4CA-555E-B3C7-AC07-9425A8FA7313}"/>
              </a:ext>
            </a:extLst>
          </p:cNvPr>
          <p:cNvSpPr/>
          <p:nvPr/>
        </p:nvSpPr>
        <p:spPr>
          <a:xfrm>
            <a:off x="1537469"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 xmlns:a16="http://schemas.microsoft.com/office/drawing/2014/main" id="{154F636E-5789-ABEE-40A8-4ECB49ABC8B7}"/>
              </a:ext>
            </a:extLst>
          </p:cNvPr>
          <p:cNvGrpSpPr/>
          <p:nvPr/>
        </p:nvGrpSpPr>
        <p:grpSpPr>
          <a:xfrm rot="-10800000">
            <a:off x="-685799" y="9258300"/>
            <a:ext cx="3194047" cy="4221147"/>
            <a:chOff x="0" y="0"/>
            <a:chExt cx="4064946" cy="5372100"/>
          </a:xfrm>
        </p:grpSpPr>
        <p:sp>
          <p:nvSpPr>
            <p:cNvPr id="9" name="Freeform 9">
              <a:extLst>
                <a:ext uri="{FF2B5EF4-FFF2-40B4-BE49-F238E27FC236}">
                  <a16:creationId xmlns="" xmlns:a16="http://schemas.microsoft.com/office/drawing/2014/main"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 xmlns:a16="http://schemas.microsoft.com/office/drawing/2014/main" id="{401E4E9A-4C50-F0B3-0CFA-CEDE470F3F5C}"/>
              </a:ext>
            </a:extLst>
          </p:cNvPr>
          <p:cNvGrpSpPr/>
          <p:nvPr/>
        </p:nvGrpSpPr>
        <p:grpSpPr>
          <a:xfrm rot="-10800000">
            <a:off x="836073" y="9258300"/>
            <a:ext cx="3194047" cy="4221147"/>
            <a:chOff x="0" y="0"/>
            <a:chExt cx="4064946" cy="5372100"/>
          </a:xfrm>
        </p:grpSpPr>
        <p:sp>
          <p:nvSpPr>
            <p:cNvPr id="11" name="Freeform 11">
              <a:extLst>
                <a:ext uri="{FF2B5EF4-FFF2-40B4-BE49-F238E27FC236}">
                  <a16:creationId xmlns="" xmlns:a16="http://schemas.microsoft.com/office/drawing/2014/main"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 xmlns:a16="http://schemas.microsoft.com/office/drawing/2014/main" id="{B51128AE-9AFE-D91A-92DC-FFC724CC4B7F}"/>
              </a:ext>
            </a:extLst>
          </p:cNvPr>
          <p:cNvSpPr txBox="1"/>
          <p:nvPr/>
        </p:nvSpPr>
        <p:spPr>
          <a:xfrm>
            <a:off x="525818" y="1132210"/>
            <a:ext cx="123519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8</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luận và Phương hướng phát triển</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 xmlns:a16="http://schemas.microsoft.com/office/drawing/2014/main" id="{A03D4972-5B6A-CFCB-4E59-9C3672A75E7C}"/>
              </a:ext>
            </a:extLst>
          </p:cNvPr>
          <p:cNvSpPr txBox="1"/>
          <p:nvPr/>
        </p:nvSpPr>
        <p:spPr>
          <a:xfrm>
            <a:off x="457201" y="3708618"/>
            <a:ext cx="10134600" cy="2246769"/>
          </a:xfrm>
          <a:prstGeom prst="rect">
            <a:avLst/>
          </a:prstGeom>
          <a:noFill/>
        </p:spPr>
        <p:txBody>
          <a:bodyPr wrap="square" rtlCol="0">
            <a:spAutoFit/>
          </a:bodyPr>
          <a:lstStyle/>
          <a:p>
            <a:pPr marL="185738" indent="-185738">
              <a:buFont typeface="Arial" panose="020B0604020202020204" pitchFamily="34" charset="0"/>
              <a:buChar char="•"/>
            </a:pPr>
            <a:r>
              <a:rPr lang="vi-VN" sz="2800" smtClean="0"/>
              <a:t>Mở </a:t>
            </a:r>
            <a:r>
              <a:rPr lang="vi-VN" sz="2800"/>
              <a:t>rộng quy mô bản đồ và nội dung trò </a:t>
            </a:r>
            <a:r>
              <a:rPr lang="vi-VN" sz="2800" smtClean="0"/>
              <a:t>chơi.</a:t>
            </a:r>
            <a:endParaRPr lang="en-US" sz="2800" smtClean="0"/>
          </a:p>
          <a:p>
            <a:pPr marL="185738" indent="-185738">
              <a:buFont typeface="Arial" panose="020B0604020202020204" pitchFamily="34" charset="0"/>
              <a:buChar char="•"/>
            </a:pPr>
            <a:r>
              <a:rPr lang="vi-VN" sz="2800" smtClean="0"/>
              <a:t>Bổ </a:t>
            </a:r>
            <a:r>
              <a:rPr lang="vi-VN" sz="2800"/>
              <a:t>sung hệ thống chế tạo và nâng cấp vật </a:t>
            </a:r>
            <a:r>
              <a:rPr lang="vi-VN" sz="2800" smtClean="0"/>
              <a:t>phẩm.</a:t>
            </a:r>
            <a:endParaRPr lang="en-US" sz="2800" smtClean="0"/>
          </a:p>
          <a:p>
            <a:pPr marL="185738" indent="-185738">
              <a:buFont typeface="Arial" panose="020B0604020202020204" pitchFamily="34" charset="0"/>
              <a:buChar char="•"/>
            </a:pPr>
            <a:r>
              <a:rPr lang="vi-VN" sz="2800" smtClean="0"/>
              <a:t>Phát </a:t>
            </a:r>
            <a:r>
              <a:rPr lang="vi-VN" sz="2800"/>
              <a:t>triển hệ thống nhiệm vụ và thành </a:t>
            </a:r>
            <a:r>
              <a:rPr lang="vi-VN" sz="2800" smtClean="0"/>
              <a:t>tựu.</a:t>
            </a:r>
            <a:endParaRPr lang="en-US" sz="2800" smtClean="0"/>
          </a:p>
          <a:p>
            <a:pPr marL="185738" indent="-185738">
              <a:buFont typeface="Arial" panose="020B0604020202020204" pitchFamily="34" charset="0"/>
              <a:buChar char="•"/>
            </a:pPr>
            <a:r>
              <a:rPr lang="vi-VN" sz="2800" smtClean="0"/>
              <a:t>Hoàn </a:t>
            </a:r>
            <a:r>
              <a:rPr lang="vi-VN" sz="2800"/>
              <a:t>thiện AI với nhiều trạng thái hành vi </a:t>
            </a:r>
            <a:r>
              <a:rPr lang="vi-VN" sz="2800" smtClean="0"/>
              <a:t>hơn.</a:t>
            </a:r>
            <a:endParaRPr lang="en-US" sz="2800" smtClean="0"/>
          </a:p>
          <a:p>
            <a:pPr marL="185738" indent="-185738">
              <a:buFont typeface="Arial" panose="020B0604020202020204" pitchFamily="34" charset="0"/>
              <a:buChar char="•"/>
            </a:pPr>
            <a:r>
              <a:rPr lang="vi-VN" sz="2800" smtClean="0"/>
              <a:t>Nghiên </a:t>
            </a:r>
            <a:r>
              <a:rPr lang="vi-VN" sz="2800"/>
              <a:t>cứu tích hợp chế độ chơi nhiều người trực tuyến.</a:t>
            </a:r>
          </a:p>
        </p:txBody>
      </p:sp>
      <p:sp>
        <p:nvSpPr>
          <p:cNvPr id="5" name="TextBox 4">
            <a:extLst>
              <a:ext uri="{FF2B5EF4-FFF2-40B4-BE49-F238E27FC236}">
                <a16:creationId xmlns="" xmlns:a16="http://schemas.microsoft.com/office/drawing/2014/main" id="{DF9030C1-49AE-E1EB-90D1-F91E2C3158D5}"/>
              </a:ext>
            </a:extLst>
          </p:cNvPr>
          <p:cNvSpPr txBox="1"/>
          <p:nvPr/>
        </p:nvSpPr>
        <p:spPr>
          <a:xfrm>
            <a:off x="457201" y="3185398"/>
            <a:ext cx="10134600" cy="523220"/>
          </a:xfrm>
          <a:prstGeom prst="rect">
            <a:avLst/>
          </a:prstGeom>
          <a:noFill/>
        </p:spPr>
        <p:txBody>
          <a:bodyPr wrap="square" rtlCol="0">
            <a:spAutoFit/>
          </a:bodyPr>
          <a:lstStyle/>
          <a:p>
            <a:r>
              <a:rPr lang="vi-VN" sz="2800" b="1"/>
              <a:t>Phương hướng phát triển</a:t>
            </a:r>
          </a:p>
        </p:txBody>
      </p:sp>
      <p:grpSp>
        <p:nvGrpSpPr>
          <p:cNvPr id="12" name="Group 3"/>
          <p:cNvGrpSpPr/>
          <p:nvPr/>
        </p:nvGrpSpPr>
        <p:grpSpPr>
          <a:xfrm>
            <a:off x="12321487" y="-1181100"/>
            <a:ext cx="9852713" cy="11676274"/>
            <a:chOff x="0" y="0"/>
            <a:chExt cx="13136951" cy="15568366"/>
          </a:xfrm>
        </p:grpSpPr>
        <p:sp>
          <p:nvSpPr>
            <p:cNvPr id="13"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 xmlns:asvg="http://schemas.microsoft.com/office/drawing/2016/SVG/main" r:embed="rId4"/>
                  </a:ext>
                </a:extLst>
              </a:blip>
              <a:stretch>
                <a:fillRect t="-51576"/>
              </a:stretch>
            </a:blipFill>
          </p:spPr>
          <p:txBody>
            <a:bodyPr/>
            <a:lstStyle/>
            <a:p>
              <a:endParaRPr lang="vi-VN"/>
            </a:p>
          </p:txBody>
        </p:sp>
        <p:grpSp>
          <p:nvGrpSpPr>
            <p:cNvPr id="14" name="Group 5"/>
            <p:cNvGrpSpPr/>
            <p:nvPr/>
          </p:nvGrpSpPr>
          <p:grpSpPr>
            <a:xfrm rot="-10800000">
              <a:off x="2115666" y="3513875"/>
              <a:ext cx="11021285" cy="12054491"/>
              <a:chOff x="0" y="0"/>
              <a:chExt cx="4911651" cy="5372100"/>
            </a:xfrm>
          </p:grpSpPr>
          <p:sp>
            <p:nvSpPr>
              <p:cNvPr id="15"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4732646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126067" y="4561210"/>
            <a:ext cx="16002000" cy="1115690"/>
          </a:xfrm>
          <a:prstGeom prst="rect">
            <a:avLst/>
          </a:prstGeom>
        </p:spPr>
        <p:txBody>
          <a:bodyPr wrap="square" lIns="0" tIns="0" rIns="0" bIns="0" rtlCol="0" anchor="t">
            <a:spAutoFit/>
          </a:bodyPr>
          <a:lstStyle/>
          <a:p>
            <a:pPr lvl="0" algn="ctr">
              <a:lnSpc>
                <a:spcPts val="8717"/>
              </a:lnSpc>
              <a:spcBef>
                <a:spcPct val="0"/>
              </a:spcBef>
            </a:pPr>
            <a:r>
              <a:rPr lang="vi-VN" sz="5000" b="1">
                <a:solidFill>
                  <a:srgbClr val="1836B2"/>
                </a:solidFill>
                <a:latin typeface="+mj-lt"/>
                <a:ea typeface="Cabin Semi-Bold"/>
                <a:cs typeface="Cabin Semi-Bold"/>
              </a:rPr>
              <a:t>XIN CẢM ƠN QUÝ THẦY CÔ ĐÃ LẮNG NGHE</a:t>
            </a:r>
            <a:r>
              <a:rPr lang="vi-VN" sz="5000" b="1" smtClean="0">
                <a:solidFill>
                  <a:srgbClr val="1836B2"/>
                </a:solidFill>
                <a:latin typeface="+mj-lt"/>
                <a:ea typeface="Cabin Semi-Bold"/>
                <a:cs typeface="Cabin Semi-Bold"/>
              </a:rPr>
              <a:t>!</a:t>
            </a:r>
            <a:endParaRPr lang="en-US" sz="2800" b="1" u="none">
              <a:solidFill>
                <a:srgbClr val="1836B2"/>
              </a:solidFill>
              <a:latin typeface="Cabin Semi-Bold"/>
              <a:ea typeface="Cabin Semi-Bold"/>
              <a:cs typeface="Cabin Semi-Bold"/>
              <a:sym typeface="Cabin Semi-Bold"/>
            </a:endParaRPr>
          </a:p>
        </p:txBody>
      </p:sp>
      <p:grpSp>
        <p:nvGrpSpPr>
          <p:cNvPr id="7" name="Group 7"/>
          <p:cNvGrpSpPr/>
          <p:nvPr/>
        </p:nvGrpSpPr>
        <p:grpSpPr>
          <a:xfrm rot="-10800000">
            <a:off x="2314816" y="-2086793"/>
            <a:ext cx="6208021" cy="4173585"/>
            <a:chOff x="0" y="0"/>
            <a:chExt cx="7990758" cy="5372100"/>
          </a:xfrm>
        </p:grpSpPr>
        <p:sp>
          <p:nvSpPr>
            <p:cNvPr id="8" name="Freeform 8"/>
            <p:cNvSpPr/>
            <p:nvPr/>
          </p:nvSpPr>
          <p:spPr>
            <a:xfrm>
              <a:off x="0" y="0"/>
              <a:ext cx="7990758" cy="5372100"/>
            </a:xfrm>
            <a:custGeom>
              <a:avLst/>
              <a:gdLst/>
              <a:ahLst/>
              <a:cxnLst/>
              <a:rect l="l" t="t" r="r" b="b"/>
              <a:pathLst>
                <a:path w="7990758" h="5372100">
                  <a:moveTo>
                    <a:pt x="6440088" y="0"/>
                  </a:moveTo>
                  <a:lnTo>
                    <a:pt x="1550670" y="0"/>
                  </a:lnTo>
                  <a:lnTo>
                    <a:pt x="0" y="2686050"/>
                  </a:lnTo>
                  <a:lnTo>
                    <a:pt x="1550670" y="5372100"/>
                  </a:lnTo>
                  <a:lnTo>
                    <a:pt x="6440088" y="5372100"/>
                  </a:lnTo>
                  <a:lnTo>
                    <a:pt x="7990758" y="2686050"/>
                  </a:lnTo>
                  <a:lnTo>
                    <a:pt x="6440088" y="0"/>
                  </a:lnTo>
                  <a:close/>
                </a:path>
              </a:pathLst>
            </a:custGeom>
            <a:solidFill>
              <a:srgbClr val="1836B2"/>
            </a:solidFill>
          </p:spPr>
          <p:txBody>
            <a:bodyPr/>
            <a:lstStyle/>
            <a:p>
              <a:endParaRPr lang="vi-VN"/>
            </a:p>
          </p:txBody>
        </p:sp>
      </p:grpSp>
      <p:grpSp>
        <p:nvGrpSpPr>
          <p:cNvPr id="9" name="Group 9"/>
          <p:cNvGrpSpPr/>
          <p:nvPr/>
        </p:nvGrpSpPr>
        <p:grpSpPr>
          <a:xfrm rot="-10800000">
            <a:off x="-1093063" y="7283541"/>
            <a:ext cx="2963586" cy="3459503"/>
            <a:chOff x="0" y="0"/>
            <a:chExt cx="4602013" cy="5372100"/>
          </a:xfrm>
        </p:grpSpPr>
        <p:sp>
          <p:nvSpPr>
            <p:cNvPr id="10" name="Freeform 10"/>
            <p:cNvSpPr/>
            <p:nvPr/>
          </p:nvSpPr>
          <p:spPr>
            <a:xfrm>
              <a:off x="0" y="0"/>
              <a:ext cx="4602013" cy="5372100"/>
            </a:xfrm>
            <a:custGeom>
              <a:avLst/>
              <a:gdLst/>
              <a:ahLst/>
              <a:cxnLst/>
              <a:rect l="l" t="t" r="r" b="b"/>
              <a:pathLst>
                <a:path w="4602013" h="5372100">
                  <a:moveTo>
                    <a:pt x="3051343" y="0"/>
                  </a:moveTo>
                  <a:lnTo>
                    <a:pt x="1550670" y="0"/>
                  </a:lnTo>
                  <a:lnTo>
                    <a:pt x="0" y="2686050"/>
                  </a:lnTo>
                  <a:lnTo>
                    <a:pt x="1550670" y="5372100"/>
                  </a:lnTo>
                  <a:lnTo>
                    <a:pt x="3051343" y="5372100"/>
                  </a:lnTo>
                  <a:lnTo>
                    <a:pt x="4602013" y="2686050"/>
                  </a:lnTo>
                  <a:lnTo>
                    <a:pt x="3051343" y="0"/>
                  </a:lnTo>
                  <a:close/>
                </a:path>
              </a:pathLst>
            </a:custGeom>
            <a:solidFill>
              <a:srgbClr val="A066CB"/>
            </a:solidFill>
          </p:spPr>
          <p:txBody>
            <a:bodyPr/>
            <a:lstStyle/>
            <a:p>
              <a:endParaRPr lang="vi-VN"/>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627</TotalTime>
  <Words>3334</Words>
  <Application>Microsoft Office PowerPoint</Application>
  <PresentationFormat>Custom</PresentationFormat>
  <Paragraphs>266</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Times New Roman</vt:lpstr>
      <vt:lpstr>Cabin Italics</vt:lpstr>
      <vt:lpstr>Calibri</vt:lpstr>
      <vt:lpstr>SimSun</vt:lpstr>
      <vt:lpstr>Cabin Semi-Bold</vt:lpstr>
      <vt:lpstr>Faustina Bold</vt:lpstr>
      <vt:lpstr>Cabin</vt:lpstr>
      <vt:lpstr>Arial (Body)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CoSoNganh</dc:title>
  <cp:lastModifiedBy>HaGiaLoc</cp:lastModifiedBy>
  <cp:revision>105</cp:revision>
  <dcterms:created xsi:type="dcterms:W3CDTF">2006-08-16T00:00:00Z</dcterms:created>
  <dcterms:modified xsi:type="dcterms:W3CDTF">2026-07-04T13:21:08Z</dcterms:modified>
  <dc:identifier>DAGbnXCPPBE</dc:identifier>
</cp:coreProperties>
</file>