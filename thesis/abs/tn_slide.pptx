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72" r:id="rId4"/>
    <p:sldId id="273" r:id="rId5"/>
    <p:sldId id="274" r:id="rId6"/>
    <p:sldId id="297" r:id="rId7"/>
    <p:sldId id="259" r:id="rId8"/>
    <p:sldId id="264" r:id="rId9"/>
    <p:sldId id="298" r:id="rId10"/>
    <p:sldId id="284" r:id="rId11"/>
    <p:sldId id="285" r:id="rId12"/>
    <p:sldId id="286" r:id="rId13"/>
    <p:sldId id="287" r:id="rId14"/>
    <p:sldId id="288" r:id="rId15"/>
    <p:sldId id="295" r:id="rId16"/>
    <p:sldId id="296" r:id="rId17"/>
    <p:sldId id="289" r:id="rId18"/>
    <p:sldId id="290" r:id="rId19"/>
    <p:sldId id="268" r:id="rId20"/>
  </p:sldIdLst>
  <p:sldSz cx="18288000" cy="10287000"/>
  <p:notesSz cx="6858000" cy="9144000"/>
  <p:embeddedFontLst>
    <p:embeddedFont>
      <p:font typeface="Calibri" panose="020F0502020204030204" pitchFamily="34" charset="0"/>
      <p:regular r:id="rId22"/>
      <p:bold r:id="rId23"/>
      <p:italic r:id="rId24"/>
      <p:boldItalic r:id="rId25"/>
    </p:embeddedFont>
    <p:embeddedFont>
      <p:font typeface="SimSun" panose="02010600030101010101" pitchFamily="2" charset="-122"/>
      <p:regular r:id="rId26"/>
    </p:embeddedFont>
    <p:embeddedFont>
      <p:font typeface="Cabin Semi-Bold" panose="020B0604020202020204" charset="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76545" autoAdjust="0"/>
  </p:normalViewPr>
  <p:slideViewPr>
    <p:cSldViewPr>
      <p:cViewPr varScale="1">
        <p:scale>
          <a:sx n="56" d="100"/>
          <a:sy n="56" d="100"/>
        </p:scale>
        <p:origin x="-1470" y="-96"/>
      </p:cViewPr>
      <p:guideLst>
        <p:guide orient="horz" pos="4152"/>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27/06/2026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1843790" y="-3606083"/>
            <a:ext cx="10682989"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373518"/>
          </a:xfrm>
          <a:prstGeom prst="rect">
            <a:avLst/>
          </a:prstGeom>
        </p:spPr>
        <p:txBody>
          <a:bodyPr lIns="0" tIns="0" rIns="0" bIns="0" rtlCol="0" anchor="t">
            <a:spAutoFit/>
          </a:bodyPr>
          <a:lstStyle/>
          <a:p>
            <a:pPr algn="ctr">
              <a:lnSpc>
                <a:spcPts val="5599"/>
              </a:lnSpc>
            </a:pPr>
            <a:r>
              <a:rPr lang="en-US" sz="3999" b="1">
                <a:solidFill>
                  <a:srgbClr val="000000"/>
                </a:solidFill>
                <a:latin typeface="+mj-lt"/>
                <a:ea typeface="Faustina Bold"/>
                <a:cs typeface="Times New Roman" panose="02020603050405020304" pitchFamily="18" charset="0"/>
                <a:sym typeface="Faustina Bold"/>
              </a:rPr>
              <a:t>Đ</a:t>
            </a:r>
            <a:r>
              <a:rPr lang="en-US" sz="3999" b="1" smtClean="0">
                <a:solidFill>
                  <a:srgbClr val="000000"/>
                </a:solidFill>
                <a:latin typeface="+mj-lt"/>
                <a:ea typeface="Faustina Bold"/>
                <a:cs typeface="Times New Roman" panose="02020603050405020304" pitchFamily="18" charset="0"/>
                <a:sym typeface="Faustina Bold"/>
              </a:rPr>
              <a:t>ồ </a:t>
            </a:r>
            <a:r>
              <a:rPr lang="en-US" sz="3999" b="1" err="1">
                <a:solidFill>
                  <a:srgbClr val="000000"/>
                </a:solidFill>
                <a:latin typeface="+mj-lt"/>
                <a:ea typeface="Faustina Bold"/>
                <a:cs typeface="Times New Roman" panose="02020603050405020304" pitchFamily="18" charset="0"/>
                <a:sym typeface="Faustina Bold"/>
              </a:rPr>
              <a:t>án</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tốt nghiệp</a:t>
            </a:r>
            <a:endParaRPr lang="en-US" sz="3999" b="1">
              <a:solidFill>
                <a:srgbClr val="000000"/>
              </a:solidFill>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kì</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II, </a:t>
            </a:r>
            <a:r>
              <a:rPr lang="en-US" sz="3999" b="1" err="1">
                <a:solidFill>
                  <a:srgbClr val="000000"/>
                </a:solidFill>
                <a:latin typeface="+mj-lt"/>
                <a:ea typeface="Faustina Bold"/>
                <a:cs typeface="Times New Roman" panose="02020603050405020304" pitchFamily="18" charset="0"/>
                <a:sym typeface="Faustina Bold"/>
              </a:rPr>
              <a:t>năm</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2025-2026</a:t>
            </a:r>
            <a:endParaRPr lang="en-US" sz="3999" b="1">
              <a:solidFill>
                <a:srgbClr val="000000"/>
              </a:solidFill>
              <a:latin typeface="+mj-lt"/>
              <a:ea typeface="Faustina Bold"/>
              <a:cs typeface="Times New Roman" panose="02020603050405020304" pitchFamily="18" charset="0"/>
              <a:sym typeface="Faustina Bold"/>
            </a:endParaRPr>
          </a:p>
        </p:txBody>
      </p:sp>
      <p:sp>
        <p:nvSpPr>
          <p:cNvPr id="7" name="Freeform 7"/>
          <p:cNvSpPr/>
          <p:nvPr/>
        </p:nvSpPr>
        <p:spPr>
          <a:xfrm>
            <a:off x="204812" y="214771"/>
            <a:ext cx="2185270" cy="2185270"/>
          </a:xfrm>
          <a:custGeom>
            <a:avLst/>
            <a:gdLst/>
            <a:ahLst/>
            <a:cxnLst/>
            <a:rect l="l" t="t" r="r" b="b"/>
            <a:pathLst>
              <a:path w="2185270" h="2185270">
                <a:moveTo>
                  <a:pt x="0" y="0"/>
                </a:moveTo>
                <a:lnTo>
                  <a:pt x="2185270" y="0"/>
                </a:lnTo>
                <a:lnTo>
                  <a:pt x="2185270" y="2185270"/>
                </a:lnTo>
                <a:lnTo>
                  <a:pt x="0" y="2185270"/>
                </a:lnTo>
                <a:lnTo>
                  <a:pt x="0" y="0"/>
                </a:lnTo>
                <a:close/>
              </a:path>
            </a:pathLst>
          </a:custGeom>
          <a:blipFill>
            <a:blip r:embed="rId3"/>
            <a:stretch>
              <a:fillRect/>
            </a:stretch>
          </a:blipFill>
        </p:spPr>
        <p:txBody>
          <a:bodyPr/>
          <a:lstStyle/>
          <a:p>
            <a:endParaRPr lang="vi-VN"/>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2209800" y="909896"/>
            <a:ext cx="5715000" cy="55143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rgbClr val="FFFFFF"/>
                </a:solidFill>
                <a:latin typeface="+mj-lt"/>
                <a:ea typeface="Cabin"/>
                <a:cs typeface="Times New Roman" panose="02020603050405020304" pitchFamily="18" charset="0"/>
                <a:sym typeface="Cabin"/>
              </a:rPr>
              <a:t>Trường</a:t>
            </a:r>
            <a:r>
              <a:rPr lang="en-US" sz="3299" spc="-65" smtClean="0">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Kỹ</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Thuật</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Công</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Nghệ</a:t>
            </a:r>
            <a:endParaRPr lang="en-US" sz="3299" spc="-65">
              <a:solidFill>
                <a:srgbClr val="FFFFFF"/>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1088390"/>
          </a:xfrm>
          <a:prstGeom prst="rect">
            <a:avLst/>
          </a:prstGeom>
        </p:spPr>
        <p:txBody>
          <a:bodyPr lIns="0" tIns="0" rIns="0" bIns="0" rtlCol="0" anchor="t">
            <a:spAutoFit/>
          </a:bodyPr>
          <a:lstStyle/>
          <a:p>
            <a:pPr marL="0" lvl="0" indent="0" algn="l">
              <a:lnSpc>
                <a:spcPts val="8470"/>
              </a:lnSpc>
              <a:spcBef>
                <a:spcPct val="0"/>
              </a:spcBef>
            </a:pPr>
            <a:r>
              <a:rPr lang="en-US" sz="77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a16="http://schemas.microsoft.com/office/drawing/2014/main" xmlns="" val="20000"/>
                    </a:ext>
                  </a:extLst>
                </a:gridCol>
                <a:gridCol w="7696200">
                  <a:extLst>
                    <a:ext uri="{9D8B030D-6E8A-4147-A177-3AD203B41FA5}">
                      <a16:colId xmlns:a16="http://schemas.microsoft.com/office/drawing/2014/main" xmlns=""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en-US" sz="7925" b="1" u="none" smtClean="0">
                <a:solidFill>
                  <a:srgbClr val="1836B2"/>
                </a:solidFill>
                <a:latin typeface="+mj-lt"/>
                <a:ea typeface="Cabin Semi-Bold"/>
                <a:cs typeface="Times New Roman" panose="02020603050405020304" pitchFamily="18" charset="0"/>
                <a:sym typeface="Cabin Semi-Bold"/>
              </a:rPr>
              <a:t>1.L</a:t>
            </a:r>
            <a:r>
              <a:rPr lang="vi-VN" sz="7925" b="1" u="none" smtClean="0">
                <a:solidFill>
                  <a:srgbClr val="1836B2"/>
                </a:solidFill>
                <a:latin typeface="+mj-lt"/>
                <a:ea typeface="Cabin Semi-Bold"/>
                <a:cs typeface="Times New Roman" panose="02020603050405020304" pitchFamily="18" charset="0"/>
                <a:sym typeface="Cabin Semi-Bold"/>
              </a:rPr>
              <a:t>ý </a:t>
            </a:r>
            <a:r>
              <a:rPr lang="vi-VN" sz="7925" b="1" u="none">
                <a:solidFill>
                  <a:srgbClr val="1836B2"/>
                </a:solidFill>
                <a:latin typeface="+mj-lt"/>
                <a:ea typeface="Cabin Semi-Bold"/>
                <a:cs typeface="Times New Roman" panose="02020603050405020304" pitchFamily="18" charset="0"/>
                <a:sym typeface="Cabin Semi-Bold"/>
              </a:rPr>
              <a:t>do chọn đề tài</a:t>
            </a:r>
            <a:endParaRPr lang="en-US" sz="7925"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0088AC-D961-B3FD-BDB5-AF6216DA83C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Times New Roman" panose="02020603050405020304" pitchFamily="18" charset="0"/>
                <a:sym typeface="Cabin Semi-Bold"/>
              </a:rPr>
              <a:t>2.Mục đích nghiên cứu</a:t>
            </a:r>
            <a:endParaRPr lang="en-US" sz="7925"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a16="http://schemas.microsoft.com/office/drawing/2014/main" xmlns=""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a16="http://schemas.microsoft.com/office/drawing/2014/main" xmlns=""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a16="http://schemas.microsoft.com/office/drawing/2014/main" xmlns=""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ACF5569-8787-0062-F375-50063FE23D12}"/>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4C17CFB-C9FC-3A0E-9F79-4E4FF14A6573}"/>
              </a:ext>
            </a:extLst>
          </p:cNvPr>
          <p:cNvSpPr txBox="1"/>
          <p:nvPr/>
        </p:nvSpPr>
        <p:spPr>
          <a:xfrm>
            <a:off x="1059218" y="991667"/>
            <a:ext cx="8378511" cy="1132149"/>
          </a:xfrm>
          <a:prstGeom prst="rect">
            <a:avLst/>
          </a:prstGeom>
        </p:spPr>
        <p:txBody>
          <a:bodyPr lIns="0" tIns="0" rIns="0" bIns="0" rtlCol="0" anchor="t">
            <a:spAutoFit/>
          </a:bodyPr>
          <a:lstStyle/>
          <a:p>
            <a:pPr marL="0" lvl="0" indent="0" algn="l">
              <a:lnSpc>
                <a:spcPts val="8717"/>
              </a:lnSpc>
              <a:spcBef>
                <a:spcPct val="0"/>
              </a:spcBef>
            </a:pPr>
            <a:r>
              <a:rPr lang="en-US" sz="7925" b="1" u="none">
                <a:solidFill>
                  <a:srgbClr val="1836B2"/>
                </a:solidFill>
                <a:latin typeface="+mj-lt"/>
                <a:ea typeface="Cabin Semi-Bold"/>
                <a:cs typeface="Times New Roman" panose="02020603050405020304" pitchFamily="18" charset="0"/>
                <a:sym typeface="Cabin Semi-Bold"/>
              </a:rPr>
              <a:t>3.</a:t>
            </a:r>
            <a:r>
              <a:rPr lang="vi-VN" sz="7925" b="1" u="none">
                <a:solidFill>
                  <a:srgbClr val="1836B2"/>
                </a:solidFill>
                <a:latin typeface="+mj-lt"/>
                <a:ea typeface="Cabin Semi-Bold"/>
                <a:cs typeface="Times New Roman" panose="02020603050405020304" pitchFamily="18" charset="0"/>
                <a:sym typeface="Cabin Semi-Bold"/>
              </a:rPr>
              <a:t>Cơ sở lý thuyết</a:t>
            </a:r>
            <a:endParaRPr lang="en-US" sz="7925"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a16="http://schemas.microsoft.com/office/drawing/2014/main" xmlns="" id="{8AC8433D-F9F0-949A-802A-213B5893CD86}"/>
              </a:ext>
            </a:extLst>
          </p:cNvPr>
          <p:cNvSpPr txBox="1"/>
          <p:nvPr/>
        </p:nvSpPr>
        <p:spPr>
          <a:xfrm>
            <a:off x="304800" y="6591300"/>
            <a:ext cx="4320000" cy="1200329"/>
          </a:xfrm>
          <a:prstGeom prst="rect">
            <a:avLst/>
          </a:prstGeom>
          <a:noFill/>
        </p:spPr>
        <p:txBody>
          <a:bodyPr wrap="square" rtlCol="0">
            <a:spAutoFit/>
          </a:bodyPr>
          <a:lstStyle/>
          <a:p>
            <a:pPr algn="just"/>
            <a:r>
              <a:rPr lang="vi-VN" sz="2400"/>
              <a:t>Công cụ phát triển game 2D, hỗ trợ quản lý scene, vật lý và xây dựng gameplay.</a:t>
            </a:r>
            <a:endParaRPr lang="vi-VN" sz="2400"/>
          </a:p>
        </p:txBody>
      </p:sp>
      <p:sp>
        <p:nvSpPr>
          <p:cNvPr id="42" name="TextBox 41">
            <a:extLst>
              <a:ext uri="{FF2B5EF4-FFF2-40B4-BE49-F238E27FC236}">
                <a16:creationId xmlns:a16="http://schemas.microsoft.com/office/drawing/2014/main" xmlns="" id="{BD68D535-6787-D116-201E-E9E1BAD12D5B}"/>
              </a:ext>
            </a:extLst>
          </p:cNvPr>
          <p:cNvSpPr txBox="1"/>
          <p:nvPr/>
        </p:nvSpPr>
        <p:spPr>
          <a:xfrm>
            <a:off x="13666829" y="6591300"/>
            <a:ext cx="4320000" cy="1200329"/>
          </a:xfrm>
          <a:prstGeom prst="rect">
            <a:avLst/>
          </a:prstGeom>
          <a:noFill/>
        </p:spPr>
        <p:txBody>
          <a:bodyPr wrap="square" rtlCol="0">
            <a:spAutoFit/>
          </a:bodyPr>
          <a:lstStyle/>
          <a:p>
            <a:pPr algn="just"/>
            <a:r>
              <a:rPr lang="vi-VN" sz="2400"/>
              <a:t>Công cụ chỉnh sửa và xử lý các hiệu ứng âm thanh trong trò chơi.</a:t>
            </a:r>
            <a:endParaRPr lang="vi-VN" sz="2400"/>
          </a:p>
        </p:txBody>
      </p:sp>
      <p:sp>
        <p:nvSpPr>
          <p:cNvPr id="6" name="Rectangle 5"/>
          <p:cNvSpPr/>
          <p:nvPr/>
        </p:nvSpPr>
        <p:spPr>
          <a:xfrm>
            <a:off x="9296400" y="6591300"/>
            <a:ext cx="4320000" cy="1200329"/>
          </a:xfrm>
          <a:prstGeom prst="rect">
            <a:avLst/>
          </a:prstGeom>
        </p:spPr>
        <p:txBody>
          <a:bodyPr wrap="square">
            <a:spAutoFit/>
          </a:bodyPr>
          <a:lstStyle/>
          <a:p>
            <a:pPr algn="just"/>
            <a:r>
              <a:rPr lang="vi-VN" sz="2400"/>
              <a:t>Công cụ thiết kế đồ họa 2D cho nhân vật, vật phẩm và môi trường game.</a:t>
            </a:r>
            <a:endParaRPr lang="vi-VN" sz="2400"/>
          </a:p>
        </p:txBody>
      </p:sp>
      <p:sp>
        <p:nvSpPr>
          <p:cNvPr id="16" name="TextBox 15">
            <a:extLst>
              <a:ext uri="{FF2B5EF4-FFF2-40B4-BE49-F238E27FC236}">
                <a16:creationId xmlns:a16="http://schemas.microsoft.com/office/drawing/2014/main" xmlns="" id="{8AC8433D-F9F0-949A-802A-213B5893CD86}"/>
              </a:ext>
            </a:extLst>
          </p:cNvPr>
          <p:cNvSpPr txBox="1"/>
          <p:nvPr/>
        </p:nvSpPr>
        <p:spPr>
          <a:xfrm>
            <a:off x="4671600" y="6591299"/>
            <a:ext cx="4320000" cy="1200329"/>
          </a:xfrm>
          <a:prstGeom prst="rect">
            <a:avLst/>
          </a:prstGeom>
          <a:noFill/>
        </p:spPr>
        <p:txBody>
          <a:bodyPr wrap="square" rtlCol="0">
            <a:spAutoFit/>
          </a:bodyPr>
          <a:lstStyle/>
          <a:p>
            <a:pPr algn="just"/>
            <a:r>
              <a:rPr lang="vi-VN" sz="2400"/>
              <a:t>Ngôn ngữ lập trình chính, dùng để xây dựng các cơ chế và logic của trò chơi.</a:t>
            </a:r>
            <a:endParaRPr lang="vi-VN" sz="2400"/>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1115690"/>
          </a:xfrm>
          <a:prstGeom prst="rect">
            <a:avLst/>
          </a:prstGeom>
        </p:spPr>
        <p:txBody>
          <a:bodyPr wrap="square" lIns="0" tIns="0" rIns="0" bIns="0" rtlCol="0" anchor="t">
            <a:spAutoFit/>
          </a:bodyPr>
          <a:lstStyle/>
          <a:p>
            <a:pPr lvl="0">
              <a:lnSpc>
                <a:spcPts val="8717"/>
              </a:lnSpc>
              <a:spcBef>
                <a:spcPct val="0"/>
              </a:spcBef>
            </a:pPr>
            <a:r>
              <a:rPr lang="vi-VN" sz="7925" b="1">
                <a:solidFill>
                  <a:srgbClr val="1836B2"/>
                </a:solidFill>
                <a:ea typeface="Cabin Semi-Bold"/>
                <a:cs typeface="Cabin Semi-Bold"/>
                <a:sym typeface="Cabin Semi-Bold"/>
              </a:rPr>
              <a:t>4</a:t>
            </a:r>
            <a:r>
              <a:rPr lang="vi-VN" sz="7925" b="1" smtClean="0">
                <a:solidFill>
                  <a:srgbClr val="1836B2"/>
                </a:solidFill>
                <a:ea typeface="Cabin Semi-Bold"/>
                <a:cs typeface="Cabin Semi-Bold"/>
                <a:sym typeface="Cabin Semi-Bold"/>
              </a:rPr>
              <a:t>.</a:t>
            </a:r>
            <a:r>
              <a:rPr lang="en-US" sz="7925" b="1" smtClean="0">
                <a:solidFill>
                  <a:srgbClr val="1836B2"/>
                </a:solidFill>
                <a:ea typeface="Cabin Semi-Bold"/>
                <a:cs typeface="Cabin Semi-Bold"/>
                <a:sym typeface="Cabin Semi-Bold"/>
              </a:rPr>
              <a:t> </a:t>
            </a:r>
            <a:r>
              <a:rPr lang="vi-VN" sz="7925" b="1" smtClean="0">
                <a:solidFill>
                  <a:srgbClr val="1836B2"/>
                </a:solidFill>
                <a:ea typeface="Cabin Semi-Bold"/>
                <a:cs typeface="Cabin Semi-Bold"/>
                <a:sym typeface="Cabin Semi-Bold"/>
              </a:rPr>
              <a:t>Mô </a:t>
            </a:r>
            <a:r>
              <a:rPr lang="vi-VN" sz="7925" b="1">
                <a:solidFill>
                  <a:srgbClr val="1836B2"/>
                </a:solidFill>
                <a:ea typeface="Cabin Semi-Bold"/>
                <a:cs typeface="Cabin Semi-Bold"/>
                <a:sym typeface="Cabin Semi-Bold"/>
              </a:rPr>
              <a:t>tả bài toán</a:t>
            </a:r>
            <a:endParaRPr lang="en-US" sz="7925" b="1">
              <a:solidFill>
                <a:srgbClr val="1836B2"/>
              </a:solidFill>
              <a:ea typeface="Cabin Semi-Bold"/>
              <a:cs typeface="Cabin Semi-Bold"/>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1102866"/>
          </a:xfrm>
          <a:prstGeom prst="rect">
            <a:avLst/>
          </a:prstGeom>
        </p:spPr>
        <p:txBody>
          <a:bodyPr wrap="square" lIns="0" tIns="0" rIns="0" bIns="0" rtlCol="0" anchor="t">
            <a:spAutoFit/>
          </a:bodyPr>
          <a:lstStyle/>
          <a:p>
            <a:pPr lvl="0">
              <a:lnSpc>
                <a:spcPts val="8635"/>
              </a:lnSpc>
              <a:spcBef>
                <a:spcPct val="0"/>
              </a:spcBef>
            </a:pPr>
            <a:r>
              <a:rPr lang="vi-VN" sz="7850" b="1">
                <a:solidFill>
                  <a:srgbClr val="1836B2"/>
                </a:solidFill>
                <a:latin typeface="+mj-lt"/>
                <a:ea typeface="Cabin Semi-Bold"/>
                <a:cs typeface="Cabin Semi-Bold"/>
                <a:sym typeface="Cabin Semi-Bold"/>
              </a:rPr>
              <a:t>5. Yêu cầu hệ thống</a:t>
            </a:r>
            <a:endParaRPr lang="en-US" sz="785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a16="http://schemas.microsoft.com/office/drawing/2014/main" xmlns=""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a16="http://schemas.microsoft.com/office/drawing/2014/main" xmlns=""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a16="http://schemas.microsoft.com/office/drawing/2014/main" xmlns=""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a16="http://schemas.microsoft.com/office/drawing/2014/main" xmlns=""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a16="http://schemas.microsoft.com/office/drawing/2014/main" xmlns=""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a16="http://schemas.microsoft.com/office/drawing/2014/main" xmlns=""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a16="http://schemas.microsoft.com/office/drawing/2014/main" xmlns=""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a16="http://schemas.microsoft.com/office/drawing/2014/main" xmlns=""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a16="http://schemas.microsoft.com/office/drawing/2014/main" xmlns=""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a16="http://schemas.microsoft.com/office/drawing/2014/main" xmlns=""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a16="http://schemas.microsoft.com/office/drawing/2014/main" xmlns=""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a16="http://schemas.microsoft.com/office/drawing/2014/main" xmlns=""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a16="http://schemas.microsoft.com/office/drawing/2014/main" xmlns=""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a16="http://schemas.microsoft.com/office/drawing/2014/main" xmlns=""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a16="http://schemas.microsoft.com/office/drawing/2014/main" xmlns=""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a16="http://schemas.microsoft.com/office/drawing/2014/main" xmlns=""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a16="http://schemas.microsoft.com/office/drawing/2014/main" xmlns=""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txBody>
          <a:bodyPr/>
          <a:lstStyle/>
          <a:p>
            <a:endParaRPr lang="vi-VN"/>
          </a:p>
        </p:txBody>
      </p:sp>
      <p:grpSp>
        <p:nvGrpSpPr>
          <p:cNvPr id="45" name="Group 2">
            <a:extLst>
              <a:ext uri="{FF2B5EF4-FFF2-40B4-BE49-F238E27FC236}">
                <a16:creationId xmlns:a16="http://schemas.microsoft.com/office/drawing/2014/main" xmlns=""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a16="http://schemas.microsoft.com/office/drawing/2014/main" xmlns=""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a16="http://schemas.microsoft.com/office/drawing/2014/main" xmlns=""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a16="http://schemas.microsoft.com/office/drawing/2014/main" xmlns=""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a:t>
              </a:r>
              <a:r>
                <a:rPr lang="vi-VN" sz="2800"/>
                <a:t>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a:t>
              </a:r>
              <a:r>
                <a:rPr lang="vi-VN" sz="2800"/>
                <a:t>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a:t>
              </a:r>
              <a:r>
                <a:rPr lang="vi-VN" sz="2800"/>
                <a:t>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a:t>
              </a:r>
              <a:r>
                <a:rPr lang="vi-VN" sz="2800"/>
                <a:t>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a:t>
              </a:r>
              <a:r>
                <a:rPr lang="vi-VN" sz="2800"/>
                <a:t>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a:t>
              </a:r>
              <a:r>
                <a:rPr lang="vi-VN" sz="2800"/>
                <a:t>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a:t>
              </a:r>
              <a:r>
                <a:rPr lang="vi-VN" sz="2800"/>
                <a:t>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a:t>
              </a:r>
              <a:r>
                <a:rPr lang="vi-VN" sz="2800"/>
                <a:t>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a:t>
              </a:r>
              <a:r>
                <a:rPr lang="vi-VN" sz="2800"/>
                <a:t>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a:t>
              </a:r>
              <a:r>
                <a:rPr lang="vi-VN" sz="2800"/>
                <a:t>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t>
              </a:r>
              <a:r>
                <a:rPr lang="vi-VN" sz="2800"/>
                <a:t>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a:t>
              </a:r>
              <a:r>
                <a:rPr lang="vi-VN" sz="2800"/>
                <a:t>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endParaRPr lang="vi-VN" sz="2800"/>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1102866"/>
          </a:xfrm>
          <a:prstGeom prst="rect">
            <a:avLst/>
          </a:prstGeom>
        </p:spPr>
        <p:txBody>
          <a:bodyPr wrap="square" lIns="0" tIns="0" rIns="0" bIns="0" rtlCol="0" anchor="t">
            <a:spAutoFit/>
          </a:bodyPr>
          <a:lstStyle/>
          <a:p>
            <a:pPr lvl="0">
              <a:lnSpc>
                <a:spcPts val="8635"/>
              </a:lnSpc>
              <a:spcBef>
                <a:spcPct val="0"/>
              </a:spcBef>
            </a:pPr>
            <a:r>
              <a:rPr lang="en-US" sz="7850" b="1" smtClean="0">
                <a:solidFill>
                  <a:srgbClr val="1836B2"/>
                </a:solidFill>
                <a:latin typeface="+mj-lt"/>
                <a:ea typeface="Cabin Semi-Bold"/>
                <a:cs typeface="Cabin Semi-Bold"/>
                <a:sym typeface="Cabin Semi-Bold"/>
              </a:rPr>
              <a:t>6</a:t>
            </a:r>
            <a:r>
              <a:rPr lang="vi-VN" sz="7850" b="1" smtClean="0">
                <a:solidFill>
                  <a:srgbClr val="1836B2"/>
                </a:solidFill>
                <a:latin typeface="+mj-lt"/>
                <a:ea typeface="Cabin Semi-Bold"/>
                <a:cs typeface="Cabin Semi-Bold"/>
                <a:sym typeface="Cabin Semi-Bold"/>
              </a:rPr>
              <a:t>. </a:t>
            </a:r>
            <a:r>
              <a:rPr lang="en-US" sz="7850" b="1" smtClean="0">
                <a:solidFill>
                  <a:srgbClr val="1836B2"/>
                </a:solidFill>
                <a:latin typeface="+mj-lt"/>
                <a:ea typeface="Cabin Semi-Bold"/>
                <a:cs typeface="Cabin Semi-Bold"/>
                <a:sym typeface="Cabin Semi-Bold"/>
              </a:rPr>
              <a:t>Thiết kế </a:t>
            </a:r>
            <a:r>
              <a:rPr lang="vi-VN" sz="7850" b="1" smtClean="0">
                <a:solidFill>
                  <a:srgbClr val="1836B2"/>
                </a:solidFill>
                <a:latin typeface="+mj-lt"/>
                <a:ea typeface="Cabin Semi-Bold"/>
                <a:cs typeface="Cabin Semi-Bold"/>
                <a:sym typeface="Cabin Semi-Bold"/>
              </a:rPr>
              <a:t>hệ </a:t>
            </a:r>
            <a:r>
              <a:rPr lang="vi-VN" sz="7850" b="1">
                <a:solidFill>
                  <a:srgbClr val="1836B2"/>
                </a:solidFill>
                <a:latin typeface="+mj-lt"/>
                <a:ea typeface="Cabin Semi-Bold"/>
                <a:cs typeface="Cabin Semi-Bold"/>
                <a:sym typeface="Cabin Semi-Bold"/>
              </a:rPr>
              <a:t>thống</a:t>
            </a:r>
            <a:endParaRPr lang="en-US" sz="785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a:t>
              </a:r>
              <a:r>
                <a:rPr lang="vi-VN" sz="2800"/>
                <a:t>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a:t>
              </a:r>
              <a:r>
                <a:rPr lang="vi-VN" sz="2800"/>
                <a:t>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a:t>
              </a:r>
              <a:r>
                <a:rPr lang="vi-VN" sz="2800"/>
                <a:t>, </a:t>
              </a:r>
              <a:r>
                <a:rPr lang="vi-VN" sz="2800" smtClean="0"/>
                <a:t>t</a:t>
              </a:r>
              <a:r>
                <a:rPr lang="en-US" sz="2800" smtClean="0"/>
                <a:t>iếp tục, mở cài đặt</a:t>
              </a:r>
              <a:r>
                <a:rPr lang="vi-VN" sz="2800" smtClean="0"/>
                <a:t> </a:t>
              </a:r>
              <a:r>
                <a:rPr lang="vi-VN" sz="2800"/>
                <a:t>hoặc thoát trò </a:t>
              </a:r>
              <a:r>
                <a:rPr lang="vi-VN" sz="2800"/>
                <a:t>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a:t>
              </a:r>
              <a:r>
                <a:rPr lang="vi-VN" sz="2800"/>
                <a:t>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a:t>
              </a:r>
              <a:r>
                <a:rPr lang="vi-VN" sz="2800"/>
                <a:t>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a:t>
              </a:r>
              <a:r>
                <a:rPr lang="vi-VN" sz="2800"/>
                <a:t>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a:t>
              </a:r>
              <a:r>
                <a:rPr lang="vi-VN" sz="2800"/>
                <a:t>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a:t>
              </a:r>
              <a:r>
                <a:rPr lang="vi-VN" sz="2800"/>
                <a:t>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a:t>
              </a:r>
              <a:r>
                <a:rPr lang="vi-VN" sz="2800"/>
                <a:t>chơi </a:t>
              </a:r>
              <a:r>
                <a:rPr lang="en-US" sz="2800" smtClean="0"/>
                <a:t>kích hoạt cổng dịch chuyển </a:t>
              </a:r>
              <a:r>
                <a:rPr lang="vi-VN" sz="2800" smtClean="0"/>
                <a:t>hoặc </a:t>
              </a:r>
              <a:r>
                <a:rPr lang="vi-VN" sz="2800"/>
                <a:t>nhân vật bị tiêu diệt.</a:t>
              </a:r>
              <a:endParaRPr lang="vi-VN" sz="2800"/>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1102866"/>
          </a:xfrm>
          <a:prstGeom prst="rect">
            <a:avLst/>
          </a:prstGeom>
        </p:spPr>
        <p:txBody>
          <a:bodyPr wrap="square" lIns="0" tIns="0" rIns="0" bIns="0" rtlCol="0" anchor="t">
            <a:spAutoFit/>
          </a:bodyPr>
          <a:lstStyle/>
          <a:p>
            <a:pPr lvl="0">
              <a:lnSpc>
                <a:spcPts val="8635"/>
              </a:lnSpc>
              <a:spcBef>
                <a:spcPct val="0"/>
              </a:spcBef>
            </a:pPr>
            <a:r>
              <a:rPr lang="en-US" sz="7850" b="1" smtClean="0">
                <a:solidFill>
                  <a:srgbClr val="1836B2"/>
                </a:solidFill>
                <a:latin typeface="+mj-lt"/>
                <a:ea typeface="Cabin Semi-Bold"/>
                <a:cs typeface="Cabin Semi-Bold"/>
                <a:sym typeface="Cabin Semi-Bold"/>
              </a:rPr>
              <a:t>6</a:t>
            </a:r>
            <a:r>
              <a:rPr lang="vi-VN" sz="7850" b="1" smtClean="0">
                <a:solidFill>
                  <a:srgbClr val="1836B2"/>
                </a:solidFill>
                <a:latin typeface="+mj-lt"/>
                <a:ea typeface="Cabin Semi-Bold"/>
                <a:cs typeface="Cabin Semi-Bold"/>
                <a:sym typeface="Cabin Semi-Bold"/>
              </a:rPr>
              <a:t>. </a:t>
            </a:r>
            <a:r>
              <a:rPr lang="en-US" sz="7850" b="1" smtClean="0">
                <a:solidFill>
                  <a:srgbClr val="1836B2"/>
                </a:solidFill>
                <a:latin typeface="+mj-lt"/>
                <a:ea typeface="Cabin Semi-Bold"/>
                <a:cs typeface="Cabin Semi-Bold"/>
                <a:sym typeface="Cabin Semi-Bold"/>
              </a:rPr>
              <a:t>Thiết kế </a:t>
            </a:r>
            <a:r>
              <a:rPr lang="vi-VN" sz="7850" b="1" smtClean="0">
                <a:solidFill>
                  <a:srgbClr val="1836B2"/>
                </a:solidFill>
                <a:latin typeface="+mj-lt"/>
                <a:ea typeface="Cabin Semi-Bold"/>
                <a:cs typeface="Cabin Semi-Bold"/>
                <a:sym typeface="Cabin Semi-Bold"/>
              </a:rPr>
              <a:t>hệ </a:t>
            </a:r>
            <a:r>
              <a:rPr lang="vi-VN" sz="7850" b="1">
                <a:solidFill>
                  <a:srgbClr val="1836B2"/>
                </a:solidFill>
                <a:latin typeface="+mj-lt"/>
                <a:ea typeface="Cabin Semi-Bold"/>
                <a:cs typeface="Cabin Semi-Bold"/>
                <a:sym typeface="Cabin Semi-Bold"/>
              </a:rPr>
              <a:t>thống</a:t>
            </a:r>
            <a:endParaRPr lang="en-US" sz="785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1219200" y="3708618"/>
            <a:ext cx="5791200" cy="2800767"/>
          </a:xfrm>
          <a:prstGeom prst="rect">
            <a:avLst/>
          </a:prstGeom>
          <a:noFill/>
        </p:spPr>
        <p:txBody>
          <a:bodyPr wrap="square" rtlCol="0">
            <a:spAutoFit/>
          </a:bodyPr>
          <a:lstStyle/>
          <a:p>
            <a:pPr algn="just"/>
            <a:r>
              <a:rPr lang="it-IT" sz="2800" b="1"/>
              <a:t>Chức năng tra cứu</a:t>
            </a:r>
            <a:endParaRPr lang="vi-VN" sz="2800" b="1"/>
          </a:p>
          <a:p>
            <a:pPr algn="just"/>
            <a:endParaRPr lang="en-US" sz="2800" smtClean="0">
              <a:effectLst/>
              <a:latin typeface="Times New Roman" panose="02020603050405020304" pitchFamily="18" charset="0"/>
              <a:ea typeface="SimSun" panose="02010600030101010101" pitchFamily="2" charset="-122"/>
              <a:cs typeface="Times New Roman" panose="02020603050405020304" pitchFamily="18" charset="0"/>
            </a:endParaRPr>
          </a:p>
          <a:p>
            <a:pPr algn="just"/>
            <a:r>
              <a:rPr lang="vi-VN" sz="2400"/>
              <a:t>Chức năng tìm kiếm hoạt động hiệu quả với thanh tìm kiếm và bộ lọc, cho phép người dùng tra cứu nhanh nội dung theo danh mục, từ khóa hoặc các tiêu chí liên quan.</a:t>
            </a:r>
            <a:endParaRPr lang="vi-VN" sz="2400">
              <a:latin typeface="Times New Roman" panose="02020603050405020304" pitchFamily="18" charset="0"/>
              <a:cs typeface="Times New Roman" panose="02020603050405020304" pitchFamily="18" charset="0"/>
            </a:endParaRP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02864" y="2354847"/>
            <a:ext cx="7920000" cy="689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95059" y="2354846"/>
            <a:ext cx="2607805" cy="6030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ectangle 12"/>
          <p:cNvSpPr/>
          <p:nvPr/>
        </p:nvSpPr>
        <p:spPr>
          <a:xfrm>
            <a:off x="7595060" y="2354846"/>
            <a:ext cx="2607804" cy="60309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p:cNvSpPr/>
          <p:nvPr/>
        </p:nvSpPr>
        <p:spPr>
          <a:xfrm>
            <a:off x="10202864" y="2354848"/>
            <a:ext cx="7920000" cy="689304"/>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3E4D9C-CD06-FE8B-A47A-A01E1F5A6DFD}"/>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848D0470-D3EB-B35D-4658-981AA1A1DB3D}"/>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5E6E0D4-6DBB-B743-587A-8E6E2E259FA9}"/>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AE2C5124-766E-5AFD-2FF9-3FEEBE87053E}"/>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DCE6EEFD-DE85-4ACB-9217-B14DCC0D2894}"/>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0F8672B9-A9E6-96EE-A148-834839226C46}"/>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FB381331-6022-6705-608C-D13B20EDAD75}"/>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22E2B2C1-F594-63DA-94DE-727EAD3B7722}"/>
              </a:ext>
            </a:extLst>
          </p:cNvPr>
          <p:cNvSpPr txBox="1"/>
          <p:nvPr/>
        </p:nvSpPr>
        <p:spPr>
          <a:xfrm>
            <a:off x="1203960" y="3734512"/>
            <a:ext cx="6416040" cy="2431435"/>
          </a:xfrm>
          <a:prstGeom prst="rect">
            <a:avLst/>
          </a:prstGeom>
          <a:noFill/>
        </p:spPr>
        <p:txBody>
          <a:bodyPr wrap="square" rtlCol="0">
            <a:spAutoFit/>
          </a:bodyPr>
          <a:lstStyle/>
          <a:p>
            <a:pPr algn="just"/>
            <a:r>
              <a:rPr lang="it-IT" sz="2800" b="1"/>
              <a:t>Chức năng đăng nhập và đăng kí </a:t>
            </a:r>
            <a:endParaRPr lang="vi-VN" sz="2800" b="1"/>
          </a:p>
          <a:p>
            <a:pPr algn="just"/>
            <a:endParaRPr lang="en-US" sz="2800" smtClean="0">
              <a:effectLst/>
              <a:latin typeface="+mj-lt"/>
              <a:ea typeface="SimSun" panose="02010600030101010101" pitchFamily="2" charset="-122"/>
              <a:cs typeface="Times New Roman" panose="02020603050405020304" pitchFamily="18" charset="0"/>
            </a:endParaRPr>
          </a:p>
          <a:p>
            <a:pPr algn="just"/>
            <a:r>
              <a:rPr lang="vi-VN" sz="2400" smtClean="0">
                <a:effectLst/>
                <a:latin typeface="+mj-lt"/>
                <a:ea typeface="SimSun" panose="02010600030101010101" pitchFamily="2" charset="-122"/>
                <a:cs typeface="Times New Roman" panose="02020603050405020304" pitchFamily="18" charset="0"/>
              </a:rPr>
              <a:t>Chức </a:t>
            </a:r>
            <a:r>
              <a:rPr lang="vi-VN" sz="2400">
                <a:effectLst/>
                <a:latin typeface="+mj-lt"/>
                <a:ea typeface="SimSun" panose="02010600030101010101" pitchFamily="2" charset="-122"/>
                <a:cs typeface="Times New Roman" panose="02020603050405020304" pitchFamily="18" charset="0"/>
              </a:rPr>
              <a:t>năng đăng nhập và đăng kí hoạt động hiệu quả khi cho phép người dùng đăng nhập khi đã có tài khoản hoặc đăng kí một cách nhanh </a:t>
            </a:r>
            <a:r>
              <a:rPr lang="vi-VN" sz="2400" smtClean="0">
                <a:effectLst/>
                <a:latin typeface="+mj-lt"/>
                <a:ea typeface="SimSun" panose="02010600030101010101" pitchFamily="2" charset="-122"/>
                <a:cs typeface="Times New Roman" panose="02020603050405020304" pitchFamily="18" charset="0"/>
              </a:rPr>
              <a:t>chóng</a:t>
            </a:r>
            <a:r>
              <a:rPr lang="en-US" sz="2400" smtClean="0">
                <a:effectLst/>
                <a:latin typeface="+mj-lt"/>
                <a:ea typeface="SimSun" panose="02010600030101010101" pitchFamily="2" charset="-122"/>
                <a:cs typeface="Times New Roman" panose="02020603050405020304" pitchFamily="18" charset="0"/>
              </a:rPr>
              <a:t>.</a:t>
            </a:r>
            <a:endParaRPr lang="vi-VN" sz="2400">
              <a:latin typeface="+mj-lt"/>
              <a:cs typeface="Times New Roman" panose="02020603050405020304" pitchFamily="18" charset="0"/>
            </a:endParaRPr>
          </a:p>
        </p:txBody>
      </p:sp>
      <p:pic>
        <p:nvPicPr>
          <p:cNvPr id="12" name="Picture 11"/>
          <p:cNvPicPr>
            <a:picLocks noChangeAspect="1"/>
          </p:cNvPicPr>
          <p:nvPr/>
        </p:nvPicPr>
        <p:blipFill>
          <a:blip r:embed="rId2"/>
          <a:stretch>
            <a:fillRect/>
          </a:stretch>
        </p:blipFill>
        <p:spPr>
          <a:xfrm>
            <a:off x="9601200" y="266700"/>
            <a:ext cx="7467600" cy="3829822"/>
          </a:xfrm>
          <a:prstGeom prst="rect">
            <a:avLst/>
          </a:prstGeom>
        </p:spPr>
      </p:pic>
      <p:pic>
        <p:nvPicPr>
          <p:cNvPr id="13" name="Picture 12"/>
          <p:cNvPicPr>
            <a:picLocks noChangeAspect="1"/>
          </p:cNvPicPr>
          <p:nvPr/>
        </p:nvPicPr>
        <p:blipFill>
          <a:blip r:embed="rId3"/>
          <a:stretch>
            <a:fillRect/>
          </a:stretch>
        </p:blipFill>
        <p:spPr>
          <a:xfrm>
            <a:off x="9601201" y="4096523"/>
            <a:ext cx="7467600" cy="5022870"/>
          </a:xfrm>
          <a:prstGeom prst="rect">
            <a:avLst/>
          </a:prstGeom>
        </p:spPr>
      </p:pic>
    </p:spTree>
    <p:extLst>
      <p:ext uri="{BB962C8B-B14F-4D97-AF65-F5344CB8AC3E}">
        <p14:creationId xmlns:p14="http://schemas.microsoft.com/office/powerpoint/2010/main" val="81142653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AD0F98-ABDC-46F4-2CB7-785E82D1475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AE47BC2-AC95-8D27-87AC-B913C6DBC6EC}"/>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82B76BF-97EB-7342-A599-6200D0F47F43}"/>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A31EC844-17C3-7ED9-43B0-5FC2E21268D4}"/>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EE377FFF-729F-2DC4-4A44-F969D6B1BF7E}"/>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3B9C40D7-3132-D92B-949D-079E56B69C2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7DC5A205-AF2F-DE9F-3534-8EC4DAB3D893}"/>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15EB492-CBAE-1F9D-D372-E8D20238B0F7}"/>
              </a:ext>
            </a:extLst>
          </p:cNvPr>
          <p:cNvSpPr txBox="1"/>
          <p:nvPr/>
        </p:nvSpPr>
        <p:spPr>
          <a:xfrm>
            <a:off x="1219200" y="3238500"/>
            <a:ext cx="6416040" cy="2800767"/>
          </a:xfrm>
          <a:prstGeom prst="rect">
            <a:avLst/>
          </a:prstGeom>
          <a:noFill/>
        </p:spPr>
        <p:txBody>
          <a:bodyPr wrap="square" rtlCol="0">
            <a:spAutoFit/>
          </a:bodyPr>
          <a:lstStyle/>
          <a:p>
            <a:pPr algn="just"/>
            <a:r>
              <a:rPr lang="it-IT" sz="2800" b="1"/>
              <a:t>Chức năng chia sẻ tài </a:t>
            </a:r>
            <a:r>
              <a:rPr lang="it-IT" sz="2800" b="1" smtClean="0"/>
              <a:t>liệu</a:t>
            </a:r>
          </a:p>
          <a:p>
            <a:pPr algn="just"/>
            <a:endParaRPr lang="en-US" sz="2800" smtClean="0">
              <a:effectLst/>
              <a:latin typeface="Times New Roman" panose="02020603050405020304" pitchFamily="18" charset="0"/>
              <a:ea typeface="SimSun" panose="02010600030101010101" pitchFamily="2" charset="-122"/>
              <a:cs typeface="Times New Roman" panose="02020603050405020304" pitchFamily="18" charset="0"/>
            </a:endParaRPr>
          </a:p>
          <a:p>
            <a:pPr algn="just"/>
            <a:r>
              <a:rPr lang="vi-VN" sz="2400"/>
              <a:t>Cho phép sinh viên đăng tải tài liệu học tập lên hệ thống kèm theo thông tin mô tả như tên môn học, chuyên ngành và loại tài liệu, giúp việc chia sẻ và quản lý tài liệu hiệu quả hơn.</a:t>
            </a:r>
            <a:endParaRPr lang="vi-VN" sz="24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rotWithShape="1">
          <a:blip r:embed="rId2"/>
          <a:srcRect r="1229"/>
          <a:stretch/>
        </p:blipFill>
        <p:spPr>
          <a:xfrm>
            <a:off x="8474686" y="2324100"/>
            <a:ext cx="9381514" cy="5342453"/>
          </a:xfrm>
          <a:prstGeom prst="rect">
            <a:avLst/>
          </a:prstGeom>
        </p:spPr>
      </p:pic>
      <p:sp>
        <p:nvSpPr>
          <p:cNvPr id="13" name="Rectangle 12"/>
          <p:cNvSpPr/>
          <p:nvPr/>
        </p:nvSpPr>
        <p:spPr>
          <a:xfrm>
            <a:off x="8474686" y="2324100"/>
            <a:ext cx="9381514" cy="534245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4970689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0AEE4E8-DBFD-9E36-D336-9BD773DAA1C7}"/>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BC239703-1380-AB24-0155-6F7FD2AFF7C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EFFDDAF-DE85-3CB1-C841-EC0440CE0B52}"/>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6715F35C-BAE5-C02E-67A7-530D0ADD67E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29231D8B-C637-CE91-53D0-3E38CDC3CD31}"/>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3366FE18-E7E9-767B-70EB-DF48712301B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518A9E19-F0E1-C605-1AD4-8F91F76C16FA}"/>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0F323897-35A8-F05B-F0DD-87D444F1C836}"/>
              </a:ext>
            </a:extLst>
          </p:cNvPr>
          <p:cNvSpPr txBox="1"/>
          <p:nvPr/>
        </p:nvSpPr>
        <p:spPr>
          <a:xfrm>
            <a:off x="1219200" y="3239212"/>
            <a:ext cx="6416040" cy="2677656"/>
          </a:xfrm>
          <a:prstGeom prst="rect">
            <a:avLst/>
          </a:prstGeom>
          <a:noFill/>
        </p:spPr>
        <p:txBody>
          <a:bodyPr wrap="square" rtlCol="0">
            <a:spAutoFit/>
          </a:bodyPr>
          <a:lstStyle/>
          <a:p>
            <a:pPr algn="just"/>
            <a:r>
              <a:rPr lang="vi-VN" sz="2800" b="1">
                <a:latin typeface="+mj-lt"/>
              </a:rPr>
              <a:t>Chức năng xem </a:t>
            </a:r>
            <a:r>
              <a:rPr lang="en-US" sz="2800" b="1" smtClean="0">
                <a:latin typeface="+mj-lt"/>
              </a:rPr>
              <a:t>danh sách tài liệu</a:t>
            </a:r>
            <a:endParaRPr lang="vi-VN" sz="2800" b="1">
              <a:latin typeface="+mj-lt"/>
            </a:endParaRPr>
          </a:p>
          <a:p>
            <a:pPr algn="just"/>
            <a:endParaRPr lang="en-US" sz="2800" smtClean="0">
              <a:effectLst/>
              <a:latin typeface="+mj-lt"/>
              <a:ea typeface="SimSun" panose="02010600030101010101" pitchFamily="2" charset="-122"/>
              <a:cs typeface="Times New Roman" panose="02020603050405020304" pitchFamily="18" charset="0"/>
            </a:endParaRPr>
          </a:p>
          <a:p>
            <a:pPr algn="just"/>
            <a:r>
              <a:rPr lang="vi-VN" sz="2800" smtClean="0">
                <a:effectLst/>
                <a:latin typeface="+mj-lt"/>
                <a:ea typeface="SimSun" panose="02010600030101010101" pitchFamily="2" charset="-122"/>
                <a:cs typeface="Times New Roman" panose="02020603050405020304" pitchFamily="18" charset="0"/>
              </a:rPr>
              <a:t>Chức </a:t>
            </a:r>
            <a:r>
              <a:rPr lang="vi-VN" sz="2800">
                <a:effectLst/>
                <a:latin typeface="+mj-lt"/>
                <a:ea typeface="SimSun" panose="02010600030101010101" pitchFamily="2" charset="-122"/>
                <a:cs typeface="Times New Roman" panose="02020603050405020304" pitchFamily="18" charset="0"/>
              </a:rPr>
              <a:t>năng xem </a:t>
            </a:r>
            <a:r>
              <a:rPr lang="en-US" sz="2800" smtClean="0">
                <a:effectLst/>
                <a:latin typeface="+mj-lt"/>
                <a:ea typeface="SimSun" panose="02010600030101010101" pitchFamily="2" charset="-122"/>
                <a:cs typeface="Times New Roman" panose="02020603050405020304" pitchFamily="18" charset="0"/>
              </a:rPr>
              <a:t>danh sách tài liệu </a:t>
            </a:r>
            <a:r>
              <a:rPr lang="vi-VN" sz="2800" smtClean="0">
                <a:effectLst/>
                <a:latin typeface="+mj-lt"/>
                <a:ea typeface="SimSun" panose="02010600030101010101" pitchFamily="2" charset="-122"/>
                <a:cs typeface="Times New Roman" panose="02020603050405020304" pitchFamily="18" charset="0"/>
              </a:rPr>
              <a:t>cho </a:t>
            </a:r>
            <a:r>
              <a:rPr lang="vi-VN" sz="2800">
                <a:effectLst/>
                <a:latin typeface="+mj-lt"/>
                <a:ea typeface="SimSun" panose="02010600030101010101" pitchFamily="2" charset="-122"/>
                <a:cs typeface="Times New Roman" panose="02020603050405020304" pitchFamily="18" charset="0"/>
              </a:rPr>
              <a:t>phép người dùng </a:t>
            </a:r>
            <a:r>
              <a:rPr lang="vi-VN" sz="2800" smtClean="0">
                <a:effectLst/>
                <a:latin typeface="+mj-lt"/>
                <a:ea typeface="SimSun" panose="02010600030101010101" pitchFamily="2" charset="-122"/>
                <a:cs typeface="Times New Roman" panose="02020603050405020304" pitchFamily="18" charset="0"/>
              </a:rPr>
              <a:t>xem</a:t>
            </a:r>
            <a:r>
              <a:rPr lang="en-US" sz="2800" smtClean="0">
                <a:effectLst/>
                <a:latin typeface="+mj-lt"/>
                <a:ea typeface="SimSun" panose="02010600030101010101" pitchFamily="2" charset="-122"/>
                <a:cs typeface="Times New Roman" panose="02020603050405020304" pitchFamily="18" charset="0"/>
              </a:rPr>
              <a:t> thông tin</a:t>
            </a:r>
            <a:r>
              <a:rPr lang="vi-VN" sz="2800" smtClean="0">
                <a:effectLst/>
                <a:latin typeface="+mj-lt"/>
                <a:ea typeface="SimSun" panose="02010600030101010101" pitchFamily="2" charset="-122"/>
                <a:cs typeface="Times New Roman" panose="02020603050405020304" pitchFamily="18" charset="0"/>
              </a:rPr>
              <a:t> những </a:t>
            </a:r>
            <a:r>
              <a:rPr lang="en-US" sz="2800" smtClean="0">
                <a:effectLst/>
                <a:latin typeface="+mj-lt"/>
                <a:ea typeface="SimSun" panose="02010600030101010101" pitchFamily="2" charset="-122"/>
                <a:cs typeface="Times New Roman" panose="02020603050405020304" pitchFamily="18" charset="0"/>
              </a:rPr>
              <a:t>tài liệu hiện có </a:t>
            </a:r>
            <a:r>
              <a:rPr lang="vi-VN" sz="2800" smtClean="0">
                <a:effectLst/>
                <a:latin typeface="+mj-lt"/>
                <a:ea typeface="SimSun" panose="02010600030101010101" pitchFamily="2" charset="-122"/>
                <a:cs typeface="Times New Roman" panose="02020603050405020304" pitchFamily="18" charset="0"/>
              </a:rPr>
              <a:t>trong </a:t>
            </a:r>
            <a:r>
              <a:rPr lang="en-US" sz="2800" smtClean="0">
                <a:effectLst/>
                <a:latin typeface="+mj-lt"/>
                <a:ea typeface="SimSun" panose="02010600030101010101" pitchFamily="2" charset="-122"/>
                <a:cs typeface="Times New Roman" panose="02020603050405020304" pitchFamily="18" charset="0"/>
              </a:rPr>
              <a:t>hệ thống kèm nút tải xuống tài liệu</a:t>
            </a:r>
            <a:r>
              <a:rPr lang="vi-VN" sz="2800" smtClean="0">
                <a:effectLst/>
                <a:latin typeface="+mj-lt"/>
                <a:ea typeface="SimSun" panose="02010600030101010101" pitchFamily="2" charset="-122"/>
                <a:cs typeface="Times New Roman" panose="02020603050405020304" pitchFamily="18" charset="0"/>
              </a:rPr>
              <a:t>.</a:t>
            </a:r>
            <a:endParaRPr lang="vi-VN" sz="2800">
              <a:latin typeface="+mj-lt"/>
              <a:cs typeface="Times New Roman" panose="02020603050405020304" pitchFamily="18" charset="0"/>
            </a:endParaRP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89900" y="2400300"/>
            <a:ext cx="10021887" cy="62009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Rectangle 11"/>
          <p:cNvSpPr/>
          <p:nvPr/>
        </p:nvSpPr>
        <p:spPr>
          <a:xfrm>
            <a:off x="8089900" y="2400300"/>
            <a:ext cx="10021887" cy="620094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9153752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612CC0-84F2-DAEC-25F3-B958375F54ED}"/>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488042AA-0DB1-5920-22B7-12A05105A890}"/>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830D4CB-A2B3-58B2-4FDC-1BFB98FDC8D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F7855C2B-21B1-E235-CADD-4EC1FAAB807A}"/>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34D984A9-0ACF-28B0-26D9-2A227F1112BA}"/>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349EE804-D188-6073-38F8-94F50DCEF1A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17CCFB68-0E0D-6D04-4D0C-E612FB31C4F2}"/>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46D27896-0D6E-6579-D690-C0B23B649C0F}"/>
              </a:ext>
            </a:extLst>
          </p:cNvPr>
          <p:cNvSpPr txBox="1"/>
          <p:nvPr/>
        </p:nvSpPr>
        <p:spPr>
          <a:xfrm>
            <a:off x="1219200" y="3685520"/>
            <a:ext cx="6416040" cy="2246769"/>
          </a:xfrm>
          <a:prstGeom prst="rect">
            <a:avLst/>
          </a:prstGeom>
          <a:noFill/>
        </p:spPr>
        <p:txBody>
          <a:bodyPr wrap="square" rtlCol="0">
            <a:spAutoFit/>
          </a:bodyPr>
          <a:lstStyle/>
          <a:p>
            <a:pPr algn="just"/>
            <a:r>
              <a:rPr lang="vi-VN" sz="2800" b="1"/>
              <a:t>Chức năng </a:t>
            </a:r>
            <a:r>
              <a:rPr lang="en-US" sz="2800" b="1" smtClean="0"/>
              <a:t>đặt câu hỏi</a:t>
            </a:r>
            <a:endParaRPr lang="vi-VN" sz="2800" b="1"/>
          </a:p>
          <a:p>
            <a:pPr algn="just"/>
            <a:endParaRPr lang="en-US" sz="2800" smtClean="0">
              <a:effectLst/>
              <a:latin typeface="+mj-lt"/>
              <a:ea typeface="SimSun" panose="02010600030101010101" pitchFamily="2" charset="-122"/>
              <a:cs typeface="Times New Roman" panose="02020603050405020304" pitchFamily="18" charset="0"/>
            </a:endParaRPr>
          </a:p>
          <a:p>
            <a:pPr algn="just"/>
            <a:r>
              <a:rPr lang="vi-VN" sz="2800"/>
              <a:t>Cho phép sinh viên tạo và gửi câu hỏi liên quan đến nội dung học tập để nhận được sự hỗ trợ từ cộng đồng.</a:t>
            </a:r>
            <a:endParaRPr lang="vi-VN" sz="2800">
              <a:latin typeface="+mj-lt"/>
              <a:cs typeface="Times New Roman" panose="02020603050405020304" pitchFamily="18" charset="0"/>
            </a:endParaRP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35240" y="2107357"/>
            <a:ext cx="5203733" cy="55369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38973" y="2136032"/>
            <a:ext cx="5372827" cy="3073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ectangle 12"/>
          <p:cNvSpPr/>
          <p:nvPr/>
        </p:nvSpPr>
        <p:spPr>
          <a:xfrm>
            <a:off x="7635240" y="2107357"/>
            <a:ext cx="5203733" cy="553690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p:cNvSpPr/>
          <p:nvPr/>
        </p:nvSpPr>
        <p:spPr>
          <a:xfrm>
            <a:off x="12838972" y="2107357"/>
            <a:ext cx="5372827" cy="310225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14879084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612CC0-84F2-DAEC-25F3-B958375F54ED}"/>
            </a:ext>
          </a:extLst>
        </p:cNvPr>
        <p:cNvGrpSpPr/>
        <p:nvPr/>
      </p:nvGrpSpPr>
      <p:grpSpPr>
        <a:xfrm>
          <a:off x="0" y="0"/>
          <a:ext cx="0" cy="0"/>
          <a:chOff x="0" y="0"/>
          <a:chExt cx="0" cy="0"/>
        </a:xfrm>
      </p:grpSpPr>
      <p:grpSp>
        <p:nvGrpSpPr>
          <p:cNvPr id="2" name="Group 1"/>
          <p:cNvGrpSpPr/>
          <p:nvPr/>
        </p:nvGrpSpPr>
        <p:grpSpPr>
          <a:xfrm>
            <a:off x="9890735" y="1638299"/>
            <a:ext cx="6730233" cy="7221447"/>
            <a:chOff x="9143999" y="2628900"/>
            <a:chExt cx="5341214" cy="5974260"/>
          </a:xfrm>
        </p:grpSpPr>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3999" y="2628900"/>
              <a:ext cx="5341212" cy="415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1" y="6783387"/>
              <a:ext cx="5341212" cy="18197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7" name="AutoShape 7">
            <a:extLst>
              <a:ext uri="{FF2B5EF4-FFF2-40B4-BE49-F238E27FC236}">
                <a16:creationId xmlns:a16="http://schemas.microsoft.com/office/drawing/2014/main" xmlns="" id="{488042AA-0DB1-5920-22B7-12A05105A890}"/>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830D4CB-A2B3-58B2-4FDC-1BFB98FDC8D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F7855C2B-21B1-E235-CADD-4EC1FAAB807A}"/>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34D984A9-0ACF-28B0-26D9-2A227F1112BA}"/>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349EE804-D188-6073-38F8-94F50DCEF1A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17CCFB68-0E0D-6D04-4D0C-E612FB31C4F2}"/>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46D27896-0D6E-6579-D690-C0B23B649C0F}"/>
              </a:ext>
            </a:extLst>
          </p:cNvPr>
          <p:cNvSpPr txBox="1"/>
          <p:nvPr/>
        </p:nvSpPr>
        <p:spPr>
          <a:xfrm>
            <a:off x="1219200" y="3685520"/>
            <a:ext cx="6416040" cy="2677656"/>
          </a:xfrm>
          <a:prstGeom prst="rect">
            <a:avLst/>
          </a:prstGeom>
          <a:noFill/>
        </p:spPr>
        <p:txBody>
          <a:bodyPr wrap="square" rtlCol="0">
            <a:spAutoFit/>
          </a:bodyPr>
          <a:lstStyle/>
          <a:p>
            <a:pPr algn="just"/>
            <a:r>
              <a:rPr lang="vi-VN" sz="2800" b="1"/>
              <a:t>Chức năng </a:t>
            </a:r>
            <a:r>
              <a:rPr lang="en-US" sz="2800" b="1" smtClean="0"/>
              <a:t>xem chi tiết câu hỏi và trả lời</a:t>
            </a:r>
            <a:endParaRPr lang="vi-VN" sz="2800" b="1"/>
          </a:p>
          <a:p>
            <a:pPr algn="just"/>
            <a:endParaRPr lang="en-US" sz="2800" smtClean="0">
              <a:effectLst/>
              <a:latin typeface="+mj-lt"/>
              <a:ea typeface="SimSun" panose="02010600030101010101" pitchFamily="2" charset="-122"/>
              <a:cs typeface="Times New Roman" panose="02020603050405020304" pitchFamily="18" charset="0"/>
            </a:endParaRPr>
          </a:p>
          <a:p>
            <a:pPr algn="just"/>
            <a:r>
              <a:rPr lang="vi-VN" sz="2800"/>
              <a:t>Cho phép sinh viên xem nội dung câu hỏi, các câu trả lời liên quan và thông tin trao đổi trong quá trình thảo luận.</a:t>
            </a:r>
            <a:endParaRPr lang="vi-VN" sz="2800">
              <a:latin typeface="+mj-lt"/>
              <a:cs typeface="Times New Roman" panose="02020603050405020304" pitchFamily="18" charset="0"/>
            </a:endParaRPr>
          </a:p>
        </p:txBody>
      </p:sp>
      <p:sp>
        <p:nvSpPr>
          <p:cNvPr id="3" name="Rectangle 2"/>
          <p:cNvSpPr/>
          <p:nvPr/>
        </p:nvSpPr>
        <p:spPr>
          <a:xfrm>
            <a:off x="9890734" y="1638298"/>
            <a:ext cx="6730233" cy="722144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80389502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612CC0-84F2-DAEC-25F3-B958375F54ED}"/>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488042AA-0DB1-5920-22B7-12A05105A890}"/>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830D4CB-A2B3-58B2-4FDC-1BFB98FDC8D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F7855C2B-21B1-E235-CADD-4EC1FAAB807A}"/>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34D984A9-0ACF-28B0-26D9-2A227F1112BA}"/>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349EE804-D188-6073-38F8-94F50DCEF1A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17CCFB68-0E0D-6D04-4D0C-E612FB31C4F2}"/>
              </a:ext>
            </a:extLst>
          </p:cNvPr>
          <p:cNvSpPr txBox="1"/>
          <p:nvPr/>
        </p:nvSpPr>
        <p:spPr>
          <a:xfrm>
            <a:off x="1059218" y="991667"/>
            <a:ext cx="9761182" cy="1115690"/>
          </a:xfrm>
          <a:prstGeom prst="rect">
            <a:avLst/>
          </a:prstGeom>
        </p:spPr>
        <p:txBody>
          <a:bodyPr wrap="square" lIns="0" tIns="0" rIns="0" bIns="0" rtlCol="0" anchor="t">
            <a:spAutoFit/>
          </a:bodyPr>
          <a:lstStyle/>
          <a:p>
            <a:pPr marL="0" lvl="0" indent="0" algn="l">
              <a:lnSpc>
                <a:spcPts val="8717"/>
              </a:lnSpc>
              <a:spcBef>
                <a:spcPct val="0"/>
              </a:spcBef>
            </a:pPr>
            <a:r>
              <a:rPr lang="vi-VN" sz="7925" b="1" u="none">
                <a:solidFill>
                  <a:srgbClr val="1836B2"/>
                </a:solidFill>
                <a:latin typeface="+mj-lt"/>
                <a:ea typeface="Cabin Semi-Bold"/>
                <a:cs typeface="Cabin Semi-Bold"/>
                <a:sym typeface="Cabin Semi-Bold"/>
              </a:rPr>
              <a:t>9.Kết quả nghiên cứu </a:t>
            </a:r>
            <a:endParaRPr lang="en-US" sz="7925"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46D27896-0D6E-6579-D690-C0B23B649C0F}"/>
              </a:ext>
            </a:extLst>
          </p:cNvPr>
          <p:cNvSpPr txBox="1"/>
          <p:nvPr/>
        </p:nvSpPr>
        <p:spPr>
          <a:xfrm>
            <a:off x="1219200" y="3685520"/>
            <a:ext cx="6416040" cy="2246769"/>
          </a:xfrm>
          <a:prstGeom prst="rect">
            <a:avLst/>
          </a:prstGeom>
          <a:noFill/>
        </p:spPr>
        <p:txBody>
          <a:bodyPr wrap="square" rtlCol="0">
            <a:spAutoFit/>
          </a:bodyPr>
          <a:lstStyle/>
          <a:p>
            <a:pPr algn="just"/>
            <a:r>
              <a:rPr lang="vi-VN" sz="2800" b="1"/>
              <a:t>Chức năng </a:t>
            </a:r>
            <a:r>
              <a:rPr lang="en-US" sz="2800" b="1" smtClean="0"/>
              <a:t>báo cáo vi phạm</a:t>
            </a:r>
            <a:endParaRPr lang="vi-VN" sz="2800" b="1"/>
          </a:p>
          <a:p>
            <a:pPr algn="just"/>
            <a:endParaRPr lang="en-US" sz="2800" smtClean="0">
              <a:effectLst/>
              <a:latin typeface="+mj-lt"/>
              <a:ea typeface="SimSun" panose="02010600030101010101" pitchFamily="2" charset="-122"/>
              <a:cs typeface="Times New Roman" panose="02020603050405020304" pitchFamily="18" charset="0"/>
            </a:endParaRPr>
          </a:p>
          <a:p>
            <a:pPr algn="just"/>
            <a:r>
              <a:rPr lang="vi-VN" sz="2800"/>
              <a:t>Cho phép sinh viên </a:t>
            </a:r>
            <a:r>
              <a:rPr lang="en-US" sz="2800" smtClean="0"/>
              <a:t>báo cáo vi phạm</a:t>
            </a:r>
            <a:r>
              <a:rPr lang="vi-VN" sz="2800" smtClean="0"/>
              <a:t> </a:t>
            </a:r>
            <a:r>
              <a:rPr lang="en-US" sz="2800" smtClean="0"/>
              <a:t>tài liệu, </a:t>
            </a:r>
            <a:r>
              <a:rPr lang="vi-VN" sz="2800" smtClean="0"/>
              <a:t>câu </a:t>
            </a:r>
            <a:r>
              <a:rPr lang="vi-VN" sz="2800"/>
              <a:t>hỏi, </a:t>
            </a:r>
            <a:r>
              <a:rPr lang="vi-VN" sz="2800" smtClean="0"/>
              <a:t>câu </a:t>
            </a:r>
            <a:r>
              <a:rPr lang="vi-VN" sz="2800"/>
              <a:t>trả lời </a:t>
            </a:r>
            <a:r>
              <a:rPr lang="en-US" sz="2800" smtClean="0"/>
              <a:t>để quản trị viên xem xét và xử lý</a:t>
            </a:r>
            <a:r>
              <a:rPr lang="vi-VN" sz="2800" smtClean="0"/>
              <a:t>.</a:t>
            </a:r>
            <a:endParaRPr lang="vi-VN" sz="2800">
              <a:latin typeface="+mj-lt"/>
              <a:cs typeface="Times New Roman" panose="02020603050405020304" pitchFamily="18" charset="0"/>
            </a:endParaRPr>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9299" y="2903904"/>
            <a:ext cx="9359371" cy="3810000"/>
          </a:xfrm>
          <a:prstGeom prst="rect">
            <a:avLst/>
          </a:prstGeom>
        </p:spPr>
      </p:pic>
    </p:spTree>
    <p:extLst>
      <p:ext uri="{BB962C8B-B14F-4D97-AF65-F5344CB8AC3E}">
        <p14:creationId xmlns:p14="http://schemas.microsoft.com/office/powerpoint/2010/main" val="319024722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673353-AE97-3794-4DF8-A2BCE8BB1A7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B51128AE-9AFE-D91A-92DC-FFC724CC4B7F}"/>
              </a:ext>
            </a:extLst>
          </p:cNvPr>
          <p:cNvSpPr txBox="1"/>
          <p:nvPr/>
        </p:nvSpPr>
        <p:spPr>
          <a:xfrm>
            <a:off x="1059218" y="991667"/>
            <a:ext cx="17457382" cy="1115690"/>
          </a:xfrm>
          <a:prstGeom prst="rect">
            <a:avLst/>
          </a:prstGeom>
        </p:spPr>
        <p:txBody>
          <a:bodyPr wrap="square" lIns="0" tIns="0" rIns="0" bIns="0" rtlCol="0" anchor="t">
            <a:spAutoFit/>
          </a:bodyPr>
          <a:lstStyle/>
          <a:p>
            <a:pPr marL="0" lvl="0" indent="0" algn="l">
              <a:lnSpc>
                <a:spcPts val="8717"/>
              </a:lnSpc>
              <a:spcBef>
                <a:spcPct val="0"/>
              </a:spcBef>
            </a:pPr>
            <a:r>
              <a:rPr lang="vi-VN" sz="7700" b="1" u="none">
                <a:solidFill>
                  <a:srgbClr val="1836B2"/>
                </a:solidFill>
                <a:latin typeface="+mj-lt"/>
                <a:ea typeface="Cabin Semi-Bold"/>
                <a:cs typeface="Cabin Semi-Bold"/>
                <a:sym typeface="Cabin Semi-Bold"/>
              </a:rPr>
              <a:t>10.Kết luận và Phương hướng phát triển</a:t>
            </a:r>
            <a:endParaRPr lang="en-US" sz="77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03D4972-5B6A-CFCB-4E59-9C3672A75E7C}"/>
              </a:ext>
            </a:extLst>
          </p:cNvPr>
          <p:cNvSpPr txBox="1"/>
          <p:nvPr/>
        </p:nvSpPr>
        <p:spPr>
          <a:xfrm>
            <a:off x="1219200" y="3708618"/>
            <a:ext cx="16245840" cy="2246769"/>
          </a:xfrm>
          <a:prstGeom prst="rect">
            <a:avLst/>
          </a:prstGeom>
          <a:noFill/>
        </p:spPr>
        <p:txBody>
          <a:bodyPr wrap="square" rtlCol="0">
            <a:spAutoFit/>
          </a:bodyPr>
          <a:lstStyle/>
          <a:p>
            <a:pPr algn="just"/>
            <a:r>
              <a:rPr lang="vi-VN" sz="2800"/>
              <a:t>Hệ thống chia sẻ tài liệu học tập và hỏi đáp giữa sinh viên đã được xây dựng với các chức năng cơ bản</a:t>
            </a:r>
            <a:r>
              <a:rPr lang="en-US" sz="2800"/>
              <a:t>:</a:t>
            </a:r>
          </a:p>
          <a:p>
            <a:pPr marL="457200" indent="-457200" algn="just">
              <a:buFont typeface="Arial" panose="020B0604020202020204" pitchFamily="34" charset="0"/>
              <a:buChar char="•"/>
            </a:pPr>
            <a:r>
              <a:rPr lang="en-US" sz="2800" smtClean="0"/>
              <a:t>Cho </a:t>
            </a:r>
            <a:r>
              <a:rPr lang="vi-VN" sz="2800" smtClean="0"/>
              <a:t>phép </a:t>
            </a:r>
            <a:r>
              <a:rPr lang="vi-VN" sz="2800"/>
              <a:t>sinh viên đăng </a:t>
            </a:r>
            <a:r>
              <a:rPr lang="vi-VN" sz="2800" smtClean="0"/>
              <a:t>tải</a:t>
            </a:r>
            <a:r>
              <a:rPr lang="en-US" sz="2800" smtClean="0"/>
              <a:t> và tải xuống tài liệu.</a:t>
            </a:r>
            <a:endParaRPr lang="en-US" sz="2800"/>
          </a:p>
          <a:p>
            <a:pPr marL="457200" indent="-457200" algn="just">
              <a:buFont typeface="Arial" panose="020B0604020202020204" pitchFamily="34" charset="0"/>
              <a:buChar char="•"/>
            </a:pPr>
            <a:r>
              <a:rPr lang="en-US" sz="2800" smtClean="0"/>
              <a:t>Cho phép người dùng </a:t>
            </a:r>
            <a:r>
              <a:rPr lang="vi-VN" sz="2800" smtClean="0"/>
              <a:t>tìm </a:t>
            </a:r>
            <a:r>
              <a:rPr lang="vi-VN" sz="2800"/>
              <a:t>kiếm </a:t>
            </a:r>
            <a:r>
              <a:rPr lang="en-US" sz="2800" smtClean="0"/>
              <a:t>và lọc theo tiêu chí.</a:t>
            </a:r>
            <a:endParaRPr lang="en-US" sz="2800"/>
          </a:p>
          <a:p>
            <a:pPr marL="457200" indent="-457200" algn="just">
              <a:buFont typeface="Arial" panose="020B0604020202020204" pitchFamily="34" charset="0"/>
              <a:buChar char="•"/>
            </a:pPr>
            <a:r>
              <a:rPr lang="en-US" sz="2800" smtClean="0"/>
              <a:t>Sinh viên có thể </a:t>
            </a:r>
            <a:r>
              <a:rPr lang="vi-VN" sz="2800" smtClean="0"/>
              <a:t>tham </a:t>
            </a:r>
            <a:r>
              <a:rPr lang="vi-VN" sz="2800"/>
              <a:t>gia hỏi</a:t>
            </a:r>
            <a:r>
              <a:rPr lang="en-US" sz="2800"/>
              <a:t> </a:t>
            </a:r>
            <a:r>
              <a:rPr lang="en-US" sz="2800" smtClean="0"/>
              <a:t>đáp với nhau.</a:t>
            </a:r>
            <a:endParaRPr lang="vi-VN" sz="2800"/>
          </a:p>
        </p:txBody>
      </p:sp>
      <p:sp>
        <p:nvSpPr>
          <p:cNvPr id="5" name="TextBox 4">
            <a:extLst>
              <a:ext uri="{FF2B5EF4-FFF2-40B4-BE49-F238E27FC236}">
                <a16:creationId xmlns:a16="http://schemas.microsoft.com/office/drawing/2014/main" xmlns="" id="{DF9030C1-49AE-E1EB-90D1-F91E2C3158D5}"/>
              </a:ext>
            </a:extLst>
          </p:cNvPr>
          <p:cNvSpPr txBox="1"/>
          <p:nvPr/>
        </p:nvSpPr>
        <p:spPr>
          <a:xfrm>
            <a:off x="1234440" y="3185398"/>
            <a:ext cx="6248400" cy="523220"/>
          </a:xfrm>
          <a:prstGeom prst="rect">
            <a:avLst/>
          </a:prstGeom>
          <a:noFill/>
        </p:spPr>
        <p:txBody>
          <a:bodyPr wrap="square" rtlCol="0">
            <a:spAutoFit/>
          </a:bodyPr>
          <a:lstStyle/>
          <a:p>
            <a:r>
              <a:rPr lang="vi-VN" sz="2800" b="1"/>
              <a:t>Kết Luận</a:t>
            </a:r>
          </a:p>
        </p:txBody>
      </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9B21851-14D0-723E-06DC-2EF9B6A8608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67531FD5-54C6-52B7-492E-56BD31216E05}"/>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71A7F7C8-E105-D3FB-7872-3859B5D4C14E}"/>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882A30B9-BF2A-ADB0-9B53-15602C8C4D3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FD63A21C-AD86-4671-0085-04FFE5C890AA}"/>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DCF435BD-2D6D-692D-D0D4-55077E277C58}"/>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E642C9E5-F3D8-2D64-19E4-FF10A13DDE2D}"/>
              </a:ext>
            </a:extLst>
          </p:cNvPr>
          <p:cNvSpPr txBox="1"/>
          <p:nvPr/>
        </p:nvSpPr>
        <p:spPr>
          <a:xfrm>
            <a:off x="1059218" y="991667"/>
            <a:ext cx="17457382" cy="1115690"/>
          </a:xfrm>
          <a:prstGeom prst="rect">
            <a:avLst/>
          </a:prstGeom>
        </p:spPr>
        <p:txBody>
          <a:bodyPr wrap="square" lIns="0" tIns="0" rIns="0" bIns="0" rtlCol="0" anchor="t">
            <a:spAutoFit/>
          </a:bodyPr>
          <a:lstStyle/>
          <a:p>
            <a:pPr marL="0" lvl="0" indent="0" algn="l">
              <a:lnSpc>
                <a:spcPts val="8717"/>
              </a:lnSpc>
              <a:spcBef>
                <a:spcPct val="0"/>
              </a:spcBef>
            </a:pPr>
            <a:r>
              <a:rPr lang="vi-VN" sz="7700" b="1" u="none">
                <a:solidFill>
                  <a:srgbClr val="1836B2"/>
                </a:solidFill>
                <a:latin typeface="+mj-lt"/>
                <a:ea typeface="Cabin Semi-Bold"/>
                <a:cs typeface="Cabin Semi-Bold"/>
                <a:sym typeface="Cabin Semi-Bold"/>
              </a:rPr>
              <a:t>10.Kết luận và Phương hướng phát triển</a:t>
            </a:r>
            <a:endParaRPr lang="en-US" sz="77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B0F50982-EFF2-3255-64F1-B69AECC34210}"/>
              </a:ext>
            </a:extLst>
          </p:cNvPr>
          <p:cNvSpPr txBox="1"/>
          <p:nvPr/>
        </p:nvSpPr>
        <p:spPr>
          <a:xfrm>
            <a:off x="1203960" y="3762851"/>
            <a:ext cx="16550640" cy="4524315"/>
          </a:xfrm>
          <a:prstGeom prst="rect">
            <a:avLst/>
          </a:prstGeom>
          <a:noFill/>
        </p:spPr>
        <p:txBody>
          <a:bodyPr wrap="square" rtlCol="0">
            <a:spAutoFit/>
          </a:bodyPr>
          <a:lstStyle/>
          <a:p>
            <a:pPr marL="457200" indent="-457200">
              <a:buFont typeface="Arial" panose="020B0604020202020204" pitchFamily="34" charset="0"/>
              <a:buChar char="•"/>
            </a:pPr>
            <a:r>
              <a:rPr lang="vi-VN" sz="2400"/>
              <a:t>Tích hợp AI và các tính năng hỗ trợ thông minh như gợi ý tài liệu, đề xuất câu hỏi và chatbot tra </a:t>
            </a:r>
            <a:r>
              <a:rPr lang="vi-VN" sz="2400" smtClean="0"/>
              <a:t>cứu.</a:t>
            </a:r>
            <a:endParaRPr lang="en-US" sz="2400" smtClean="0"/>
          </a:p>
          <a:p>
            <a:pPr marL="457200" indent="-457200">
              <a:buFont typeface="Arial" panose="020B0604020202020204" pitchFamily="34" charset="0"/>
              <a:buChar char="•"/>
            </a:pPr>
            <a:r>
              <a:rPr lang="vi-VN" sz="2400" smtClean="0"/>
              <a:t>Hỗ </a:t>
            </a:r>
            <a:r>
              <a:rPr lang="vi-VN" sz="2400"/>
              <a:t>trợ đa ngôn ngữ nhằm mở rộng khả năng tiếp cận người </a:t>
            </a:r>
            <a:r>
              <a:rPr lang="vi-VN" sz="2400" smtClean="0"/>
              <a:t>dùng.</a:t>
            </a:r>
            <a:endParaRPr lang="en-US" sz="2400" smtClean="0"/>
          </a:p>
          <a:p>
            <a:pPr marL="457200" indent="-457200">
              <a:buFont typeface="Arial" panose="020B0604020202020204" pitchFamily="34" charset="0"/>
              <a:buChar char="•"/>
            </a:pPr>
            <a:r>
              <a:rPr lang="en-US" sz="2400" smtClean="0"/>
              <a:t>Tích hợp </a:t>
            </a:r>
            <a:r>
              <a:rPr lang="vi-VN" sz="2400" smtClean="0"/>
              <a:t>hệ </a:t>
            </a:r>
            <a:r>
              <a:rPr lang="vi-VN" sz="2400"/>
              <a:t>thống thông báo theo thời gian thực cho các hoạt động hỏi đáp và duyệt nội </a:t>
            </a:r>
            <a:r>
              <a:rPr lang="vi-VN" sz="2400" smtClean="0"/>
              <a:t>dung.</a:t>
            </a:r>
            <a:endParaRPr lang="en-US" sz="2400" smtClean="0"/>
          </a:p>
          <a:p>
            <a:pPr marL="457200" indent="-457200">
              <a:buFont typeface="Arial" panose="020B0604020202020204" pitchFamily="34" charset="0"/>
              <a:buChar char="•"/>
            </a:pPr>
            <a:r>
              <a:rPr lang="vi-VN" sz="2400" smtClean="0"/>
              <a:t>Tăng </a:t>
            </a:r>
            <a:r>
              <a:rPr lang="vi-VN" sz="2400"/>
              <a:t>cường bảo mật với cơ chế mật khẩu mạnh, refresh token và phát hiện tấn </a:t>
            </a:r>
            <a:r>
              <a:rPr lang="vi-VN" sz="2400" smtClean="0"/>
              <a:t>công.</a:t>
            </a:r>
            <a:endParaRPr lang="en-US" sz="2400" smtClean="0"/>
          </a:p>
          <a:p>
            <a:pPr marL="457200" indent="-457200">
              <a:buFont typeface="Arial" panose="020B0604020202020204" pitchFamily="34" charset="0"/>
              <a:buChar char="•"/>
            </a:pPr>
            <a:r>
              <a:rPr lang="vi-VN" sz="2400" smtClean="0"/>
              <a:t>Cải </a:t>
            </a:r>
            <a:r>
              <a:rPr lang="vi-VN" sz="2400"/>
              <a:t>thiện trang thống kê cho quản trị viên với biểu đồ và phân tích xu </a:t>
            </a:r>
            <a:r>
              <a:rPr lang="vi-VN" sz="2400" smtClean="0"/>
              <a:t>hướng.</a:t>
            </a:r>
            <a:endParaRPr lang="en-US" sz="2400" smtClean="0"/>
          </a:p>
          <a:p>
            <a:pPr marL="457200" indent="-457200">
              <a:buFont typeface="Arial" panose="020B0604020202020204" pitchFamily="34" charset="0"/>
              <a:buChar char="•"/>
            </a:pPr>
            <a:r>
              <a:rPr lang="vi-VN" sz="2400" smtClean="0"/>
              <a:t>Triển </a:t>
            </a:r>
            <a:r>
              <a:rPr lang="vi-VN" sz="2400"/>
              <a:t>khai lưu trữ đám mây để nâng cao khả năng mở rộng và hiệu </a:t>
            </a:r>
            <a:r>
              <a:rPr lang="vi-VN" sz="2400" smtClean="0"/>
              <a:t>suất.</a:t>
            </a:r>
            <a:endParaRPr lang="en-US" sz="2400" smtClean="0"/>
          </a:p>
          <a:p>
            <a:pPr marL="457200" indent="-457200">
              <a:buFont typeface="Arial" panose="020B0604020202020204" pitchFamily="34" charset="0"/>
              <a:buChar char="•"/>
            </a:pPr>
            <a:r>
              <a:rPr lang="vi-VN" sz="2400" smtClean="0"/>
              <a:t>Tối </a:t>
            </a:r>
            <a:r>
              <a:rPr lang="vi-VN" sz="2400"/>
              <a:t>ưu hiệu suất hệ thống thông qua nén dữ liệu và kỹ thuật lazy </a:t>
            </a:r>
            <a:r>
              <a:rPr lang="vi-VN" sz="2400" smtClean="0"/>
              <a:t>loading.</a:t>
            </a:r>
            <a:endParaRPr lang="en-US" sz="2400" smtClean="0"/>
          </a:p>
          <a:p>
            <a:pPr marL="457200" indent="-457200">
              <a:buFont typeface="Arial" panose="020B0604020202020204" pitchFamily="34" charset="0"/>
              <a:buChar char="•"/>
            </a:pPr>
            <a:r>
              <a:rPr lang="vi-VN" sz="2400" smtClean="0"/>
              <a:t>Phát </a:t>
            </a:r>
            <a:r>
              <a:rPr lang="vi-VN" sz="2400"/>
              <a:t>triển ứng dụng di động trên Android và iOS</a:t>
            </a:r>
            <a:r>
              <a:rPr lang="vi-VN" sz="2400" smtClean="0"/>
              <a:t>.</a:t>
            </a:r>
            <a:endParaRPr lang="en-US" sz="2400" smtClean="0"/>
          </a:p>
          <a:p>
            <a:endParaRPr lang="vi-VN" sz="2400"/>
          </a:p>
          <a:p>
            <a:pPr algn="just"/>
            <a:r>
              <a:rPr lang="vi-VN" sz="2400" smtClean="0"/>
              <a:t>Với những phương hướng phát triển đúng đắn thì có thể hướng đến một nền tảng tiềm năng để để xây dựng thương hiệu và đạt được các mục tiêu cá nhân.</a:t>
            </a:r>
          </a:p>
          <a:p>
            <a:pPr marL="457200" indent="-457200" algn="just">
              <a:buFont typeface="Arial" panose="020B0604020202020204" pitchFamily="34" charset="0"/>
              <a:buChar char="•"/>
            </a:pPr>
            <a:endParaRPr lang="vi-VN" sz="2400"/>
          </a:p>
        </p:txBody>
      </p:sp>
      <p:sp>
        <p:nvSpPr>
          <p:cNvPr id="5" name="TextBox 4">
            <a:extLst>
              <a:ext uri="{FF2B5EF4-FFF2-40B4-BE49-F238E27FC236}">
                <a16:creationId xmlns:a16="http://schemas.microsoft.com/office/drawing/2014/main" xmlns="" id="{D7C01317-8477-F560-F2F2-698054ED3D46}"/>
              </a:ext>
            </a:extLst>
          </p:cNvPr>
          <p:cNvSpPr txBox="1"/>
          <p:nvPr/>
        </p:nvSpPr>
        <p:spPr>
          <a:xfrm>
            <a:off x="1219200" y="3251556"/>
            <a:ext cx="6248400" cy="523220"/>
          </a:xfrm>
          <a:prstGeom prst="rect">
            <a:avLst/>
          </a:prstGeom>
          <a:noFill/>
        </p:spPr>
        <p:txBody>
          <a:bodyPr wrap="square" rtlCol="0">
            <a:spAutoFit/>
          </a:bodyPr>
          <a:lstStyle/>
          <a:p>
            <a:r>
              <a:rPr lang="vi-VN" sz="2800" b="1"/>
              <a:t>Phương hướng phát triển</a:t>
            </a:r>
          </a:p>
        </p:txBody>
      </p:sp>
    </p:spTree>
    <p:extLst>
      <p:ext uri="{BB962C8B-B14F-4D97-AF65-F5344CB8AC3E}">
        <p14:creationId xmlns:p14="http://schemas.microsoft.com/office/powerpoint/2010/main" val="50409647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4800600" y="4533900"/>
            <a:ext cx="8115300" cy="1115690"/>
          </a:xfrm>
          <a:prstGeom prst="rect">
            <a:avLst/>
          </a:prstGeom>
        </p:spPr>
        <p:txBody>
          <a:bodyPr lIns="0" tIns="0" rIns="0" bIns="0" rtlCol="0" anchor="t">
            <a:spAutoFit/>
          </a:bodyPr>
          <a:lstStyle/>
          <a:p>
            <a:pPr marL="0" lvl="0" indent="0" algn="l">
              <a:lnSpc>
                <a:spcPts val="8717"/>
              </a:lnSpc>
              <a:spcBef>
                <a:spcPct val="0"/>
              </a:spcBef>
            </a:pPr>
            <a:r>
              <a:rPr lang="vi-VN" sz="7925" b="1">
                <a:solidFill>
                  <a:srgbClr val="1836B2"/>
                </a:solidFill>
                <a:latin typeface="Cabin Semi-Bold"/>
                <a:ea typeface="Cabin Semi-Bold"/>
                <a:cs typeface="Cabin Semi-Bold"/>
                <a:sym typeface="Cabin Semi-Bold"/>
              </a:rPr>
              <a:t>Thank for listening</a:t>
            </a:r>
            <a:endParaRPr lang="en-US" sz="7925"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464</TotalTime>
  <Words>2982</Words>
  <Application>Microsoft Office PowerPoint</Application>
  <PresentationFormat>Custom</PresentationFormat>
  <Paragraphs>237</Paragraphs>
  <Slides>19</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Arial</vt:lpstr>
      <vt:lpstr>Faustina Bold</vt:lpstr>
      <vt:lpstr>Times New Roman</vt:lpstr>
      <vt:lpstr>Calibri</vt:lpstr>
      <vt:lpstr>Arial (Body)</vt:lpstr>
      <vt:lpstr>SimSun</vt:lpstr>
      <vt:lpstr>Cabin Semi-Bold</vt:lpstr>
      <vt:lpstr>Cabin</vt:lpstr>
      <vt:lpstr>Cabin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81</cp:revision>
  <dcterms:created xsi:type="dcterms:W3CDTF">2006-08-16T00:00:00Z</dcterms:created>
  <dcterms:modified xsi:type="dcterms:W3CDTF">2026-06-27T12:23:50Z</dcterms:modified>
  <dc:identifier>DAGbnXCPPBE</dc:identifier>
</cp:coreProperties>
</file>