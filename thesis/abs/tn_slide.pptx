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72" r:id="rId4"/>
    <p:sldId id="273" r:id="rId5"/>
    <p:sldId id="274" r:id="rId6"/>
    <p:sldId id="297" r:id="rId7"/>
    <p:sldId id="259" r:id="rId8"/>
    <p:sldId id="264" r:id="rId9"/>
    <p:sldId id="298" r:id="rId10"/>
    <p:sldId id="284" r:id="rId11"/>
    <p:sldId id="299" r:id="rId12"/>
    <p:sldId id="300" r:id="rId13"/>
    <p:sldId id="301" r:id="rId14"/>
    <p:sldId id="289" r:id="rId15"/>
    <p:sldId id="302" r:id="rId16"/>
    <p:sldId id="268" r:id="rId17"/>
  </p:sldIdLst>
  <p:sldSz cx="18288000" cy="10287000"/>
  <p:notesSz cx="6858000" cy="9144000"/>
  <p:embeddedFontLst>
    <p:embeddedFont>
      <p:font typeface="Cabin Semi-Bold" panose="020B0604020202020204" charset="0"/>
      <p:regular r:id="rId19"/>
    </p:embeddedFont>
    <p:embeddedFont>
      <p:font typeface="Calibri" panose="020F0502020204030204" pitchFamily="34" charset="0"/>
      <p:regular r:id="rId20"/>
      <p:bold r:id="rId21"/>
      <p:italic r:id="rId22"/>
      <p:boldItalic r:id="rId23"/>
    </p:embeddedFont>
    <p:embeddedFont>
      <p:font typeface="SimSun" panose="02010600030101010101" pitchFamily="2" charset="-122"/>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545" autoAdjust="0"/>
  </p:normalViewPr>
  <p:slideViewPr>
    <p:cSldViewPr>
      <p:cViewPr varScale="1">
        <p:scale>
          <a:sx n="56" d="100"/>
          <a:sy n="56" d="100"/>
        </p:scale>
        <p:origin x="-1470" y="-66"/>
      </p:cViewPr>
      <p:guideLst>
        <p:guide orient="horz" pos="3240"/>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28/06/2026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giao diện chính của trò chơi, bao gồm menu khởi động, màn hình tạm dừng và hệ thống lưu tải dữ liệu. Người chơi có thể tạo trò chơi mới hoặc tiếp tục tiến trình trước đó, giúp nâng cao trải nghiệm sử dụng.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10</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sinh tồn là cơ chế cốt lõi của trò chơi. Người chơi cần quản lý máu và độ đói, đồng thời thu thập tài nguyên để duy trì sự sống và chế tạo vật phẩm phục vụ quá trình sinh tồn.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11</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Người chơi có thể quản lý tài nguyên thông qua túi đồ và thanh Hotbar. Các vật phẩm thu thập được được sử dụng để chế tạo công cụ, giúp tăng khả năng sinh tồn và mở rộng gameplay.</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12</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chiến đấu hoạt động theo thời gian thực. Kẻ địch có thể tuần tra, phát hiện và truy đuổi người chơi, trong khi động vật sẽ bỏ chạy khi bị tấn công, tạo nên môi trường sinh tồn tự nhiên hơn.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13</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Sau quá trình thực hiện, đề tài đã hoàn thành các mục tiêu đặt ra ban đầu.</a:t>
            </a:r>
            <a:endParaRPr lang="en-US" smtClean="0"/>
          </a:p>
          <a:p>
            <a:endParaRPr lang="vi-VN" smtClean="0"/>
          </a:p>
          <a:p>
            <a:r>
              <a:rPr lang="vi-VN" smtClean="0"/>
              <a:t>Sản phẩm là một trò chơi sinh tồn 2D góc nhìn từ trên xuống với các cơ chế chính như quản lý máu và độ đói, thu thập tài nguyên, quản lý túi đồ, chiến đấu thời gian thực và hệ thống AI cho kẻ địch và động vật.</a:t>
            </a:r>
          </a:p>
          <a:p>
            <a:endParaRPr lang="en-US" smtClean="0"/>
          </a:p>
          <a:p>
            <a:r>
              <a:rPr lang="vi-VN" smtClean="0"/>
              <a:t>Ngoài ra, trò chơi còn hỗ trợ lưu và tải dữ liệu, giúp người chơi tiếp tục tiến trình trong những lần chơi sau.</a:t>
            </a:r>
          </a:p>
          <a:p>
            <a:endParaRPr lang="en-US" smtClean="0"/>
          </a:p>
          <a:p>
            <a:r>
              <a:rPr lang="vi-VN" smtClean="0"/>
              <a:t>Qua đề tài, em đã vận dụng được kiến thức về lập trình game, thiết kế hệ thống và sử dụng Godot Engine để xây dựng một sản phẩm hoàn chỉnh.</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14</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tương lai, trò chơi có thể tiếp tục được mở rộng theo nhiều hướng khác nhau.</a:t>
            </a:r>
            <a:endParaRPr lang="en-US" smtClean="0"/>
          </a:p>
          <a:p>
            <a:endParaRPr lang="vi-VN" smtClean="0"/>
          </a:p>
          <a:p>
            <a:r>
              <a:rPr lang="vi-VN" smtClean="0"/>
              <a:t>Đầu tiên là mở rộng bản đồ và bổ sung thêm nhiều tài nguyên, công cụ cũng như công thức chế tạo mới để tăng tính đa dạng trong gameplay.</a:t>
            </a:r>
          </a:p>
          <a:p>
            <a:endParaRPr lang="en-US" smtClean="0"/>
          </a:p>
          <a:p>
            <a:r>
              <a:rPr lang="vi-VN" smtClean="0"/>
              <a:t>Bên cạnh đó,</a:t>
            </a:r>
            <a:r>
              <a:rPr lang="en-US" smtClean="0"/>
              <a:t> phát</a:t>
            </a:r>
            <a:r>
              <a:rPr lang="en-US" baseline="0" smtClean="0"/>
              <a:t> triển</a:t>
            </a:r>
            <a:r>
              <a:rPr lang="vi-VN" smtClean="0"/>
              <a:t> hệ thống nhiệm vụ và thành tựu sẽ giúp người chơi có thêm mục tiêu trong quá trình trải nghiệm.</a:t>
            </a:r>
          </a:p>
          <a:p>
            <a:endParaRPr lang="en-US" smtClean="0"/>
          </a:p>
          <a:p>
            <a:r>
              <a:rPr lang="vi-VN" smtClean="0"/>
              <a:t>Về mặt kỹ thuật, AI của kẻ địch có thể được phát triển với nhiều trạng thái hành vi phức tạp hơn.</a:t>
            </a:r>
          </a:p>
          <a:p>
            <a:endParaRPr lang="en-US" smtClean="0"/>
          </a:p>
          <a:p>
            <a:r>
              <a:rPr lang="vi-VN" smtClean="0"/>
              <a:t>Ngoài ra, một hướng phát triển tiềm năng khác là hỗ trợ chế độ chơi nhiều người để tăng tính tương tác và trải nghiệm của người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15</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a:t>
            </a:r>
            <a:r>
              <a:rPr lang="en-US" baseline="0" smtClean="0"/>
              <a:t> </a:t>
            </a:r>
            <a:r>
              <a:rPr lang="vi-VN" smtClean="0"/>
              <a:t>bảo vệ đồ án của </a:t>
            </a:r>
            <a:r>
              <a:rPr lang="en-US" smtClean="0"/>
              <a:t>em</a:t>
            </a:r>
            <a:r>
              <a:rPr lang="vi-VN" smtClean="0"/>
              <a:t> đến đây là hết.</a:t>
            </a:r>
            <a:endParaRPr lang="en-US" smtClean="0"/>
          </a:p>
          <a:p>
            <a:endParaRPr lang="vi-VN" smtClean="0"/>
          </a:p>
          <a:p>
            <a:r>
              <a:rPr lang="vi-VN" smtClean="0"/>
              <a:t>Em xin chân thành cảm ơn quý thầy cô đã lắng nghe và rất mong nhận được những ý kiến đóng góp để em có thể hoàn thiện đề tài tốt hơn.</a:t>
            </a:r>
            <a:endParaRPr lang="en-US" smtClean="0"/>
          </a:p>
          <a:p>
            <a:endParaRPr lang="vi-VN" smtClean="0"/>
          </a:p>
          <a:p>
            <a:r>
              <a:rPr lang="vi-VN" smtClean="0"/>
              <a:t>Em xin cảm ơn!</a:t>
            </a:r>
          </a:p>
        </p:txBody>
      </p:sp>
      <p:sp>
        <p:nvSpPr>
          <p:cNvPr id="4" name="Slide Number Placeholder 3"/>
          <p:cNvSpPr>
            <a:spLocks noGrp="1"/>
          </p:cNvSpPr>
          <p:nvPr>
            <p:ph type="sldNum" sz="quarter" idx="10"/>
          </p:nvPr>
        </p:nvSpPr>
        <p:spPr/>
        <p:txBody>
          <a:bodyPr/>
          <a:lstStyle/>
          <a:p>
            <a:fld id="{645001A3-7A71-4A49-9F67-C8CCD4B362B2}" type="slidenum">
              <a:rPr lang="vi-VN" smtClean="0"/>
              <a:t>16</a:t>
            </a:fld>
            <a:endParaRPr lang="vi-VN"/>
          </a:p>
        </p:txBody>
      </p:sp>
    </p:spTree>
    <p:extLst>
      <p:ext uri="{BB962C8B-B14F-4D97-AF65-F5344CB8AC3E}">
        <p14:creationId xmlns:p14="http://schemas.microsoft.com/office/powerpoint/2010/main" val="3746083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1843790" y="-3606083"/>
            <a:ext cx="10682989"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373518"/>
          </a:xfrm>
          <a:prstGeom prst="rect">
            <a:avLst/>
          </a:prstGeom>
        </p:spPr>
        <p:txBody>
          <a:bodyPr lIns="0" tIns="0" rIns="0" bIns="0" rtlCol="0" anchor="t">
            <a:spAutoFit/>
          </a:bodyPr>
          <a:lstStyle/>
          <a:p>
            <a:pPr algn="ctr">
              <a:lnSpc>
                <a:spcPts val="5599"/>
              </a:lnSpc>
            </a:pPr>
            <a:r>
              <a:rPr lang="en-US" sz="3999" b="1">
                <a:solidFill>
                  <a:srgbClr val="000000"/>
                </a:solidFill>
                <a:latin typeface="+mj-lt"/>
                <a:ea typeface="Faustina Bold"/>
                <a:cs typeface="Times New Roman" panose="02020603050405020304" pitchFamily="18" charset="0"/>
                <a:sym typeface="Faustina Bold"/>
              </a:rPr>
              <a:t>Đ</a:t>
            </a:r>
            <a:r>
              <a:rPr lang="en-US" sz="3999" b="1" smtClean="0">
                <a:solidFill>
                  <a:srgbClr val="000000"/>
                </a:solidFill>
                <a:latin typeface="+mj-lt"/>
                <a:ea typeface="Faustina Bold"/>
                <a:cs typeface="Times New Roman" panose="02020603050405020304" pitchFamily="18" charset="0"/>
                <a:sym typeface="Faustina Bold"/>
              </a:rPr>
              <a:t>ồ </a:t>
            </a:r>
            <a:r>
              <a:rPr lang="en-US" sz="3999" b="1" err="1">
                <a:solidFill>
                  <a:srgbClr val="000000"/>
                </a:solidFill>
                <a:latin typeface="+mj-lt"/>
                <a:ea typeface="Faustina Bold"/>
                <a:cs typeface="Times New Roman" panose="02020603050405020304" pitchFamily="18" charset="0"/>
                <a:sym typeface="Faustina Bold"/>
              </a:rPr>
              <a:t>án</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tốt nghiệp</a:t>
            </a:r>
            <a:endParaRPr lang="en-US" sz="3999" b="1">
              <a:solidFill>
                <a:srgbClr val="000000"/>
              </a:solidFill>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kì</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II, </a:t>
            </a:r>
            <a:r>
              <a:rPr lang="en-US" sz="3999" b="1" err="1">
                <a:solidFill>
                  <a:srgbClr val="000000"/>
                </a:solidFill>
                <a:latin typeface="+mj-lt"/>
                <a:ea typeface="Faustina Bold"/>
                <a:cs typeface="Times New Roman" panose="02020603050405020304" pitchFamily="18" charset="0"/>
                <a:sym typeface="Faustina Bold"/>
              </a:rPr>
              <a:t>năm</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2025-2026</a:t>
            </a:r>
            <a:endParaRPr lang="en-US" sz="3999" b="1">
              <a:solidFill>
                <a:srgbClr val="000000"/>
              </a:solidFill>
              <a:latin typeface="+mj-lt"/>
              <a:ea typeface="Faustina Bold"/>
              <a:cs typeface="Times New Roman" panose="02020603050405020304" pitchFamily="18" charset="0"/>
              <a:sym typeface="Faustina Bold"/>
            </a:endParaRPr>
          </a:p>
        </p:txBody>
      </p:sp>
      <p:sp>
        <p:nvSpPr>
          <p:cNvPr id="7" name="Freeform 7"/>
          <p:cNvSpPr/>
          <p:nvPr/>
        </p:nvSpPr>
        <p:spPr>
          <a:xfrm>
            <a:off x="204812" y="214771"/>
            <a:ext cx="2185270" cy="2185270"/>
          </a:xfrm>
          <a:custGeom>
            <a:avLst/>
            <a:gdLst/>
            <a:ahLst/>
            <a:cxnLst/>
            <a:rect l="l" t="t" r="r" b="b"/>
            <a:pathLst>
              <a:path w="2185270" h="2185270">
                <a:moveTo>
                  <a:pt x="0" y="0"/>
                </a:moveTo>
                <a:lnTo>
                  <a:pt x="2185270" y="0"/>
                </a:lnTo>
                <a:lnTo>
                  <a:pt x="2185270" y="2185270"/>
                </a:lnTo>
                <a:lnTo>
                  <a:pt x="0" y="2185270"/>
                </a:lnTo>
                <a:lnTo>
                  <a:pt x="0" y="0"/>
                </a:lnTo>
                <a:close/>
              </a:path>
            </a:pathLst>
          </a:custGeom>
          <a:blipFill>
            <a:blip r:embed="rId3"/>
            <a:stretch>
              <a:fillRect/>
            </a:stretch>
          </a:blipFill>
        </p:spPr>
        <p:txBody>
          <a:bodyPr/>
          <a:lstStyle/>
          <a:p>
            <a:endParaRPr lang="vi-VN"/>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2209800" y="909896"/>
            <a:ext cx="5715000" cy="55143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rgbClr val="FFFFFF"/>
                </a:solidFill>
                <a:latin typeface="+mj-lt"/>
                <a:ea typeface="Cabin"/>
                <a:cs typeface="Times New Roman" panose="02020603050405020304" pitchFamily="18" charset="0"/>
                <a:sym typeface="Cabin"/>
              </a:rPr>
              <a:t>Trường</a:t>
            </a:r>
            <a:r>
              <a:rPr lang="en-US" sz="3299" spc="-65" smtClean="0">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Kỹ</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Thuật</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Công</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Nghệ</a:t>
            </a:r>
            <a:endParaRPr lang="en-US" sz="3299" spc="-65">
              <a:solidFill>
                <a:srgbClr val="FFFFFF"/>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963469"/>
          </a:xfrm>
          <a:prstGeom prst="rect">
            <a:avLst/>
          </a:prstGeom>
        </p:spPr>
        <p:txBody>
          <a:bodyPr lIns="0" tIns="0" rIns="0" bIns="0" rtlCol="0" anchor="t">
            <a:spAutoFit/>
          </a:bodyPr>
          <a:lstStyle/>
          <a:p>
            <a:pPr marL="0" lvl="0" indent="0" algn="l">
              <a:lnSpc>
                <a:spcPts val="8470"/>
              </a:lnSpc>
              <a:spcBef>
                <a:spcPct val="0"/>
              </a:spcBef>
            </a:pPr>
            <a:r>
              <a:rPr lang="en-US" sz="50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 xmlns:a16="http://schemas.microsoft.com/office/drawing/2014/main" val="20000"/>
                    </a:ext>
                  </a:extLst>
                </a:gridCol>
                <a:gridCol w="7696200">
                  <a:extLst>
                    <a:ext uri="{9D8B030D-6E8A-4147-A177-3AD203B41FA5}">
                      <a16:colId xmlns="" xmlns:a16="http://schemas.microsoft.com/office/drawing/2014/main"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marL="0" lvl="0" indent="0" algn="l">
              <a:lnSpc>
                <a:spcPts val="8717"/>
              </a:lnSpc>
              <a:spcBef>
                <a:spcPct val="0"/>
              </a:spcBef>
            </a:pPr>
            <a:r>
              <a:rPr lang="en-US" sz="5000" b="1" u="none" smtClean="0">
                <a:solidFill>
                  <a:srgbClr val="1836B2"/>
                </a:solidFill>
                <a:latin typeface="+mj-lt"/>
                <a:ea typeface="Cabin Semi-Bold"/>
                <a:cs typeface="Times New Roman" panose="02020603050405020304" pitchFamily="18" charset="0"/>
                <a:sym typeface="Cabin Semi-Bold"/>
              </a:rPr>
              <a:t>1</a:t>
            </a:r>
            <a:r>
              <a:rPr lang="en-US" sz="5000" b="1" u="none" smtClean="0">
                <a:solidFill>
                  <a:srgbClr val="1836B2"/>
                </a:solidFill>
                <a:latin typeface="+mj-lt"/>
                <a:ea typeface="Cabin Semi-Bold"/>
                <a:cs typeface="Times New Roman" panose="02020603050405020304" pitchFamily="18" charset="0"/>
                <a:sym typeface="Cabin Semi-Bold"/>
              </a:rPr>
              <a:t>. L</a:t>
            </a:r>
            <a:r>
              <a:rPr lang="vi-VN" sz="5000" b="1" u="none" smtClean="0">
                <a:solidFill>
                  <a:srgbClr val="1836B2"/>
                </a:solidFill>
                <a:latin typeface="+mj-lt"/>
                <a:ea typeface="Cabin Semi-Bold"/>
                <a:cs typeface="Times New Roman" panose="02020603050405020304" pitchFamily="18" charset="0"/>
                <a:sym typeface="Cabin Semi-Bold"/>
              </a:rPr>
              <a:t>ý </a:t>
            </a:r>
            <a:r>
              <a:rPr lang="vi-VN" sz="5000" b="1" u="none">
                <a:solidFill>
                  <a:srgbClr val="1836B2"/>
                </a:solidFill>
                <a:latin typeface="+mj-lt"/>
                <a:ea typeface="Cabin Semi-Bold"/>
                <a:cs typeface="Times New Roman" panose="02020603050405020304" pitchFamily="18" charset="0"/>
                <a:sym typeface="Cabin Semi-Bold"/>
              </a:rPr>
              <a:t>do chọn đề tài</a:t>
            </a:r>
            <a:endParaRPr lang="en-US" sz="5000"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30088AC-D961-B3FD-BDB5-AF6216DA83C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Times New Roman" panose="02020603050405020304" pitchFamily="18" charset="0"/>
                <a:sym typeface="Cabin Semi-Bold"/>
              </a:rPr>
              <a:t>2</a:t>
            </a:r>
            <a:r>
              <a:rPr lang="vi-VN" sz="5000" b="1" u="none" smtClean="0">
                <a:solidFill>
                  <a:srgbClr val="1836B2"/>
                </a:solidFill>
                <a:latin typeface="+mj-lt"/>
                <a:ea typeface="Cabin Semi-Bold"/>
                <a:cs typeface="Times New Roman" panose="02020603050405020304" pitchFamily="18" charset="0"/>
                <a:sym typeface="Cabin Semi-Bold"/>
              </a:rPr>
              <a:t>.</a:t>
            </a:r>
            <a:r>
              <a:rPr lang="en-US" sz="5000" b="1" u="none" smtClean="0">
                <a:solidFill>
                  <a:srgbClr val="1836B2"/>
                </a:solidFill>
                <a:latin typeface="+mj-lt"/>
                <a:ea typeface="Cabin Semi-Bold"/>
                <a:cs typeface="Times New Roman" panose="02020603050405020304" pitchFamily="18" charset="0"/>
                <a:sym typeface="Cabin Semi-Bold"/>
              </a:rPr>
              <a:t> </a:t>
            </a:r>
            <a:r>
              <a:rPr lang="vi-VN" sz="5000" b="1" u="none" smtClean="0">
                <a:solidFill>
                  <a:srgbClr val="1836B2"/>
                </a:solidFill>
                <a:latin typeface="+mj-lt"/>
                <a:ea typeface="Cabin Semi-Bold"/>
                <a:cs typeface="Times New Roman" panose="02020603050405020304" pitchFamily="18" charset="0"/>
                <a:sym typeface="Cabin Semi-Bold"/>
              </a:rPr>
              <a:t>Mục </a:t>
            </a:r>
            <a:r>
              <a:rPr lang="vi-VN" sz="5000" b="1" u="none">
                <a:solidFill>
                  <a:srgbClr val="1836B2"/>
                </a:solidFill>
                <a:latin typeface="+mj-lt"/>
                <a:ea typeface="Cabin Semi-Bold"/>
                <a:cs typeface="Times New Roman" panose="02020603050405020304" pitchFamily="18" charset="0"/>
                <a:sym typeface="Cabin Semi-Bold"/>
              </a:rPr>
              <a:t>đích nghiên cứu</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 xmlns:a16="http://schemas.microsoft.com/office/drawing/2014/main"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 xmlns:a16="http://schemas.microsoft.com/office/drawing/2014/main"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 xmlns:a16="http://schemas.microsoft.com/office/drawing/2014/main"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ACF5569-8787-0062-F375-50063FE23D12}"/>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4C17CFB-C9FC-3A0E-9F79-4E4FF14A6573}"/>
              </a:ext>
            </a:extLst>
          </p:cNvPr>
          <p:cNvSpPr txBox="1"/>
          <p:nvPr/>
        </p:nvSpPr>
        <p:spPr>
          <a:xfrm>
            <a:off x="1059218" y="991667"/>
            <a:ext cx="8378511" cy="982705"/>
          </a:xfrm>
          <a:prstGeom prst="rect">
            <a:avLst/>
          </a:prstGeom>
        </p:spPr>
        <p:txBody>
          <a:bodyPr lIns="0" tIns="0" rIns="0" bIns="0" rtlCol="0" anchor="t">
            <a:spAutoFit/>
          </a:bodyPr>
          <a:lstStyle/>
          <a:p>
            <a:pPr marL="0" lvl="0" indent="0" algn="l">
              <a:lnSpc>
                <a:spcPts val="8717"/>
              </a:lnSpc>
              <a:spcBef>
                <a:spcPct val="0"/>
              </a:spcBef>
            </a:pPr>
            <a:r>
              <a:rPr lang="en-US" sz="5000" b="1" u="none">
                <a:solidFill>
                  <a:srgbClr val="1836B2"/>
                </a:solidFill>
                <a:latin typeface="+mj-lt"/>
                <a:ea typeface="Cabin Semi-Bold"/>
                <a:cs typeface="Times New Roman" panose="02020603050405020304" pitchFamily="18" charset="0"/>
                <a:sym typeface="Cabin Semi-Bold"/>
              </a:rPr>
              <a:t>3.</a:t>
            </a:r>
            <a:r>
              <a:rPr lang="vi-VN" sz="5000" b="1" u="none">
                <a:solidFill>
                  <a:srgbClr val="1836B2"/>
                </a:solidFill>
                <a:latin typeface="+mj-lt"/>
                <a:ea typeface="Cabin Semi-Bold"/>
                <a:cs typeface="Times New Roman" panose="02020603050405020304" pitchFamily="18" charset="0"/>
                <a:sym typeface="Cabin Semi-Bold"/>
              </a:rPr>
              <a:t>Cơ sở lý thuyết</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 xmlns:a16="http://schemas.microsoft.com/office/drawing/2014/main" id="{8AC8433D-F9F0-949A-802A-213B5893CD86}"/>
              </a:ext>
            </a:extLst>
          </p:cNvPr>
          <p:cNvSpPr txBox="1"/>
          <p:nvPr/>
        </p:nvSpPr>
        <p:spPr>
          <a:xfrm>
            <a:off x="304800" y="6591300"/>
            <a:ext cx="4320000" cy="1200329"/>
          </a:xfrm>
          <a:prstGeom prst="rect">
            <a:avLst/>
          </a:prstGeom>
          <a:noFill/>
        </p:spPr>
        <p:txBody>
          <a:bodyPr wrap="square" rtlCol="0">
            <a:spAutoFit/>
          </a:bodyPr>
          <a:lstStyle/>
          <a:p>
            <a:pPr algn="just"/>
            <a:r>
              <a:rPr lang="vi-VN" sz="2400"/>
              <a:t>Công cụ phát triển game 2D, hỗ trợ quản lý scene, vật lý và xây dựng gameplay.</a:t>
            </a:r>
          </a:p>
        </p:txBody>
      </p:sp>
      <p:sp>
        <p:nvSpPr>
          <p:cNvPr id="42" name="TextBox 41">
            <a:extLst>
              <a:ext uri="{FF2B5EF4-FFF2-40B4-BE49-F238E27FC236}">
                <a16:creationId xmlns="" xmlns:a16="http://schemas.microsoft.com/office/drawing/2014/main" id="{BD68D535-6787-D116-201E-E9E1BAD12D5B}"/>
              </a:ext>
            </a:extLst>
          </p:cNvPr>
          <p:cNvSpPr txBox="1"/>
          <p:nvPr/>
        </p:nvSpPr>
        <p:spPr>
          <a:xfrm>
            <a:off x="13666829" y="6591300"/>
            <a:ext cx="4320000" cy="1200329"/>
          </a:xfrm>
          <a:prstGeom prst="rect">
            <a:avLst/>
          </a:prstGeom>
          <a:noFill/>
        </p:spPr>
        <p:txBody>
          <a:bodyPr wrap="square" rtlCol="0">
            <a:spAutoFit/>
          </a:bodyPr>
          <a:lstStyle/>
          <a:p>
            <a:pPr algn="just"/>
            <a:r>
              <a:rPr lang="vi-VN" sz="2400"/>
              <a:t>Công cụ chỉnh sửa và xử lý các hiệu ứng âm thanh trong trò chơi.</a:t>
            </a:r>
          </a:p>
        </p:txBody>
      </p:sp>
      <p:sp>
        <p:nvSpPr>
          <p:cNvPr id="6" name="Rectangle 5"/>
          <p:cNvSpPr/>
          <p:nvPr/>
        </p:nvSpPr>
        <p:spPr>
          <a:xfrm>
            <a:off x="9296400" y="6591300"/>
            <a:ext cx="4320000" cy="1200329"/>
          </a:xfrm>
          <a:prstGeom prst="rect">
            <a:avLst/>
          </a:prstGeom>
        </p:spPr>
        <p:txBody>
          <a:bodyPr wrap="square">
            <a:spAutoFit/>
          </a:bodyPr>
          <a:lstStyle/>
          <a:p>
            <a:pPr algn="just"/>
            <a:r>
              <a:rPr lang="vi-VN" sz="2400"/>
              <a:t>Công cụ thiết kế đồ họa 2D cho nhân vật, vật phẩm và môi trường game.</a:t>
            </a:r>
          </a:p>
        </p:txBody>
      </p:sp>
      <p:sp>
        <p:nvSpPr>
          <p:cNvPr id="16" name="TextBox 15">
            <a:extLst>
              <a:ext uri="{FF2B5EF4-FFF2-40B4-BE49-F238E27FC236}">
                <a16:creationId xmlns="" xmlns:a16="http://schemas.microsoft.com/office/drawing/2014/main" id="{8AC8433D-F9F0-949A-802A-213B5893CD86}"/>
              </a:ext>
            </a:extLst>
          </p:cNvPr>
          <p:cNvSpPr txBox="1"/>
          <p:nvPr/>
        </p:nvSpPr>
        <p:spPr>
          <a:xfrm>
            <a:off x="4671600" y="6591299"/>
            <a:ext cx="4320000" cy="1200329"/>
          </a:xfrm>
          <a:prstGeom prst="rect">
            <a:avLst/>
          </a:prstGeom>
          <a:noFill/>
        </p:spPr>
        <p:txBody>
          <a:bodyPr wrap="square" rtlCol="0">
            <a:spAutoFit/>
          </a:bodyPr>
          <a:lstStyle/>
          <a:p>
            <a:pPr algn="just"/>
            <a:r>
              <a:rPr lang="vi-VN" sz="2400"/>
              <a:t>Ngôn ngữ lập trình chính, dùng để xây dựng các cơ chế và logic của trò chơi.</a:t>
            </a:r>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3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3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lvl="0">
              <a:lnSpc>
                <a:spcPts val="8717"/>
              </a:lnSpc>
              <a:spcBef>
                <a:spcPct val="0"/>
              </a:spcBef>
            </a:pPr>
            <a:r>
              <a:rPr lang="vi-VN" sz="5000" b="1">
                <a:solidFill>
                  <a:srgbClr val="1836B2"/>
                </a:solidFill>
                <a:ea typeface="Cabin Semi-Bold"/>
                <a:cs typeface="Cabin Semi-Bold"/>
                <a:sym typeface="Cabin Semi-Bold"/>
              </a:rPr>
              <a:t>4</a:t>
            </a:r>
            <a:r>
              <a:rPr lang="vi-VN" sz="5000" b="1" smtClean="0">
                <a:solidFill>
                  <a:srgbClr val="1836B2"/>
                </a:solidFill>
                <a:ea typeface="Cabin Semi-Bold"/>
                <a:cs typeface="Cabin Semi-Bold"/>
                <a:sym typeface="Cabin Semi-Bold"/>
              </a:rPr>
              <a:t>.</a:t>
            </a:r>
            <a:r>
              <a:rPr lang="en-US" sz="5000" b="1" smtClean="0">
                <a:solidFill>
                  <a:srgbClr val="1836B2"/>
                </a:solidFill>
                <a:ea typeface="Cabin Semi-Bold"/>
                <a:cs typeface="Cabin Semi-Bold"/>
                <a:sym typeface="Cabin Semi-Bold"/>
              </a:rPr>
              <a:t> </a:t>
            </a:r>
            <a:r>
              <a:rPr lang="vi-VN" sz="5000" b="1" smtClean="0">
                <a:solidFill>
                  <a:srgbClr val="1836B2"/>
                </a:solidFill>
                <a:ea typeface="Cabin Semi-Bold"/>
                <a:cs typeface="Cabin Semi-Bold"/>
                <a:sym typeface="Cabin Semi-Bold"/>
              </a:rPr>
              <a:t>Mô </a:t>
            </a:r>
            <a:r>
              <a:rPr lang="vi-VN" sz="5000" b="1">
                <a:solidFill>
                  <a:srgbClr val="1836B2"/>
                </a:solidFill>
                <a:ea typeface="Cabin Semi-Bold"/>
                <a:cs typeface="Cabin Semi-Bold"/>
                <a:sym typeface="Cabin Semi-Bold"/>
              </a:rPr>
              <a:t>tả bài toán</a:t>
            </a:r>
            <a:endParaRPr lang="en-US" sz="5000" b="1">
              <a:solidFill>
                <a:srgbClr val="1836B2"/>
              </a:solidFill>
              <a:ea typeface="Cabin Semi-Bold"/>
              <a:cs typeface="Cabin Semi-Bold"/>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973087"/>
          </a:xfrm>
          <a:prstGeom prst="rect">
            <a:avLst/>
          </a:prstGeom>
        </p:spPr>
        <p:txBody>
          <a:bodyPr wrap="square" lIns="0" tIns="0" rIns="0" bIns="0" rtlCol="0" anchor="t">
            <a:spAutoFit/>
          </a:bodyPr>
          <a:lstStyle/>
          <a:p>
            <a:pPr lvl="0">
              <a:lnSpc>
                <a:spcPts val="8635"/>
              </a:lnSpc>
              <a:spcBef>
                <a:spcPct val="0"/>
              </a:spcBef>
            </a:pPr>
            <a:r>
              <a:rPr lang="vi-VN" sz="5000" b="1">
                <a:solidFill>
                  <a:srgbClr val="1836B2"/>
                </a:solidFill>
                <a:latin typeface="+mj-lt"/>
                <a:ea typeface="Cabin Semi-Bold"/>
                <a:cs typeface="Cabin Semi-Bold"/>
                <a:sym typeface="Cabin Semi-Bold"/>
              </a:rPr>
              <a:t>5. Yêu cầu hệ thống</a:t>
            </a:r>
            <a:endParaRPr lang="en-US" sz="500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 xmlns:a16="http://schemas.microsoft.com/office/drawing/2014/main"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 xmlns:a16="http://schemas.microsoft.com/office/drawing/2014/main"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 xmlns:a16="http://schemas.microsoft.com/office/drawing/2014/main"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 xmlns:a16="http://schemas.microsoft.com/office/drawing/2014/main"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 xmlns:a16="http://schemas.microsoft.com/office/drawing/2014/main"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 xmlns:a16="http://schemas.microsoft.com/office/drawing/2014/main"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 xmlns:a16="http://schemas.microsoft.com/office/drawing/2014/main"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 xmlns:a16="http://schemas.microsoft.com/office/drawing/2014/main"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 xmlns:a16="http://schemas.microsoft.com/office/drawing/2014/main"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 xmlns:a16="http://schemas.microsoft.com/office/drawing/2014/main"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 xmlns:a16="http://schemas.microsoft.com/office/drawing/2014/main"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 xmlns:a16="http://schemas.microsoft.com/office/drawing/2014/main"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 xmlns:a16="http://schemas.microsoft.com/office/drawing/2014/main"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 xmlns:a16="http://schemas.microsoft.com/office/drawing/2014/main"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 xmlns:a16="http://schemas.microsoft.com/office/drawing/2014/main"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 xmlns:a16="http://schemas.microsoft.com/office/drawing/2014/main"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 xmlns:a16="http://schemas.microsoft.com/office/drawing/2014/main"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txBody>
          <a:bodyPr/>
          <a:lstStyle/>
          <a:p>
            <a:endParaRPr lang="vi-VN"/>
          </a:p>
        </p:txBody>
      </p:sp>
      <p:grpSp>
        <p:nvGrpSpPr>
          <p:cNvPr id="45" name="Group 2">
            <a:extLst>
              <a:ext uri="{FF2B5EF4-FFF2-40B4-BE49-F238E27FC236}">
                <a16:creationId xmlns="" xmlns:a16="http://schemas.microsoft.com/office/drawing/2014/main"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 xmlns:a16="http://schemas.microsoft.com/office/drawing/2014/main"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 xmlns:a16="http://schemas.microsoft.com/office/drawing/2014/main"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 xmlns:a16="http://schemas.microsoft.com/office/drawing/2014/main"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 </a:t>
              </a:r>
              <a:r>
                <a:rPr lang="vi-VN" sz="2800" smtClean="0"/>
                <a:t>t</a:t>
              </a:r>
              <a:r>
                <a:rPr lang="en-US" sz="2800" smtClean="0"/>
                <a:t>iếp tục, mở cài đặt</a:t>
              </a:r>
              <a:r>
                <a:rPr lang="vi-VN" sz="2800" smtClean="0"/>
                <a:t> </a:t>
              </a:r>
              <a:r>
                <a:rPr lang="vi-VN" sz="2800"/>
                <a:t>hoặc thoát trò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chơi </a:t>
              </a:r>
              <a:r>
                <a:rPr lang="en-US" sz="2800" smtClean="0"/>
                <a:t>kích hoạt cổng dịch chuyển </a:t>
              </a:r>
              <a:r>
                <a:rPr lang="vi-VN" sz="2800" smtClean="0"/>
                <a:t>hoặc </a:t>
              </a:r>
              <a:r>
                <a:rPr lang="vi-VN" sz="2800"/>
                <a:t>nhân vật bị tiêu diệt.</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2580010"/>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4235559"/>
            <a:ext cx="8839200" cy="2092881"/>
          </a:xfrm>
          <a:prstGeom prst="rect">
            <a:avLst/>
          </a:prstGeom>
          <a:noFill/>
        </p:spPr>
        <p:txBody>
          <a:bodyPr wrap="square" rtlCol="0">
            <a:spAutoFit/>
          </a:bodyPr>
          <a:lstStyle/>
          <a:p>
            <a:r>
              <a:rPr lang="vi-VN" sz="2600" b="1"/>
              <a:t>Chức năng giao diện và lưu </a:t>
            </a:r>
            <a:r>
              <a:rPr lang="vi-VN" sz="2600" b="1"/>
              <a:t>dữ </a:t>
            </a:r>
            <a:r>
              <a:rPr lang="vi-VN" sz="2600" b="1" smtClean="0"/>
              <a:t>liệu</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menu chính và giao diện trong </a:t>
            </a:r>
            <a:r>
              <a:rPr lang="vi-VN" sz="2600"/>
              <a:t>trò </a:t>
            </a:r>
            <a:r>
              <a:rPr lang="vi-VN" sz="2600" smtClean="0"/>
              <a:t>chơi.</a:t>
            </a:r>
            <a:endParaRPr lang="en-US" sz="2600" smtClean="0"/>
          </a:p>
          <a:p>
            <a:pPr marL="185738" indent="-185738">
              <a:buFont typeface="Arial" panose="020B0604020202020204" pitchFamily="34" charset="0"/>
              <a:buChar char="•"/>
            </a:pPr>
            <a:r>
              <a:rPr lang="vi-VN" sz="2600" smtClean="0"/>
              <a:t>Hỗ </a:t>
            </a:r>
            <a:r>
              <a:rPr lang="vi-VN" sz="2600"/>
              <a:t>trợ tạo mới, lưu và tải dữ liệu </a:t>
            </a:r>
            <a:r>
              <a:rPr lang="vi-VN" sz="2600"/>
              <a:t>trò </a:t>
            </a:r>
            <a:r>
              <a:rPr lang="vi-VN" sz="2600" smtClean="0"/>
              <a:t>chơi.</a:t>
            </a:r>
            <a:endParaRPr lang="en-US" sz="2600" smtClean="0"/>
          </a:p>
          <a:p>
            <a:pPr marL="185738" indent="-185738">
              <a:buFont typeface="Arial" panose="020B0604020202020204" pitchFamily="34" charset="0"/>
              <a:buChar char="•"/>
            </a:pPr>
            <a:r>
              <a:rPr lang="vi-VN" sz="2600" smtClean="0"/>
              <a:t>Cho </a:t>
            </a:r>
            <a:r>
              <a:rPr lang="vi-VN" sz="2600"/>
              <a:t>phép người chơi tiếp tục tiến trình đã lưu.</a:t>
            </a:r>
            <a:endParaRPr lang="vi-VN" sz="2600">
              <a:latin typeface="Times New Roman" panose="02020603050405020304" pitchFamily="18" charset="0"/>
              <a:cs typeface="Times New Roman" panose="02020603050405020304" pitchFamily="18" charset="0"/>
            </a:endParaRPr>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4818" y="802500"/>
            <a:ext cx="7040356" cy="3960000"/>
          </a:xfrm>
          <a:prstGeom prst="rect">
            <a:avLst/>
          </a:prstGeom>
        </p:spPr>
      </p:pic>
      <p:pic>
        <p:nvPicPr>
          <p:cNvPr id="16" name="Picture 15"/>
          <p:cNvPicPr>
            <a:picLocks noChangeAspect="1"/>
          </p:cNvPicPr>
          <p:nvPr/>
        </p:nvPicPr>
        <p:blipFill>
          <a:blip r:embed="rId4"/>
          <a:stretch>
            <a:fillRect/>
          </a:stretch>
        </p:blipFill>
        <p:spPr>
          <a:xfrm>
            <a:off x="9354818" y="5219700"/>
            <a:ext cx="7040356" cy="3960000"/>
          </a:xfrm>
          <a:prstGeom prst="rect">
            <a:avLst/>
          </a:prstGeom>
        </p:spPr>
      </p:pic>
      <p:sp>
        <p:nvSpPr>
          <p:cNvPr id="17" name="AutoShape 30"/>
          <p:cNvSpPr/>
          <p:nvPr/>
        </p:nvSpPr>
        <p:spPr>
          <a:xfrm>
            <a:off x="4790415" y="-446411"/>
            <a:ext cx="13497585" cy="791631"/>
          </a:xfrm>
          <a:prstGeom prst="rect">
            <a:avLst/>
          </a:prstGeom>
          <a:solidFill>
            <a:srgbClr val="1836B2"/>
          </a:solidFill>
        </p:spPr>
        <p:txBody>
          <a:bodyPr/>
          <a:lstStyle/>
          <a:p>
            <a:endParaRPr lang="vi-VN"/>
          </a:p>
        </p:txBody>
      </p:sp>
      <p:sp>
        <p:nvSpPr>
          <p:cNvPr id="18"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5">
              <a:extLst>
                <a:ext uri="{96DAC541-7B7A-43D3-8B79-37D633B846F1}">
                  <asvg:svgBlip xmlns="" xmlns:asvg="http://schemas.microsoft.com/office/drawing/2016/SVG/main" r:embed="rId6"/>
                </a:ext>
              </a:extLst>
            </a:blip>
            <a:stretch>
              <a:fillRect t="-51576"/>
            </a:stretch>
          </a:blipFill>
        </p:spPr>
        <p:txBody>
          <a:bodyPr/>
          <a:lstStyle/>
          <a:p>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324100"/>
            <a:ext cx="8839200" cy="2492990"/>
          </a:xfrm>
          <a:prstGeom prst="rect">
            <a:avLst/>
          </a:prstGeom>
          <a:noFill/>
        </p:spPr>
        <p:txBody>
          <a:bodyPr wrap="square" rtlCol="0">
            <a:spAutoFit/>
          </a:bodyPr>
          <a:lstStyle/>
          <a:p>
            <a:r>
              <a:rPr lang="vi-VN" sz="2600" b="1"/>
              <a:t>Hệ thống sinh tồn và thu thập </a:t>
            </a:r>
            <a:r>
              <a:rPr lang="vi-VN" sz="2600" b="1"/>
              <a:t>tài </a:t>
            </a:r>
            <a:r>
              <a:rPr lang="vi-VN" sz="2600" b="1" smtClean="0"/>
              <a:t>nguyên</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cơ chế máu và </a:t>
            </a:r>
            <a:r>
              <a:rPr lang="vi-VN" sz="2600"/>
              <a:t>độ </a:t>
            </a:r>
            <a:r>
              <a:rPr lang="vi-VN" sz="2600" smtClean="0"/>
              <a:t>đói.</a:t>
            </a:r>
            <a:endParaRPr lang="en-US" sz="2600" smtClean="0"/>
          </a:p>
          <a:p>
            <a:pPr marL="185738" indent="-185738">
              <a:buFont typeface="Arial" panose="020B0604020202020204" pitchFamily="34" charset="0"/>
              <a:buChar char="•"/>
            </a:pPr>
            <a:r>
              <a:rPr lang="vi-VN" sz="2600" smtClean="0"/>
              <a:t>Thu </a:t>
            </a:r>
            <a:r>
              <a:rPr lang="vi-VN" sz="2600"/>
              <a:t>thập gỗ, đá, quặng và </a:t>
            </a:r>
            <a:r>
              <a:rPr lang="vi-VN" sz="2600"/>
              <a:t>thực </a:t>
            </a:r>
            <a:r>
              <a:rPr lang="vi-VN" sz="2600" smtClean="0"/>
              <a:t>phẩm.</a:t>
            </a:r>
            <a:endParaRPr lang="en-US" sz="2600" smtClean="0"/>
          </a:p>
          <a:p>
            <a:pPr marL="185738" indent="-185738">
              <a:buFont typeface="Arial" panose="020B0604020202020204" pitchFamily="34" charset="0"/>
              <a:buChar char="•"/>
            </a:pPr>
            <a:r>
              <a:rPr lang="vi-VN" sz="2600" smtClean="0"/>
              <a:t>Chạy </a:t>
            </a:r>
            <a:r>
              <a:rPr lang="vi-VN" sz="2600"/>
              <a:t>tiêu hao đói nhanh hơn di chuyển </a:t>
            </a:r>
            <a:r>
              <a:rPr lang="vi-VN" sz="2600"/>
              <a:t>bình </a:t>
            </a:r>
            <a:r>
              <a:rPr lang="vi-VN" sz="2600" smtClean="0"/>
              <a:t>thường.</a:t>
            </a:r>
            <a:endParaRPr lang="en-US" sz="2600" smtClean="0"/>
          </a:p>
          <a:p>
            <a:pPr marL="185738" indent="-185738">
              <a:buFont typeface="Arial" panose="020B0604020202020204" pitchFamily="34" charset="0"/>
              <a:buChar char="•"/>
            </a:pPr>
            <a:r>
              <a:rPr lang="vi-VN" sz="2600" smtClean="0"/>
              <a:t>Độ </a:t>
            </a:r>
            <a:r>
              <a:rPr lang="vi-VN" sz="2600"/>
              <a:t>đói bằng 0 sẽ làm người chơi mất máu theo thời gian.</a:t>
            </a:r>
            <a:endParaRPr lang="vi-VN" sz="26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5444" y="5143500"/>
            <a:ext cx="7040356" cy="3960000"/>
          </a:xfrm>
          <a:prstGeom prst="rect">
            <a:avLst/>
          </a:prstGeom>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2600" y="5143500"/>
            <a:ext cx="7040355" cy="3960000"/>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10886" y="876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2"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3"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4"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5"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2858530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8839200" cy="2893100"/>
          </a:xfrm>
          <a:prstGeom prst="rect">
            <a:avLst/>
          </a:prstGeom>
          <a:noFill/>
        </p:spPr>
        <p:txBody>
          <a:bodyPr wrap="square" rtlCol="0">
            <a:spAutoFit/>
          </a:bodyPr>
          <a:lstStyle/>
          <a:p>
            <a:r>
              <a:rPr lang="vi-VN" sz="2600" b="1"/>
              <a:t>Hệ thống quản lý </a:t>
            </a:r>
            <a:r>
              <a:rPr lang="vi-VN" sz="2600" b="1"/>
              <a:t>vật </a:t>
            </a:r>
            <a:r>
              <a:rPr lang="vi-VN" sz="2600" b="1" smtClean="0"/>
              <a:t>phẩm</a:t>
            </a:r>
            <a:endParaRPr lang="en-US" sz="2600" b="1" smtClean="0"/>
          </a:p>
          <a:p>
            <a:endParaRPr lang="en-US" sz="2600" b="1" smtClean="0"/>
          </a:p>
          <a:p>
            <a:pPr marL="185738" indent="-185738">
              <a:buFont typeface="Arial" panose="020B0604020202020204" pitchFamily="34" charset="0"/>
              <a:buChar char="•"/>
            </a:pPr>
            <a:r>
              <a:rPr lang="vi-VN" sz="2600" smtClean="0"/>
              <a:t>Hỗ </a:t>
            </a:r>
            <a:r>
              <a:rPr lang="vi-VN" sz="2600"/>
              <a:t>trợ lưu trữ và quản lý </a:t>
            </a:r>
            <a:r>
              <a:rPr lang="vi-VN" sz="2600"/>
              <a:t>tài </a:t>
            </a:r>
            <a:r>
              <a:rPr lang="vi-VN" sz="2600" smtClean="0"/>
              <a:t>nguyên.</a:t>
            </a:r>
            <a:endParaRPr lang="en-US" sz="2600" smtClean="0"/>
          </a:p>
          <a:p>
            <a:pPr marL="185738" indent="-185738">
              <a:buFont typeface="Arial" panose="020B0604020202020204" pitchFamily="34" charset="0"/>
              <a:buChar char="•"/>
            </a:pPr>
            <a:r>
              <a:rPr lang="vi-VN" sz="2600" smtClean="0"/>
              <a:t>Sử </a:t>
            </a:r>
            <a:r>
              <a:rPr lang="vi-VN" sz="2600"/>
              <a:t>dụng Hotbar để thao tác </a:t>
            </a:r>
            <a:r>
              <a:rPr lang="vi-VN" sz="2600"/>
              <a:t>nhanh</a:t>
            </a:r>
            <a:r>
              <a:rPr lang="vi-VN" sz="2600" smtClean="0"/>
              <a:t>.</a:t>
            </a:r>
            <a:endParaRPr lang="en-US" sz="2600" smtClean="0"/>
          </a:p>
          <a:p>
            <a:pPr marL="185738" indent="-185738">
              <a:buFont typeface="Arial" panose="020B0604020202020204" pitchFamily="34" charset="0"/>
              <a:buChar char="•"/>
            </a:pPr>
            <a:r>
              <a:rPr lang="vi-VN" sz="2600" smtClean="0"/>
              <a:t>Chế </a:t>
            </a:r>
            <a:r>
              <a:rPr lang="vi-VN" sz="2600"/>
              <a:t>tạo công cụ và vật phẩm từ nguyên liệu thu </a:t>
            </a:r>
            <a:r>
              <a:rPr lang="vi-VN" sz="2600"/>
              <a:t>thập </a:t>
            </a:r>
            <a:r>
              <a:rPr lang="vi-VN" sz="2600" smtClean="0"/>
              <a:t>được.</a:t>
            </a:r>
            <a:endParaRPr lang="en-US" sz="2600" smtClean="0"/>
          </a:p>
          <a:p>
            <a:pPr marL="185738" indent="-185738">
              <a:buFont typeface="Arial" panose="020B0604020202020204" pitchFamily="34" charset="0"/>
              <a:buChar char="•"/>
            </a:pPr>
            <a:r>
              <a:rPr lang="vi-VN" sz="2600" smtClean="0"/>
              <a:t>Hệ </a:t>
            </a:r>
            <a:r>
              <a:rPr lang="vi-VN" sz="2600"/>
              <a:t>thống có thể mở rộng thêm nhiều công thức chế tạo.</a:t>
            </a:r>
            <a:endParaRPr lang="vi-VN" sz="2600">
              <a:latin typeface="Times New Roman" panose="02020603050405020304" pitchFamily="18" charset="0"/>
              <a:cs typeface="Times New Roman" panose="02020603050405020304" pitchFamily="18" charset="0"/>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1086" y="2062739"/>
            <a:ext cx="7038000" cy="15205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298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8966650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9296400" cy="2893100"/>
          </a:xfrm>
          <a:prstGeom prst="rect">
            <a:avLst/>
          </a:prstGeom>
          <a:noFill/>
        </p:spPr>
        <p:txBody>
          <a:bodyPr wrap="square" rtlCol="0">
            <a:spAutoFit/>
          </a:bodyPr>
          <a:lstStyle/>
          <a:p>
            <a:r>
              <a:rPr lang="vi-VN" sz="2600" b="1"/>
              <a:t>Hệ thống </a:t>
            </a:r>
            <a:r>
              <a:rPr lang="vi-VN" sz="2600" b="1"/>
              <a:t>chiến </a:t>
            </a:r>
            <a:r>
              <a:rPr lang="vi-VN" sz="2600" b="1" smtClean="0"/>
              <a:t>đấu</a:t>
            </a:r>
            <a:r>
              <a:rPr lang="en-US" sz="2600" b="1" smtClean="0"/>
              <a:t> và hành vi AI</a:t>
            </a:r>
          </a:p>
          <a:p>
            <a:endParaRPr lang="en-US" sz="2600" b="1" smtClean="0"/>
          </a:p>
          <a:p>
            <a:pPr marL="185738" indent="-185738">
              <a:buFont typeface="Arial" panose="020B0604020202020204" pitchFamily="34" charset="0"/>
              <a:buChar char="•"/>
            </a:pPr>
            <a:r>
              <a:rPr lang="vi-VN" sz="2600"/>
              <a:t>Chiến đấu thời gian thực.</a:t>
            </a:r>
            <a:endParaRPr lang="en-US" sz="2600" smtClean="0"/>
          </a:p>
          <a:p>
            <a:pPr marL="185738" indent="-185738">
              <a:buFont typeface="Arial" panose="020B0604020202020204" pitchFamily="34" charset="0"/>
              <a:buChar char="•"/>
            </a:pPr>
            <a:r>
              <a:rPr lang="vi-VN" sz="2600" smtClean="0"/>
              <a:t>Áp </a:t>
            </a:r>
            <a:r>
              <a:rPr lang="vi-VN" sz="2600"/>
              <a:t>dụng Hitbox và Hurtbox để xử </a:t>
            </a:r>
            <a:r>
              <a:rPr lang="vi-VN" sz="2600"/>
              <a:t>lý </a:t>
            </a:r>
            <a:r>
              <a:rPr lang="vi-VN" sz="2600" smtClean="0"/>
              <a:t>va chạm và sát </a:t>
            </a:r>
            <a:r>
              <a:rPr lang="vi-VN" sz="2600"/>
              <a:t>thương.</a:t>
            </a:r>
            <a:endParaRPr lang="en-US" sz="2600" smtClean="0"/>
          </a:p>
          <a:p>
            <a:pPr marL="185738" indent="-185738">
              <a:buFont typeface="Arial" panose="020B0604020202020204" pitchFamily="34" charset="0"/>
              <a:buChar char="•"/>
            </a:pPr>
            <a:r>
              <a:rPr lang="vi-VN" sz="2600" smtClean="0"/>
              <a:t>Kẻ </a:t>
            </a:r>
            <a:r>
              <a:rPr lang="vi-VN" sz="2600"/>
              <a:t>địch có khả năng tuần tra và truy đuổi </a:t>
            </a:r>
            <a:r>
              <a:rPr lang="vi-VN" sz="2600"/>
              <a:t>người </a:t>
            </a:r>
            <a:r>
              <a:rPr lang="vi-VN" sz="2600" smtClean="0"/>
              <a:t>chơi.</a:t>
            </a:r>
            <a:endParaRPr lang="en-US" sz="2600" smtClean="0"/>
          </a:p>
          <a:p>
            <a:pPr marL="185738" indent="-185738">
              <a:buFont typeface="Arial" panose="020B0604020202020204" pitchFamily="34" charset="0"/>
              <a:buChar char="•"/>
            </a:pPr>
            <a:r>
              <a:rPr lang="vi-VN" sz="2600" smtClean="0"/>
              <a:t>Động </a:t>
            </a:r>
            <a:r>
              <a:rPr lang="vi-VN" sz="2600"/>
              <a:t>vật phản ứng bằng cách chạy trốn khi bị </a:t>
            </a:r>
            <a:r>
              <a:rPr lang="vi-VN" sz="2600"/>
              <a:t>tấn </a:t>
            </a:r>
            <a:r>
              <a:rPr lang="vi-VN" sz="2600" smtClean="0"/>
              <a:t>công.</a:t>
            </a:r>
            <a:endParaRPr lang="en-US" sz="2600" smtClean="0"/>
          </a:p>
          <a:p>
            <a:pPr marL="185738" indent="-185738">
              <a:buFont typeface="Arial" panose="020B0604020202020204" pitchFamily="34" charset="0"/>
              <a:buChar char="•"/>
            </a:pPr>
            <a:r>
              <a:rPr lang="vi-VN" sz="2600" smtClean="0"/>
              <a:t>Hệ </a:t>
            </a:r>
            <a:r>
              <a:rPr lang="vi-VN" sz="2600"/>
              <a:t>thống AI được xây dựng theo mô hình FSM đơn giản.</a:t>
            </a:r>
            <a:endParaRPr lang="vi-VN" sz="2600">
              <a:latin typeface="Times New Roman" panose="02020603050405020304" pitchFamily="18" charset="0"/>
              <a:cs typeface="Times New Roman" panose="02020603050405020304" pitchFamily="18" charset="0"/>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262"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0" y="802500"/>
            <a:ext cx="7040356" cy="3960000"/>
          </a:xfrm>
          <a:prstGeom prst="rect">
            <a:avLst/>
          </a:prstGeom>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1"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2"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3"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4"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245145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457200" y="1132210"/>
            <a:ext cx="124281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3108543"/>
          </a:xfrm>
          <a:prstGeom prst="rect">
            <a:avLst/>
          </a:prstGeom>
          <a:noFill/>
        </p:spPr>
        <p:txBody>
          <a:bodyPr wrap="square" rtlCol="0">
            <a:spAutoFit/>
          </a:bodyPr>
          <a:lstStyle/>
          <a:p>
            <a:r>
              <a:rPr lang="en-US" sz="2800" smtClean="0"/>
              <a:t>Trò chơi sinh tồn 2D</a:t>
            </a:r>
            <a:r>
              <a:rPr lang="vi-VN" sz="2800" smtClean="0"/>
              <a:t> </a:t>
            </a:r>
            <a:r>
              <a:rPr lang="vi-VN" sz="2800"/>
              <a:t>đã được xây dựng với các chức năng cơ bản</a:t>
            </a:r>
            <a:r>
              <a:rPr lang="en-US" sz="2800"/>
              <a:t>:</a:t>
            </a:r>
          </a:p>
          <a:p>
            <a:pPr marL="185738" indent="-185738">
              <a:buFont typeface="Arial" panose="020B0604020202020204" pitchFamily="34" charset="0"/>
              <a:buChar char="•"/>
            </a:pPr>
            <a:r>
              <a:rPr lang="vi-VN" sz="2800" smtClean="0"/>
              <a:t>Hoàn </a:t>
            </a:r>
            <a:r>
              <a:rPr lang="vi-VN" sz="2800"/>
              <a:t>thành hệ thống </a:t>
            </a:r>
            <a:r>
              <a:rPr lang="vi-VN" sz="2800"/>
              <a:t>sinh </a:t>
            </a:r>
            <a:r>
              <a:rPr lang="vi-VN" sz="2800" smtClean="0"/>
              <a:t>tồn</a:t>
            </a:r>
            <a:r>
              <a:rPr lang="en-US" sz="2800" smtClean="0"/>
              <a:t>.</a:t>
            </a:r>
          </a:p>
          <a:p>
            <a:pPr marL="185738" indent="-185738">
              <a:buFont typeface="Arial" panose="020B0604020202020204" pitchFamily="34" charset="0"/>
              <a:buChar char="•"/>
            </a:pPr>
            <a:r>
              <a:rPr lang="vi-VN" sz="2800" smtClean="0"/>
              <a:t>Hoàn </a:t>
            </a:r>
            <a:r>
              <a:rPr lang="vi-VN" sz="2800"/>
              <a:t>thành cơ chế thu thập </a:t>
            </a:r>
            <a:r>
              <a:rPr lang="vi-VN" sz="2800"/>
              <a:t>tài </a:t>
            </a:r>
            <a:r>
              <a:rPr lang="vi-VN" sz="2800" smtClean="0"/>
              <a:t>nguyên</a:t>
            </a:r>
            <a:r>
              <a:rPr lang="en-US" sz="2800" smtClean="0"/>
              <a:t>.</a:t>
            </a:r>
            <a:endParaRPr lang="en-US" sz="2800" smtClean="0"/>
          </a:p>
          <a:p>
            <a:pPr marL="185738" indent="-185738">
              <a:buFont typeface="Arial" panose="020B0604020202020204" pitchFamily="34" charset="0"/>
              <a:buChar char="•"/>
            </a:pPr>
            <a:r>
              <a:rPr lang="vi-VN" sz="2800" smtClean="0"/>
              <a:t>Xây </a:t>
            </a:r>
            <a:r>
              <a:rPr lang="vi-VN" sz="2800"/>
              <a:t>dựng hệ thống chiến đấu thời </a:t>
            </a:r>
            <a:r>
              <a:rPr lang="vi-VN" sz="2800"/>
              <a:t>gian </a:t>
            </a:r>
            <a:r>
              <a:rPr lang="vi-VN" sz="2800" smtClean="0"/>
              <a:t>thực</a:t>
            </a:r>
            <a:r>
              <a:rPr lang="en-US" sz="2800" smtClean="0"/>
              <a:t>.</a:t>
            </a:r>
            <a:endParaRPr lang="en-US" sz="2800" smtClean="0"/>
          </a:p>
          <a:p>
            <a:pPr marL="185738" indent="-185738">
              <a:buFont typeface="Arial" panose="020B0604020202020204" pitchFamily="34" charset="0"/>
              <a:buChar char="•"/>
            </a:pPr>
            <a:r>
              <a:rPr lang="vi-VN" sz="2800" smtClean="0"/>
              <a:t>Xây </a:t>
            </a:r>
            <a:r>
              <a:rPr lang="vi-VN" sz="2800"/>
              <a:t>dựng AI cơ bản </a:t>
            </a:r>
            <a:r>
              <a:rPr lang="vi-VN" sz="2800"/>
              <a:t>cho </a:t>
            </a:r>
            <a:r>
              <a:rPr lang="vi-VN" sz="2800" smtClean="0"/>
              <a:t>NPC</a:t>
            </a:r>
            <a:r>
              <a:rPr lang="en-US" sz="2800" smtClean="0"/>
              <a:t>.</a:t>
            </a:r>
            <a:endParaRPr lang="en-US" sz="2800" smtClean="0"/>
          </a:p>
          <a:p>
            <a:pPr marL="185738" indent="-185738">
              <a:buFont typeface="Arial" panose="020B0604020202020204" pitchFamily="34" charset="0"/>
              <a:buChar char="•"/>
            </a:pPr>
            <a:r>
              <a:rPr lang="vi-VN" sz="2800" smtClean="0"/>
              <a:t>Hoàn </a:t>
            </a:r>
            <a:r>
              <a:rPr lang="vi-VN" sz="2800"/>
              <a:t>thiện chức năng lưu và tải </a:t>
            </a:r>
            <a:r>
              <a:rPr lang="vi-VN" sz="2800"/>
              <a:t>trò </a:t>
            </a:r>
            <a:r>
              <a:rPr lang="vi-VN" sz="2800" smtClean="0"/>
              <a:t>chơi</a:t>
            </a:r>
            <a:r>
              <a:rPr lang="en-US" sz="2800" smtClean="0"/>
              <a:t>.</a:t>
            </a:r>
            <a:endParaRPr lang="vi-VN" sz="2800"/>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Kết Luận</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35447" y="3162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1537469"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685799"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836073"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525818" y="1132210"/>
            <a:ext cx="123519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2246769"/>
          </a:xfrm>
          <a:prstGeom prst="rect">
            <a:avLst/>
          </a:prstGeom>
          <a:noFill/>
        </p:spPr>
        <p:txBody>
          <a:bodyPr wrap="square" rtlCol="0">
            <a:spAutoFit/>
          </a:bodyPr>
          <a:lstStyle/>
          <a:p>
            <a:pPr marL="185738" indent="-185738">
              <a:buFont typeface="Arial" panose="020B0604020202020204" pitchFamily="34" charset="0"/>
              <a:buChar char="•"/>
            </a:pPr>
            <a:r>
              <a:rPr lang="vi-VN" sz="2800" smtClean="0"/>
              <a:t>Mở </a:t>
            </a:r>
            <a:r>
              <a:rPr lang="vi-VN" sz="2800"/>
              <a:t>rộng quy mô bản đồ và nội dung </a:t>
            </a:r>
            <a:r>
              <a:rPr lang="vi-VN" sz="2800"/>
              <a:t>trò </a:t>
            </a:r>
            <a:r>
              <a:rPr lang="vi-VN" sz="2800" smtClean="0"/>
              <a:t>chơi.</a:t>
            </a:r>
            <a:endParaRPr lang="en-US" sz="2800" smtClean="0"/>
          </a:p>
          <a:p>
            <a:pPr marL="185738" indent="-185738">
              <a:buFont typeface="Arial" panose="020B0604020202020204" pitchFamily="34" charset="0"/>
              <a:buChar char="•"/>
            </a:pPr>
            <a:r>
              <a:rPr lang="vi-VN" sz="2800" smtClean="0"/>
              <a:t>Bổ </a:t>
            </a:r>
            <a:r>
              <a:rPr lang="vi-VN" sz="2800"/>
              <a:t>sung hệ thống chế tạo và nâng cấp </a:t>
            </a:r>
            <a:r>
              <a:rPr lang="vi-VN" sz="2800"/>
              <a:t>vật </a:t>
            </a:r>
            <a:r>
              <a:rPr lang="vi-VN" sz="2800" smtClean="0"/>
              <a:t>phẩm.</a:t>
            </a:r>
            <a:endParaRPr lang="en-US" sz="2800" smtClean="0"/>
          </a:p>
          <a:p>
            <a:pPr marL="185738" indent="-185738">
              <a:buFont typeface="Arial" panose="020B0604020202020204" pitchFamily="34" charset="0"/>
              <a:buChar char="•"/>
            </a:pPr>
            <a:r>
              <a:rPr lang="vi-VN" sz="2800" smtClean="0"/>
              <a:t>Phát </a:t>
            </a:r>
            <a:r>
              <a:rPr lang="vi-VN" sz="2800"/>
              <a:t>triển hệ thống nhiệm vụ và </a:t>
            </a:r>
            <a:r>
              <a:rPr lang="vi-VN" sz="2800"/>
              <a:t>thành </a:t>
            </a:r>
            <a:r>
              <a:rPr lang="vi-VN" sz="2800" smtClean="0"/>
              <a:t>tựu.</a:t>
            </a:r>
            <a:endParaRPr lang="en-US" sz="2800" smtClean="0"/>
          </a:p>
          <a:p>
            <a:pPr marL="185738" indent="-185738">
              <a:buFont typeface="Arial" panose="020B0604020202020204" pitchFamily="34" charset="0"/>
              <a:buChar char="•"/>
            </a:pPr>
            <a:r>
              <a:rPr lang="vi-VN" sz="2800" smtClean="0"/>
              <a:t>Hoàn </a:t>
            </a:r>
            <a:r>
              <a:rPr lang="vi-VN" sz="2800"/>
              <a:t>thiện AI với nhiều trạng thái hành </a:t>
            </a:r>
            <a:r>
              <a:rPr lang="vi-VN" sz="2800"/>
              <a:t>vi </a:t>
            </a:r>
            <a:r>
              <a:rPr lang="vi-VN" sz="2800" smtClean="0"/>
              <a:t>hơn.</a:t>
            </a:r>
            <a:endParaRPr lang="en-US" sz="2800" smtClean="0"/>
          </a:p>
          <a:p>
            <a:pPr marL="185738" indent="-185738">
              <a:buFont typeface="Arial" panose="020B0604020202020204" pitchFamily="34" charset="0"/>
              <a:buChar char="•"/>
            </a:pPr>
            <a:r>
              <a:rPr lang="vi-VN" sz="2800" smtClean="0"/>
              <a:t>Nghiên </a:t>
            </a:r>
            <a:r>
              <a:rPr lang="vi-VN" sz="2800"/>
              <a:t>cứu tích hợp chế độ chơi nhiều người trực tuyến.</a:t>
            </a:r>
            <a:endParaRPr lang="vi-VN" sz="2800"/>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Phương hướng phát triển</a:t>
            </a:r>
            <a:endParaRPr lang="vi-VN" sz="2800" b="1"/>
          </a:p>
        </p:txBody>
      </p:sp>
      <p:grpSp>
        <p:nvGrpSpPr>
          <p:cNvPr id="12" name="Group 3"/>
          <p:cNvGrpSpPr/>
          <p:nvPr/>
        </p:nvGrpSpPr>
        <p:grpSpPr>
          <a:xfrm>
            <a:off x="12321487" y="-1181100"/>
            <a:ext cx="9852713" cy="11676274"/>
            <a:chOff x="0" y="0"/>
            <a:chExt cx="13136951" cy="15568366"/>
          </a:xfrm>
        </p:grpSpPr>
        <p:sp>
          <p:nvSpPr>
            <p:cNvPr id="13"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14" name="Group 5"/>
            <p:cNvGrpSpPr/>
            <p:nvPr/>
          </p:nvGrpSpPr>
          <p:grpSpPr>
            <a:xfrm rot="-10800000">
              <a:off x="2115666" y="3513875"/>
              <a:ext cx="11021285" cy="12054491"/>
              <a:chOff x="0" y="0"/>
              <a:chExt cx="4911651" cy="5372100"/>
            </a:xfrm>
          </p:grpSpPr>
          <p:sp>
            <p:nvSpPr>
              <p:cNvPr id="15"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spTree>
    <p:extLst>
      <p:ext uri="{BB962C8B-B14F-4D97-AF65-F5344CB8AC3E}">
        <p14:creationId xmlns:p14="http://schemas.microsoft.com/office/powerpoint/2010/main" val="4732646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126067" y="4561210"/>
            <a:ext cx="16002000" cy="1115690"/>
          </a:xfrm>
          <a:prstGeom prst="rect">
            <a:avLst/>
          </a:prstGeom>
        </p:spPr>
        <p:txBody>
          <a:bodyPr wrap="square" lIns="0" tIns="0" rIns="0" bIns="0" rtlCol="0" anchor="t">
            <a:spAutoFit/>
          </a:bodyPr>
          <a:lstStyle/>
          <a:p>
            <a:pPr lvl="0" algn="ctr">
              <a:lnSpc>
                <a:spcPts val="8717"/>
              </a:lnSpc>
              <a:spcBef>
                <a:spcPct val="0"/>
              </a:spcBef>
            </a:pPr>
            <a:r>
              <a:rPr lang="vi-VN" sz="5000" b="1">
                <a:solidFill>
                  <a:srgbClr val="1836B2"/>
                </a:solidFill>
                <a:latin typeface="+mj-lt"/>
                <a:ea typeface="Cabin Semi-Bold"/>
                <a:cs typeface="Cabin Semi-Bold"/>
              </a:rPr>
              <a:t>XIN CẢM ƠN QUÝ THẦY CÔ ĐÃ LẮNG </a:t>
            </a:r>
            <a:r>
              <a:rPr lang="vi-VN" sz="5000" b="1">
                <a:solidFill>
                  <a:srgbClr val="1836B2"/>
                </a:solidFill>
                <a:latin typeface="+mj-lt"/>
                <a:ea typeface="Cabin Semi-Bold"/>
                <a:cs typeface="Cabin Semi-Bold"/>
              </a:rPr>
              <a:t>NGHE</a:t>
            </a:r>
            <a:r>
              <a:rPr lang="vi-VN" sz="5000" b="1" smtClean="0">
                <a:solidFill>
                  <a:srgbClr val="1836B2"/>
                </a:solidFill>
                <a:latin typeface="+mj-lt"/>
                <a:ea typeface="Cabin Semi-Bold"/>
                <a:cs typeface="Cabin Semi-Bold"/>
              </a:rPr>
              <a:t>!</a:t>
            </a:r>
            <a:endParaRPr lang="en-US" sz="2800"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528</TotalTime>
  <Words>3330</Words>
  <Application>Microsoft Office PowerPoint</Application>
  <PresentationFormat>Custom</PresentationFormat>
  <Paragraphs>266</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Faustina Bold</vt:lpstr>
      <vt:lpstr>Arial (Body)</vt:lpstr>
      <vt:lpstr>Cabin Italics</vt:lpstr>
      <vt:lpstr>Cabin</vt:lpstr>
      <vt:lpstr>Times New Roman</vt:lpstr>
      <vt:lpstr>Cabin Semi-Bold</vt:lpstr>
      <vt:lpstr>Calibri</vt:lpstr>
      <vt:lpstr>SimSun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95</cp:revision>
  <dcterms:created xsi:type="dcterms:W3CDTF">2006-08-16T00:00:00Z</dcterms:created>
  <dcterms:modified xsi:type="dcterms:W3CDTF">2026-06-28T10:47:19Z</dcterms:modified>
  <dc:identifier>DAGbnXCPPBE</dc:identifier>
</cp:coreProperties>
</file>